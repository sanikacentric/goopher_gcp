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Set the stage (60s). 'Thanks for the time. I'm the Applied-AI practice specialist you brought in to unblock this engagement. Today I'll walk the technical design AND show a working prototype — GOOPHER — live in this Chrome extension, running on Google Cloud. I'll address the domain expert on the architecture and the VP of Strategy on the business value, and leave plenty of room for questions. Everything you'll see is real and deployed — not slideware.'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unblocker (2 min). 'The retailer wants modern self-service for order management and support — over chat and voice — for a global base. The blocker isn't 'add a chatbot.' It's four things at once: it must ACT on live inventory/orders, ROUTE to specialists while keeping context, speak EVERY channel &amp; modality in the customer's language, and do all that while keeping money-moving actions safe and auditable. No off-the-shelf box does all four — that's why they engaged a specialist to build a custom agent architecture. That architecture is GOOPHER.'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solution in one breath (90s). 'GOOPHER is a unified conversational agent built on Google's Agent Development Kit and Gemini 2.5 Flash on Vertex AI. It hits all four extension requirements TODAY: real sub-agents with shared context, multilingual, multichannel, and multimodal — including a camera 'see-it-shop-it' flow. And it's not just talk: backend tools hit a mock retail database for live inventory and order status, and place real orders through a safe gate. I'll show each of these live in a moment.'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(3 min — the centerpiece for the technical stakeholder). 'Top lane: the Chrome extension talks over HTTPS+JWT to FastAPI on Cloud Run, which runs a real ADK orchestrator on Gemini 2.5 Flash via Vertex AI. Before the LLM, deterministic Python handles modality/language/channel/memory — fast, free, reliable. The orchestrator delegates to four worker sub-agents using the agent-as-tool pattern; each picks a skill from a registry and calls in-process tools that hit the mock retail DB in Firestore. Crucially, checkout is a DETERMINISTIC transactional gate, and a self-healing Guardian plus Cloud Trace and a live /dev portal make the whole thing observable. The one line to remember: the LLM orchestrates and converses; deterministic code transacts.' (Open /dev here if time permits.)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Architecture deep-dive (3–4 min — for the technical stakeholder; great for Q&amp;A). Walk the numbers 1→9: 1) The extension captures text, voice, camera or a file and calls the API over HTTPS with a JWT. 2) Cloud Run + FastAPI authenticates and applies rate/size limits and CORS. 3) Deterministic Python detects modality, language and channel and LOADS session memory by session_id — no LLM, so it's fast, free and reliable. 4) We branch: a purchase goes to the deterministic transactional gate and SKIPS the LLM entirely; everything else goes to the agent path. 5) The common Agent Harness builds the agent, ensures the ADK session, and runs it with retries and degrade-once. 6) The ROOT orchestrator on Gemini 2.5 Flash via Vertex selects ONE worker using agent-as-tool — so it stays in control and there are no delegation loops. 7) That worker picks a skill from the registry and calls its tools via native function-calling. 8) Tools read and write the mock retail DB in Firestore — catalog, orders, and the ORDER_PLACED table. 9) We channel-format the reply, PERSIST the turn to memory, stream it back, and trace the whole thing to Cloud Trace and the live /dev portal. On the right are the three things true on EVERY turn: the deterministic gate, the isolated side-agents (vision, advisor, guardian), and full observability + resilience. I can drill into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Components in detail (3–4 min — the 'show me the rigor' slide). Six panels, each its own concern. 1) Sub-agents are the LLM agents: the ROOT goopher_orchestrator and four named workers — inventory, order, checkout, order_management — plus three isolated ones (vision, advisor, guardian). 2) Agent SKILLS are a SEPARATE concept: a skill is an instruction + a set of tools, registered once; an agent PICKS a skill. Browse-and-track skills are read-only; checkout/fulfillment are transactional — and the read-only flag is enforced in code so the advisor can never get a checkout tool. See GET /skills. 3) Authentication: JWT on every call, an email allowlist plus master password, fail-closed, with rate/size limits and CORS; secrets never committed. 4) The Memory Agent is one session store keyed by session_id, durable in Firestore, holding turns plus working-memory facts; loaded at the start and persisted at the end of every turn. 5) Guardrails: the deterministic gate, no-substitution, confirm-before-charge, structural loop prevention, graceful fallback, and the self-healing Guardian. 6) Quality: 117 unit tests and 8 evals gate every change via CI/CD, plus a CI-simulation that blocks the google packages to prove the production fallback path. The headline: sub-agents and skills are different layers, and safety/quality are first-class, not afterthoughts.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(8–10 min — the hands-on score). Drive the extension; narrate intent before each click. 1) Type 'do you have oreos?' then 'place an order of oreo cookies' → show the cart + 'please confirm' → Confirm → staged receipt. Stress: no substitution, confirm before charge. 2) Camera: show the soccer ball, ask price, then 'place an order' → confirm. Gemini Vision on Vertex recognizes + prices + acts. 3) Open /dev: point at the live pipeline (harness → orchestrator → worker → skill → tool → memory). Switch language/voice to show context carried. 4) Finale: /dev Guardian → Kill Vertex → watch DETECT→DIAGNOSE→REMEDIATE→VERIFY → Restore all. If anything is slow (cold start), narrate it as graceful degradation and pivot to the Guardian — it always works.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back to the exact requirements (2 min). 'The prompt named four things to be extensible to — we built all four in. Sub-agents with shared context via one session store on Firestore. Multilingual, carried across turns. Multichannel — web plus a phone simulator, with a clean path to CCAI. And multimodal — text, voice, files, and camera vision. This slide is your checklist; I can go deep on any 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Defend the design (3 min — the technical-acumen score). For each: name the choice, the alternative, and WHY. Headline: the deterministic gate keeps the LLM OUT of executing payments. Agent-as-tool prevents loops structurally. We didn't force deterministic work into agents. Native function-calling for reliability; explicit ReAct only for the read-only advisor. The RSI critic is an LLM-as-judge — a single structured call, NOT an ADK/ReAct agent — because judging a failure has no multi-step tool loop. One Gemini model on Vertex; graceful fallback + self-heal so we degrade, not fail. The full log of every trade-off (options → chosen → why) is in TRADEOFFS.md — invite the expert to push on any row.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Challenges (2–3 min — shows hands-on depth, which the panel scores). 'Building this surfaced real problems. ADK let the model skip sub-agents and a SequentialAgent can't be an AgentTool — so I moved pre-processing to deterministic code and used agent-as-tool. Gemini 2.5's thinking starved the answer on vision and the ReAct advisor — fixed with thinking_budget=0 plus a grounded synthesis fallback. The ADK path isn't testable in CI, so a cloud-only bug could hide — I added a CI-simulation that blocks the google packages and runs everything through the fallback. I kept the LLM from substituting or auto-charging with a deterministic confirm-before-charge gate. Context across channels/languages lives in one Firestore session store. And I learned the SDK/quota gotchas: google.genai for Vertex, and pin the right model. Each of these is documented in LEARNINGS.md.'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Wow factor (90s — the memorable beat). 'If you remember six things: you can SHOW a product to a camera and it orders it; you can BREAK a dependency on stage and watch it self-heal; you can SEE the agent pipeline for every turn; it runs TWO agent styles on one model; the AI never touches payment; and it's production-shaped — tested, CI/CD, self-healing — on Google Cloud. Most demos show one of these; GOOPHER shows all six, live.'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Reliability &amp; trust (2 min — pre-empts the 'is it safe?' question). 'For a retailer, an agent that touches orders has to be trustworthy. GOOPHER never substitutes, always confirms before charging, can't loop by construction, keeps durable shared state, self-heals, and is fully observable. These aren't promises — most are visible live in the /dev portal.'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RSI (~2 min — the 'it gets better on its own' wow). 'Most agents are static. GOOPHER self-heals on two levels: the Guardian heals the infrastructure, and the CriticAgent heals the BEHAVIOUR. When an answer is poor, the shopper thumbs-down; the CriticAgent uses Gemini-as-judge to find the root cause and write a corrective lesson, stores it confidence-gated, and retrieves it via RAG to improve the next similar answer — no retraining, no redeploy. Live: reset lessons in /dev, ask 'do you have laptops?' (flat), thumbs-down, ask again — now it names real in-stock alternatives and asks a clarifying question, and /dev shows DETECT → JUDGE → LESSON. In production this is a Cloud Run Job every 15 minutes sourced from CCAI Insights, backed by Vertex AI Embeddings + Vector Search. It's isolated and additive — it never changes routing or checkout.'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Business value (2–3 min — speak to the VP of Strategy). 'Translate the tech into outcomes: 24/7 self-service across every channel and language; deflection of routine contacts (industry sees 60–80%); near-zero idle cost because it scales to zero; and one agent replacing three hand-offs. The growth levers: higher conversion &amp; basket size from natural discovery and see-it-shop-it; instant global reach without rebuilding per market; lower cost to serve; and brand-safe automation. I'm flagging the numbers as illustrative benchmarks — in a pilot we'd instrument the real deflection, conversion and CSAT.'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Google Cloud (90s — the CE angle). 'Every block of this design is a Google Cloud strength: Gemini on Vertex gives us one multimodal model under managed security and quota; ADK gives first-class multi-agent orchestration and tracing; Cloud Run is serverless and scales to zero; Firestore gives durable shared state; Cloud Trace makes it debuggable; and there's a clean path to CCAI and Vertex Translation. The prototype isn't bolted onto the cloud — it's native to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Learnings (90s — shows reflection / seniority). 'Six takeaways I'd carry forward: ReAct is a paradigm, not a class — native function-calling is ReAct done better. Keep money off the model — LLM orchestrates, code transacts. Loop safety comes from the graph shape, not prompt wording. A model quirk that bites once will bite again, so encode the fix. Test the path production actually runs — a CI-sim of the ADK fallback caught what local tests couldn't. And centralize state by session_id while keeping agents stateless where you can. All of these are written up in LEARNINGS.md with the war stories behind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(90s). 'The prototype already solves the hard parts — the safety gate, shared context, and multimodal. So production is a low-risk ramp: Pilot adds real auth, Secret Manager, hardening, and instrumentation. Integrate connects live OMS/payments and CCAI telephony plus Vertex Translation. Scale is multi-region, evals in CI, and more sub-agents. Each phase is integration and hardening — not re-architecture.'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Q&amp;A (30s, then open the floor). 'To recap: one agent across every channel, language and modality; safe to transact because deterministic code does the transacting; and it heals itself. It directly unblocks the engagement and it's native to Google Cloud. I'd love your questions — and I can pull up the live extension or the /dev portal to answer any of them.' Keep QUESTION-ANSWER.md open for crisp answers + where-to-point.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2.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image" Target="../media/image-4-9.png"/><Relationship Id="rId10" Type="http://schemas.openxmlformats.org/officeDocument/2006/relationships/image" Target="../media/image-4-10.png"/><Relationship Id="rId11" Type="http://schemas.openxmlformats.org/officeDocument/2006/relationships/image" Target="../media/image-4-8.png"/><Relationship Id="rId12" Type="http://schemas.openxmlformats.org/officeDocument/2006/relationships/image" Target="../media/image-4-12.png"/><Relationship Id="rId13" Type="http://schemas.openxmlformats.org/officeDocument/2006/relationships/slideLayout" Target="../slideLayouts/slideLayout1.xml"/><Relationship Id="rId1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slideLayout" Target="../slideLayouts/slideLayout1.xm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image" Target="../media/image-9-7.png"/><Relationship Id="rId8" Type="http://schemas.openxmlformats.org/officeDocument/2006/relationships/image" Target="../media/image-9-8.png"/><Relationship Id="rId9" Type="http://schemas.openxmlformats.org/officeDocument/2006/relationships/slideLayout" Target="../slideLayouts/slideLayout1.xml"/><Relationship Id="rId10"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slideLayout" Target="../slideLayouts/slideLayout1.xml"/><Relationship Id="rId8"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 Id="rId8" Type="http://schemas.openxmlformats.org/officeDocument/2006/relationships/slideLayout" Target="../slideLayouts/slideLayout1.xml"/><Relationship Id="rId9"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2.png"/><Relationship Id="rId5" Type="http://schemas.openxmlformats.org/officeDocument/2006/relationships/image" Target="../media/image-13-5.png"/><Relationship Id="rId6" Type="http://schemas.openxmlformats.org/officeDocument/2006/relationships/image" Target="../media/image-13-2.png"/><Relationship Id="rId7" Type="http://schemas.openxmlformats.org/officeDocument/2006/relationships/image" Target="../media/image-13-7.png"/><Relationship Id="rId8" Type="http://schemas.openxmlformats.org/officeDocument/2006/relationships/image" Target="../media/image-13-2.png"/><Relationship Id="rId9" Type="http://schemas.openxmlformats.org/officeDocument/2006/relationships/image" Target="../media/image-13-9.png"/><Relationship Id="rId10" Type="http://schemas.openxmlformats.org/officeDocument/2006/relationships/image" Target="../media/image-13-10.png"/><Relationship Id="rId11" Type="http://schemas.openxmlformats.org/officeDocument/2006/relationships/slideLayout" Target="../slideLayouts/slideLayout1.xml"/><Relationship Id="rId1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slideLayout" Target="../slideLayouts/slideLayout1.xml"/><Relationship Id="rId6"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slideLayout" Target="../slideLayouts/slideLayout1.xml"/><Relationship Id="rId8"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2.png"/><Relationship Id="rId5" Type="http://schemas.openxmlformats.org/officeDocument/2006/relationships/image" Target="../media/image-17-5.png"/><Relationship Id="rId6" Type="http://schemas.openxmlformats.org/officeDocument/2006/relationships/image" Target="../media/image-17-2.png"/><Relationship Id="rId7" Type="http://schemas.openxmlformats.org/officeDocument/2006/relationships/image" Target="../media/image-17-7.png"/><Relationship Id="rId8" Type="http://schemas.openxmlformats.org/officeDocument/2006/relationships/slideLayout" Target="../slideLayouts/slideLayout1.xml"/><Relationship Id="rId9"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image" Target="../media/image-18-2.png"/><Relationship Id="rId3" Type="http://schemas.openxmlformats.org/officeDocument/2006/relationships/slideLayout" Target="../slideLayouts/slideLayout1.xml"/><Relationship Id="rId4"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66928"/>
            <a:ext cx="822960" cy="822960"/>
          </a:xfrm>
          <a:prstGeom prst="rect">
            <a:avLst/>
          </a:prstGeom>
        </p:spPr>
      </p:pic>
      <p:sp>
        <p:nvSpPr>
          <p:cNvPr id="3" name="Text 0"/>
          <p:cNvSpPr/>
          <p:nvPr/>
        </p:nvSpPr>
        <p:spPr>
          <a:xfrm>
            <a:off x="1463040" y="566928"/>
            <a:ext cx="7315200" cy="457200"/>
          </a:xfrm>
          <a:prstGeom prst="rect">
            <a:avLst/>
          </a:prstGeom>
          <a:noFill/>
          <a:ln/>
        </p:spPr>
        <p:txBody>
          <a:bodyPr wrap="square" lIns="0" tIns="0" rIns="0" bIns="0" rtlCol="0" anchor="ctr"/>
          <a:lstStyle/>
          <a:p>
            <a:pPr indent="0" marL="0">
              <a:buNone/>
            </a:pPr>
            <a:r>
              <a:rPr lang="en-US" sz="2200" b="1" dirty="0">
                <a:solidFill>
                  <a:srgbClr val="FFFFFF"/>
                </a:solidFill>
                <a:latin typeface="Georgia" pitchFamily="34" charset="0"/>
                <a:ea typeface="Georgia" pitchFamily="34" charset="-122"/>
                <a:cs typeface="Georgia" pitchFamily="34" charset="-120"/>
              </a:rPr>
              <a:t>GOOPHER</a:t>
            </a:r>
            <a:endParaRPr lang="en-US" sz="2200" dirty="0"/>
          </a:p>
        </p:txBody>
      </p:sp>
      <p:sp>
        <p:nvSpPr>
          <p:cNvPr id="4" name="Text 1"/>
          <p:cNvSpPr/>
          <p:nvPr/>
        </p:nvSpPr>
        <p:spPr>
          <a:xfrm>
            <a:off x="1472184" y="987552"/>
            <a:ext cx="7315200" cy="365760"/>
          </a:xfrm>
          <a:prstGeom prst="rect">
            <a:avLst/>
          </a:prstGeom>
          <a:noFill/>
          <a:ln/>
        </p:spPr>
        <p:txBody>
          <a:bodyPr wrap="square" lIns="0" tIns="0" rIns="0" bIns="0" rtlCol="0" anchor="ctr"/>
          <a:lstStyle/>
          <a:p>
            <a:pPr indent="0" marL="0">
              <a:buNone/>
            </a:pPr>
            <a:r>
              <a:rPr lang="en-US" sz="1250" dirty="0">
                <a:solidFill>
                  <a:srgbClr val="C9C2E8"/>
                </a:solidFill>
                <a:latin typeface="Calibri" pitchFamily="34" charset="0"/>
                <a:ea typeface="Calibri" pitchFamily="34" charset="-122"/>
                <a:cs typeface="Calibri" pitchFamily="34" charset="-120"/>
              </a:rPr>
              <a:t>Applied AI · Practice Customer Engineer</a:t>
            </a:r>
            <a:endParaRPr lang="en-US" sz="1250" dirty="0"/>
          </a:p>
        </p:txBody>
      </p:sp>
      <p:sp>
        <p:nvSpPr>
          <p:cNvPr id="5" name="Text 2"/>
          <p:cNvSpPr/>
          <p:nvPr/>
        </p:nvSpPr>
        <p:spPr>
          <a:xfrm>
            <a:off x="502920" y="2331720"/>
            <a:ext cx="10607040" cy="822960"/>
          </a:xfrm>
          <a:prstGeom prst="rect">
            <a:avLst/>
          </a:prstGeom>
          <a:noFill/>
          <a:ln/>
        </p:spPr>
        <p:txBody>
          <a:bodyPr wrap="square" lIns="0" tIns="0" rIns="0" bIns="0" rtlCol="0" anchor="ctr"/>
          <a:lstStyle/>
          <a:p>
            <a:pPr indent="0" marL="0">
              <a:buNone/>
            </a:pPr>
            <a:r>
              <a:rPr lang="en-US" sz="4200" b="1" dirty="0">
                <a:solidFill>
                  <a:srgbClr val="FFFFFF"/>
                </a:solidFill>
                <a:latin typeface="Georgia" pitchFamily="34" charset="0"/>
                <a:ea typeface="Georgia" pitchFamily="34" charset="-122"/>
                <a:cs typeface="Georgia" pitchFamily="34" charset="-120"/>
              </a:rPr>
              <a:t>The unified conversational retail agent</a:t>
            </a:r>
            <a:endParaRPr lang="en-US" sz="4200" dirty="0"/>
          </a:p>
        </p:txBody>
      </p:sp>
      <p:sp>
        <p:nvSpPr>
          <p:cNvPr id="6" name="Text 3"/>
          <p:cNvSpPr/>
          <p:nvPr/>
        </p:nvSpPr>
        <p:spPr>
          <a:xfrm>
            <a:off x="502920" y="3246120"/>
            <a:ext cx="10789920" cy="457200"/>
          </a:xfrm>
          <a:prstGeom prst="rect">
            <a:avLst/>
          </a:prstGeom>
          <a:noFill/>
          <a:ln/>
        </p:spPr>
        <p:txBody>
          <a:bodyPr wrap="square" lIns="0" tIns="0" rIns="0" bIns="0" rtlCol="0" anchor="ctr"/>
          <a:lstStyle/>
          <a:p>
            <a:pPr indent="0" marL="0">
              <a:buNone/>
            </a:pPr>
            <a:r>
              <a:rPr lang="en-US" sz="1700" b="1" dirty="0">
                <a:solidFill>
                  <a:srgbClr val="FCA5C0"/>
                </a:solidFill>
                <a:latin typeface="Calibri" pitchFamily="34" charset="0"/>
                <a:ea typeface="Calibri" pitchFamily="34" charset="-122"/>
                <a:cs typeface="Calibri" pitchFamily="34" charset="-120"/>
              </a:rPr>
              <a:t>Type it · say it · show it</a:t>
            </a:r>
            <a:pPr indent="0" marL="0">
              <a:buNone/>
            </a:pPr>
            <a:r>
              <a:rPr lang="en-US" sz="1700" dirty="0">
                <a:solidFill>
                  <a:srgbClr val="D7D3EC"/>
                </a:solidFill>
                <a:latin typeface="Calibri" pitchFamily="34" charset="0"/>
                <a:ea typeface="Calibri" pitchFamily="34" charset="-122"/>
                <a:cs typeface="Calibri" pitchFamily="34" charset="-120"/>
              </a:rPr>
              <a:t>  —  one agent that sees, talks, reasons, and transacts safely.</a:t>
            </a:r>
            <a:endParaRPr lang="en-US" sz="1700" dirty="0"/>
          </a:p>
        </p:txBody>
      </p:sp>
      <p:sp>
        <p:nvSpPr>
          <p:cNvPr id="7" name="Shape 4"/>
          <p:cNvSpPr/>
          <p:nvPr/>
        </p:nvSpPr>
        <p:spPr>
          <a:xfrm>
            <a:off x="502920" y="4069080"/>
            <a:ext cx="1960474" cy="402336"/>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502920" y="4069080"/>
            <a:ext cx="1960474"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Google ADK multi-agent</a:t>
            </a:r>
            <a:endParaRPr lang="en-US" sz="1100" dirty="0"/>
          </a:p>
        </p:txBody>
      </p:sp>
      <p:sp>
        <p:nvSpPr>
          <p:cNvPr id="9" name="Shape 6"/>
          <p:cNvSpPr/>
          <p:nvPr/>
        </p:nvSpPr>
        <p:spPr>
          <a:xfrm>
            <a:off x="2627986" y="4069080"/>
            <a:ext cx="2410358" cy="402336"/>
          </a:xfrm>
          <a:prstGeom prst="roundRect">
            <a:avLst>
              <a:gd name="adj" fmla="val 50000"/>
            </a:avLst>
          </a:prstGeom>
          <a:solidFill>
            <a:srgbClr val="FFFFFF">
              <a:alpha val="12000"/>
            </a:srgbClr>
          </a:solidFill>
          <a:ln w="12700">
            <a:solidFill>
              <a:srgbClr val="E11D48"/>
            </a:solidFill>
            <a:prstDash val="solid"/>
          </a:ln>
        </p:spPr>
      </p:sp>
      <p:sp>
        <p:nvSpPr>
          <p:cNvPr id="10" name="Text 7"/>
          <p:cNvSpPr/>
          <p:nvPr/>
        </p:nvSpPr>
        <p:spPr>
          <a:xfrm>
            <a:off x="2627986" y="4069080"/>
            <a:ext cx="241035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Gemini 2.5 Flash · Vertex AI</a:t>
            </a:r>
            <a:endParaRPr lang="en-US" sz="1100" dirty="0"/>
          </a:p>
        </p:txBody>
      </p:sp>
      <p:sp>
        <p:nvSpPr>
          <p:cNvPr id="11" name="Shape 8"/>
          <p:cNvSpPr/>
          <p:nvPr/>
        </p:nvSpPr>
        <p:spPr>
          <a:xfrm>
            <a:off x="5202936" y="4069080"/>
            <a:ext cx="1885493" cy="402336"/>
          </a:xfrm>
          <a:prstGeom prst="roundRect">
            <a:avLst>
              <a:gd name="adj" fmla="val 50000"/>
            </a:avLst>
          </a:prstGeom>
          <a:solidFill>
            <a:srgbClr val="FFFFFF">
              <a:alpha val="12000"/>
            </a:srgbClr>
          </a:solidFill>
          <a:ln w="12700">
            <a:solidFill>
              <a:srgbClr val="0D9488"/>
            </a:solidFill>
            <a:prstDash val="solid"/>
          </a:ln>
        </p:spPr>
      </p:sp>
      <p:sp>
        <p:nvSpPr>
          <p:cNvPr id="12" name="Text 9"/>
          <p:cNvSpPr/>
          <p:nvPr/>
        </p:nvSpPr>
        <p:spPr>
          <a:xfrm>
            <a:off x="5202936" y="4069080"/>
            <a:ext cx="1885493"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Cloud Run · Firestore</a:t>
            </a:r>
            <a:endParaRPr lang="en-US" sz="1100" dirty="0"/>
          </a:p>
        </p:txBody>
      </p:sp>
      <p:sp>
        <p:nvSpPr>
          <p:cNvPr id="13" name="Shape 10"/>
          <p:cNvSpPr/>
          <p:nvPr/>
        </p:nvSpPr>
        <p:spPr>
          <a:xfrm>
            <a:off x="7253021" y="4069080"/>
            <a:ext cx="3310128" cy="402336"/>
          </a:xfrm>
          <a:prstGeom prst="roundRect">
            <a:avLst>
              <a:gd name="adj" fmla="val 50000"/>
            </a:avLst>
          </a:prstGeom>
          <a:solidFill>
            <a:srgbClr val="FFFFFF">
              <a:alpha val="12000"/>
            </a:srgbClr>
          </a:solidFill>
          <a:ln w="12700">
            <a:solidFill>
              <a:srgbClr val="2563EB"/>
            </a:solidFill>
            <a:prstDash val="solid"/>
          </a:ln>
        </p:spPr>
      </p:sp>
      <p:sp>
        <p:nvSpPr>
          <p:cNvPr id="14" name="Text 11"/>
          <p:cNvSpPr/>
          <p:nvPr/>
        </p:nvSpPr>
        <p:spPr>
          <a:xfrm>
            <a:off x="7253021" y="4069080"/>
            <a:ext cx="3310128" cy="40233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Multimodal · multilingual · multichannel</a:t>
            </a:r>
            <a:endParaRPr lang="en-US" sz="1100" dirty="0"/>
          </a:p>
        </p:txBody>
      </p:sp>
      <p:sp>
        <p:nvSpPr>
          <p:cNvPr id="15" name="Text 12"/>
          <p:cNvSpPr/>
          <p:nvPr/>
        </p:nvSpPr>
        <p:spPr>
          <a:xfrm>
            <a:off x="502920" y="5806440"/>
            <a:ext cx="10972800" cy="365760"/>
          </a:xfrm>
          <a:prstGeom prst="rect">
            <a:avLst/>
          </a:prstGeom>
          <a:noFill/>
          <a:ln/>
        </p:spPr>
        <p:txBody>
          <a:bodyPr wrap="square" lIns="0" tIns="0" rIns="0" bIns="0" rtlCol="0" anchor="ctr"/>
          <a:lstStyle/>
          <a:p>
            <a:pPr indent="0" marL="0">
              <a:buNone/>
            </a:pPr>
            <a:r>
              <a:rPr lang="en-US" sz="1250" b="1" dirty="0">
                <a:solidFill>
                  <a:srgbClr val="FFFFFF"/>
                </a:solidFill>
                <a:latin typeface="Calibri" pitchFamily="34" charset="0"/>
                <a:ea typeface="Calibri" pitchFamily="34" charset="-122"/>
                <a:cs typeface="Calibri" pitchFamily="34" charset="-120"/>
              </a:rPr>
              <a:t>Presented to:  </a:t>
            </a:r>
            <a:pPr indent="0" marL="0">
              <a:buNone/>
            </a:pPr>
            <a:r>
              <a:rPr lang="en-US" sz="1250" dirty="0">
                <a:solidFill>
                  <a:srgbClr val="C9C2E8"/>
                </a:solidFill>
                <a:latin typeface="Calibri" pitchFamily="34" charset="0"/>
                <a:ea typeface="Calibri" pitchFamily="34" charset="-122"/>
                <a:cs typeface="Calibri" pitchFamily="34" charset="-120"/>
              </a:rPr>
              <a:t>Domain Expert (Technical Stakeholder)  ·  VP of Strategy (Business Stakeholder)</a:t>
            </a:r>
            <a:endParaRPr lang="en-US" sz="1250" dirty="0"/>
          </a:p>
        </p:txBody>
      </p:sp>
      <p:sp>
        <p:nvSpPr>
          <p:cNvPr id="16" name="Text 13"/>
          <p:cNvSpPr/>
          <p:nvPr/>
        </p:nvSpPr>
        <p:spPr>
          <a:xfrm>
            <a:off x="502920" y="6163056"/>
            <a:ext cx="10972800" cy="320040"/>
          </a:xfrm>
          <a:prstGeom prst="rect">
            <a:avLst/>
          </a:prstGeom>
          <a:noFill/>
          <a:ln/>
        </p:spPr>
        <p:txBody>
          <a:bodyPr wrap="square" lIns="0" tIns="0" rIns="0" bIns="0" rtlCol="0" anchor="ctr"/>
          <a:lstStyle/>
          <a:p>
            <a:pPr indent="0" marL="0">
              <a:buNone/>
            </a:pPr>
            <a:r>
              <a:rPr lang="en-US" sz="1100" i="1" dirty="0">
                <a:solidFill>
                  <a:srgbClr val="8E87B0"/>
                </a:solidFill>
                <a:latin typeface="Calibri" pitchFamily="34" charset="0"/>
                <a:ea typeface="Calibri" pitchFamily="34" charset="-122"/>
                <a:cs typeface="Calibri" pitchFamily="34" charset="-120"/>
              </a:rPr>
              <a:t>Live prototype — demonstrated in the GOOPHER Chrome side-panel extension, running on Google Cloud.</a:t>
            </a:r>
            <a:endParaRPr lang="en-US" sz="11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THE SPECIALIZED CHALLENGE — THE “UNBLOCKER”</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A global retailer is blocked: self-service that can actually transact</a:t>
            </a:r>
            <a:endParaRPr lang="en-US" sz="2800" dirty="0"/>
          </a:p>
        </p:txBody>
      </p:sp>
      <p:sp>
        <p:nvSpPr>
          <p:cNvPr id="4" name="Shape 2"/>
          <p:cNvSpPr/>
          <p:nvPr/>
        </p:nvSpPr>
        <p:spPr>
          <a:xfrm>
            <a:off x="502920" y="1783080"/>
            <a:ext cx="5440680" cy="4114800"/>
          </a:xfrm>
          <a:prstGeom prst="roundRect">
            <a:avLst>
              <a:gd name="adj" fmla="val 2000"/>
            </a:avLst>
          </a:prstGeom>
          <a:solidFill>
            <a:srgbClr val="0A0E1F"/>
          </a:solidFill>
          <a:ln/>
          <a:effectLst>
            <a:outerShdw sx="100000" sy="100000" kx="0" ky="0" algn="bl" rotWithShape="0" blurRad="114300" dist="38100" dir="8100000">
              <a:srgbClr val="0F172A">
                <a:alpha val="16000"/>
              </a:srgbClr>
            </a:outerShdw>
          </a:effectLst>
        </p:spPr>
      </p:sp>
      <p:sp>
        <p:nvSpPr>
          <p:cNvPr id="5" name="Text 3"/>
          <p:cNvSpPr/>
          <p:nvPr/>
        </p:nvSpPr>
        <p:spPr>
          <a:xfrm>
            <a:off x="795528" y="2011680"/>
            <a:ext cx="4846320" cy="274320"/>
          </a:xfrm>
          <a:prstGeom prst="rect">
            <a:avLst/>
          </a:prstGeom>
          <a:noFill/>
          <a:ln/>
        </p:spPr>
        <p:txBody>
          <a:bodyPr wrap="square" lIns="0" tIns="0" rIns="0" bIns="0" rtlCol="0" anchor="ctr"/>
          <a:lstStyle/>
          <a:p>
            <a:pPr indent="0" marL="0">
              <a:buNone/>
            </a:pPr>
            <a:r>
              <a:rPr lang="en-US" sz="1150" b="1" spc="200" kern="0" dirty="0">
                <a:solidFill>
                  <a:srgbClr val="FCA5C0"/>
                </a:solidFill>
                <a:latin typeface="Calibri" pitchFamily="34" charset="0"/>
                <a:ea typeface="Calibri" pitchFamily="34" charset="-122"/>
                <a:cs typeface="Calibri" pitchFamily="34" charset="-120"/>
              </a:rPr>
              <a:t>THE CUSTOMER'S PROBLEM</a:t>
            </a:r>
            <a:endParaRPr lang="en-US" sz="1150" dirty="0"/>
          </a:p>
        </p:txBody>
      </p:sp>
      <p:sp>
        <p:nvSpPr>
          <p:cNvPr id="6" name="Text 4"/>
          <p:cNvSpPr/>
          <p:nvPr/>
        </p:nvSpPr>
        <p:spPr>
          <a:xfrm>
            <a:off x="795528" y="2395728"/>
            <a:ext cx="4892040" cy="2011680"/>
          </a:xfrm>
          <a:prstGeom prst="rect">
            <a:avLst/>
          </a:prstGeom>
          <a:noFill/>
          <a:ln/>
        </p:spPr>
        <p:txBody>
          <a:bodyPr wrap="square" lIns="0" tIns="0" rIns="0" bIns="0"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High-volume order management &amp; product support</a:t>
            </a:r>
            <a:endParaRPr lang="en-US" sz="1500" dirty="0"/>
          </a:p>
          <a:p>
            <a:pPr indent="0" marL="0">
              <a:spcAft>
                <a:spcPts val="1400"/>
              </a:spcAft>
              <a:buNone/>
            </a:pPr>
            <a:r>
              <a:rPr lang="en-US" sz="1500" dirty="0">
                <a:solidFill>
                  <a:srgbClr val="D7D3EC"/>
                </a:solidFill>
                <a:latin typeface="Calibri" pitchFamily="34" charset="0"/>
                <a:ea typeface="Calibri" pitchFamily="34" charset="-122"/>
                <a:cs typeface="Calibri" pitchFamily="34" charset="-120"/>
              </a:rPr>
              <a:t>via chat AND voice — for a diverse, global base.</a:t>
            </a:r>
            <a:endParaRPr lang="en-US" sz="1500" dirty="0"/>
          </a:p>
          <a:p>
            <a:pPr indent="0" marL="0">
              <a:buNone/>
            </a:pPr>
            <a:r>
              <a:rPr lang="en-US" sz="1500" dirty="0">
                <a:solidFill>
                  <a:srgbClr val="D7D3EC"/>
                </a:solidFill>
                <a:latin typeface="Calibri" pitchFamily="34" charset="0"/>
                <a:ea typeface="Calibri" pitchFamily="34" charset="-122"/>
                <a:cs typeface="Calibri" pitchFamily="34" charset="-120"/>
              </a:rPr>
              <a:t>They need consistent, context-aware routing and natural conversational flows — </a:t>
            </a:r>
            <a:pPr indent="0" marL="0">
              <a:buNone/>
            </a:pPr>
            <a:r>
              <a:rPr lang="en-US" sz="1500" b="1" dirty="0">
                <a:solidFill>
                  <a:srgbClr val="FFFFFF"/>
                </a:solidFill>
                <a:latin typeface="Calibri" pitchFamily="34" charset="0"/>
                <a:ea typeface="Calibri" pitchFamily="34" charset="-122"/>
                <a:cs typeface="Calibri" pitchFamily="34" charset="-120"/>
              </a:rPr>
              <a:t>and the agent must take real action against live inventory &amp; orders, not just chat.</a:t>
            </a:r>
            <a:endParaRPr lang="en-US" sz="1500" dirty="0"/>
          </a:p>
        </p:txBody>
      </p:sp>
      <p:sp>
        <p:nvSpPr>
          <p:cNvPr id="7" name="Text 5"/>
          <p:cNvSpPr/>
          <p:nvPr/>
        </p:nvSpPr>
        <p:spPr>
          <a:xfrm>
            <a:off x="795528" y="4709160"/>
            <a:ext cx="4892040" cy="1005840"/>
          </a:xfrm>
          <a:prstGeom prst="rect">
            <a:avLst/>
          </a:prstGeom>
          <a:noFill/>
          <a:ln/>
        </p:spPr>
        <p:txBody>
          <a:bodyPr wrap="square" lIns="0" tIns="0" rIns="0" bIns="0" rtlCol="0" anchor="ctr"/>
          <a:lstStyle/>
          <a:p>
            <a:pPr indent="0" marL="0">
              <a:buNone/>
            </a:pPr>
            <a:r>
              <a:rPr lang="en-US" sz="1150" i="1" dirty="0">
                <a:solidFill>
                  <a:srgbClr val="B9B2D8"/>
                </a:solidFill>
                <a:latin typeface="Calibri" pitchFamily="34" charset="0"/>
                <a:ea typeface="Calibri" pitchFamily="34" charset="-122"/>
                <a:cs typeface="Calibri" pitchFamily="34" charset="-120"/>
              </a:rPr>
              <a:t>Required deliverable: a unified conversational agent with backend tools on a mock retail DB (real-time inventory / order status), extensible to sub-agents+context, multilingual, multichannel, multimodal.</a:t>
            </a:r>
            <a:endParaRPr lang="en-US" sz="1150" dirty="0"/>
          </a:p>
        </p:txBody>
      </p:sp>
      <p:sp>
        <p:nvSpPr>
          <p:cNvPr id="8" name="Text 6"/>
          <p:cNvSpPr/>
          <p:nvPr/>
        </p:nvSpPr>
        <p:spPr>
          <a:xfrm>
            <a:off x="6263640" y="1783080"/>
            <a:ext cx="5486400" cy="365760"/>
          </a:xfrm>
          <a:prstGeom prst="rect">
            <a:avLst/>
          </a:prstGeom>
          <a:noFill/>
          <a:ln/>
        </p:spPr>
        <p:txBody>
          <a:bodyPr wrap="square" lIns="0" tIns="0" rIns="0" bIns="0" rtlCol="0" anchor="ctr"/>
          <a:lstStyle/>
          <a:p>
            <a:pPr indent="0" marL="0">
              <a:buNone/>
            </a:pPr>
            <a:r>
              <a:rPr lang="en-US" sz="1500" b="1" dirty="0">
                <a:solidFill>
                  <a:srgbClr val="0F172A"/>
                </a:solidFill>
                <a:latin typeface="Calibri" pitchFamily="34" charset="0"/>
                <a:ea typeface="Calibri" pitchFamily="34" charset="-122"/>
                <a:cs typeface="Calibri" pitchFamily="34" charset="-120"/>
              </a:rPr>
              <a:t>Why an off-the-shelf chatbot is impossible here</a:t>
            </a:r>
            <a:endParaRPr lang="en-US" sz="1500" dirty="0"/>
          </a:p>
        </p:txBody>
      </p:sp>
      <p:sp>
        <p:nvSpPr>
          <p:cNvPr id="9" name="Shape 7"/>
          <p:cNvSpPr/>
          <p:nvPr/>
        </p:nvSpPr>
        <p:spPr>
          <a:xfrm>
            <a:off x="6263640" y="2240280"/>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8"/>
          <p:cNvSpPr/>
          <p:nvPr/>
        </p:nvSpPr>
        <p:spPr>
          <a:xfrm>
            <a:off x="6483096" y="2432304"/>
            <a:ext cx="512064" cy="512064"/>
          </a:xfrm>
          <a:prstGeom prst="roundRect">
            <a:avLst>
              <a:gd name="adj" fmla="val 19643"/>
            </a:avLst>
          </a:prstGeom>
          <a:solidFill>
            <a:srgbClr val="E11D48"/>
          </a:solidFill>
          <a:ln/>
        </p:spPr>
      </p:sp>
      <p:pic>
        <p:nvPicPr>
          <p:cNvPr id="11" name="Image 0" descr="icons/ban.png">    </p:cNvPr>
          <p:cNvPicPr>
            <a:picLocks noChangeAspect="1"/>
          </p:cNvPicPr>
          <p:nvPr/>
        </p:nvPicPr>
        <p:blipFill>
          <a:blip r:embed="rId1"/>
          <a:stretch>
            <a:fillRect/>
          </a:stretch>
        </p:blipFill>
        <p:spPr>
          <a:xfrm>
            <a:off x="6601968" y="2551176"/>
            <a:ext cx="274320" cy="274320"/>
          </a:xfrm>
          <a:prstGeom prst="rect">
            <a:avLst/>
          </a:prstGeom>
        </p:spPr>
      </p:pic>
      <p:sp>
        <p:nvSpPr>
          <p:cNvPr id="12" name="Text 9"/>
          <p:cNvSpPr/>
          <p:nvPr/>
        </p:nvSpPr>
        <p:spPr>
          <a:xfrm>
            <a:off x="7132320" y="2386584"/>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Answers, doesn't act</a:t>
            </a:r>
            <a:endParaRPr lang="en-US" sz="1300" dirty="0"/>
          </a:p>
        </p:txBody>
      </p:sp>
      <p:sp>
        <p:nvSpPr>
          <p:cNvPr id="13" name="Text 10"/>
          <p:cNvSpPr/>
          <p:nvPr/>
        </p:nvSpPr>
        <p:spPr>
          <a:xfrm>
            <a:off x="7132320" y="2679192"/>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FAQ bots can't safely place/track real orders against live inventory.</a:t>
            </a:r>
            <a:endParaRPr lang="en-US" sz="1100" dirty="0"/>
          </a:p>
        </p:txBody>
      </p:sp>
      <p:sp>
        <p:nvSpPr>
          <p:cNvPr id="14" name="Shape 11"/>
          <p:cNvSpPr/>
          <p:nvPr/>
        </p:nvSpPr>
        <p:spPr>
          <a:xfrm>
            <a:off x="6263640" y="3227832"/>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2"/>
          <p:cNvSpPr/>
          <p:nvPr/>
        </p:nvSpPr>
        <p:spPr>
          <a:xfrm>
            <a:off x="6483096" y="3419856"/>
            <a:ext cx="512064" cy="512064"/>
          </a:xfrm>
          <a:prstGeom prst="roundRect">
            <a:avLst>
              <a:gd name="adj" fmla="val 19643"/>
            </a:avLst>
          </a:prstGeom>
          <a:solidFill>
            <a:srgbClr val="E11D48"/>
          </a:solidFill>
          <a:ln/>
        </p:spPr>
      </p:sp>
      <p:pic>
        <p:nvPicPr>
          <p:cNvPr id="16" name="Image 1" descr="icons/route.png">    </p:cNvPr>
          <p:cNvPicPr>
            <a:picLocks noChangeAspect="1"/>
          </p:cNvPicPr>
          <p:nvPr/>
        </p:nvPicPr>
        <p:blipFill>
          <a:blip r:embed="rId2"/>
          <a:stretch>
            <a:fillRect/>
          </a:stretch>
        </p:blipFill>
        <p:spPr>
          <a:xfrm>
            <a:off x="6601968" y="3538728"/>
            <a:ext cx="274320" cy="274320"/>
          </a:xfrm>
          <a:prstGeom prst="rect">
            <a:avLst/>
          </a:prstGeom>
        </p:spPr>
      </p:pic>
      <p:sp>
        <p:nvSpPr>
          <p:cNvPr id="17" name="Text 13"/>
          <p:cNvSpPr/>
          <p:nvPr/>
        </p:nvSpPr>
        <p:spPr>
          <a:xfrm>
            <a:off x="7132320" y="3374136"/>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No real routing + memory</a:t>
            </a:r>
            <a:endParaRPr lang="en-US" sz="1300" dirty="0"/>
          </a:p>
        </p:txBody>
      </p:sp>
      <p:sp>
        <p:nvSpPr>
          <p:cNvPr id="18" name="Text 14"/>
          <p:cNvSpPr/>
          <p:nvPr/>
        </p:nvSpPr>
        <p:spPr>
          <a:xfrm>
            <a:off x="7132320" y="3666744"/>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Can't delegate to specialists and keep context across channel/language switches.</a:t>
            </a:r>
            <a:endParaRPr lang="en-US" sz="1100" dirty="0"/>
          </a:p>
        </p:txBody>
      </p:sp>
      <p:sp>
        <p:nvSpPr>
          <p:cNvPr id="19" name="Shape 15"/>
          <p:cNvSpPr/>
          <p:nvPr/>
        </p:nvSpPr>
        <p:spPr>
          <a:xfrm>
            <a:off x="6263640" y="4215384"/>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6"/>
          <p:cNvSpPr/>
          <p:nvPr/>
        </p:nvSpPr>
        <p:spPr>
          <a:xfrm>
            <a:off x="6483096" y="4407408"/>
            <a:ext cx="512064" cy="512064"/>
          </a:xfrm>
          <a:prstGeom prst="roundRect">
            <a:avLst>
              <a:gd name="adj" fmla="val 19643"/>
            </a:avLst>
          </a:prstGeom>
          <a:solidFill>
            <a:srgbClr val="E11D48"/>
          </a:solidFill>
          <a:ln/>
        </p:spPr>
      </p:sp>
      <p:pic>
        <p:nvPicPr>
          <p:cNvPr id="21" name="Image 2" descr="icons/globe.png">    </p:cNvPr>
          <p:cNvPicPr>
            <a:picLocks noChangeAspect="1"/>
          </p:cNvPicPr>
          <p:nvPr/>
        </p:nvPicPr>
        <p:blipFill>
          <a:blip r:embed="rId3"/>
          <a:stretch>
            <a:fillRect/>
          </a:stretch>
        </p:blipFill>
        <p:spPr>
          <a:xfrm>
            <a:off x="6601968" y="4526280"/>
            <a:ext cx="274320" cy="274320"/>
          </a:xfrm>
          <a:prstGeom prst="rect">
            <a:avLst/>
          </a:prstGeom>
        </p:spPr>
      </p:pic>
      <p:sp>
        <p:nvSpPr>
          <p:cNvPr id="22" name="Text 17"/>
          <p:cNvSpPr/>
          <p:nvPr/>
        </p:nvSpPr>
        <p:spPr>
          <a:xfrm>
            <a:off x="7132320" y="4361688"/>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Global base, many modes</a:t>
            </a:r>
            <a:endParaRPr lang="en-US" sz="1300" dirty="0"/>
          </a:p>
        </p:txBody>
      </p:sp>
      <p:sp>
        <p:nvSpPr>
          <p:cNvPr id="23" name="Text 18"/>
          <p:cNvSpPr/>
          <p:nvPr/>
        </p:nvSpPr>
        <p:spPr>
          <a:xfrm>
            <a:off x="7132320" y="4654296"/>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Needs text, voice, image &amp; camera — in the shopper's language — as one experience.</a:t>
            </a:r>
            <a:endParaRPr lang="en-US" sz="1100" dirty="0"/>
          </a:p>
        </p:txBody>
      </p:sp>
      <p:sp>
        <p:nvSpPr>
          <p:cNvPr id="24" name="Shape 19"/>
          <p:cNvSpPr/>
          <p:nvPr/>
        </p:nvSpPr>
        <p:spPr>
          <a:xfrm>
            <a:off x="6263640" y="5202936"/>
            <a:ext cx="5440680" cy="896112"/>
          </a:xfrm>
          <a:prstGeom prst="roundRect">
            <a:avLst>
              <a:gd name="adj" fmla="val 918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20"/>
          <p:cNvSpPr/>
          <p:nvPr/>
        </p:nvSpPr>
        <p:spPr>
          <a:xfrm>
            <a:off x="6483096" y="5394960"/>
            <a:ext cx="512064" cy="512064"/>
          </a:xfrm>
          <a:prstGeom prst="roundRect">
            <a:avLst>
              <a:gd name="adj" fmla="val 19643"/>
            </a:avLst>
          </a:prstGeom>
          <a:solidFill>
            <a:srgbClr val="E11D48"/>
          </a:solidFill>
          <a:ln/>
        </p:spPr>
      </p:sp>
      <p:pic>
        <p:nvPicPr>
          <p:cNvPr id="26" name="Image 3" descr="icons/lock.png">    </p:cNvPr>
          <p:cNvPicPr>
            <a:picLocks noChangeAspect="1"/>
          </p:cNvPicPr>
          <p:nvPr/>
        </p:nvPicPr>
        <p:blipFill>
          <a:blip r:embed="rId4"/>
          <a:stretch>
            <a:fillRect/>
          </a:stretch>
        </p:blipFill>
        <p:spPr>
          <a:xfrm>
            <a:off x="6601968" y="5513832"/>
            <a:ext cx="274320" cy="274320"/>
          </a:xfrm>
          <a:prstGeom prst="rect">
            <a:avLst/>
          </a:prstGeom>
        </p:spPr>
      </p:pic>
      <p:sp>
        <p:nvSpPr>
          <p:cNvPr id="27" name="Text 21"/>
          <p:cNvSpPr/>
          <p:nvPr/>
        </p:nvSpPr>
        <p:spPr>
          <a:xfrm>
            <a:off x="7132320" y="5349240"/>
            <a:ext cx="4434840" cy="274320"/>
          </a:xfrm>
          <a:prstGeom prst="rect">
            <a:avLst/>
          </a:prstGeom>
          <a:noFill/>
          <a:ln/>
        </p:spPr>
        <p:txBody>
          <a:bodyPr wrap="square" lIns="0" tIns="0" rIns="0" bIns="0" rtlCol="0" anchor="t"/>
          <a:lstStyle/>
          <a:p>
            <a:pPr indent="0" marL="0">
              <a:buNone/>
            </a:pPr>
            <a:r>
              <a:rPr lang="en-US" sz="1300" b="1" dirty="0">
                <a:solidFill>
                  <a:srgbClr val="0F172A"/>
                </a:solidFill>
                <a:latin typeface="Calibri" pitchFamily="34" charset="0"/>
                <a:ea typeface="Calibri" pitchFamily="34" charset="-122"/>
                <a:cs typeface="Calibri" pitchFamily="34" charset="-120"/>
              </a:rPr>
              <a:t>Trust on transactions</a:t>
            </a:r>
            <a:endParaRPr lang="en-US" sz="1300" dirty="0"/>
          </a:p>
        </p:txBody>
      </p:sp>
      <p:sp>
        <p:nvSpPr>
          <p:cNvPr id="28" name="Text 22"/>
          <p:cNvSpPr/>
          <p:nvPr/>
        </p:nvSpPr>
        <p:spPr>
          <a:xfrm>
            <a:off x="7132320" y="5641848"/>
            <a:ext cx="4434840" cy="384048"/>
          </a:xfrm>
          <a:prstGeom prst="rect">
            <a:avLst/>
          </a:prstGeom>
          <a:noFill/>
          <a:ln/>
        </p:spPr>
        <p:txBody>
          <a:bodyPr wrap="square" lIns="0" tIns="0" rIns="0" bIns="0" rtlCol="0" anchor="t"/>
          <a:lstStyle/>
          <a:p>
            <a:pPr indent="0" marL="0">
              <a:buNone/>
            </a:pPr>
            <a:r>
              <a:rPr lang="en-US" sz="1100" dirty="0">
                <a:solidFill>
                  <a:srgbClr val="5B6577"/>
                </a:solidFill>
                <a:latin typeface="Calibri" pitchFamily="34" charset="0"/>
                <a:ea typeface="Calibri" pitchFamily="34" charset="-122"/>
                <a:cs typeface="Calibri" pitchFamily="34" charset="-120"/>
              </a:rPr>
              <a:t>A purchase must be deterministic &amp; auditable — never a free-form LLM guess.</a:t>
            </a:r>
            <a:endParaRPr lang="en-US" sz="1100" dirty="0"/>
          </a:p>
        </p:txBody>
      </p:sp>
      <p:sp>
        <p:nvSpPr>
          <p:cNvPr id="29"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0"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2</a:t>
            </a:r>
            <a:endParaRPr lang="en-US" sz="9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THE SOLUTION AT A GLANCE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GOOPHER — one agent that sees, talks, reasons &amp; transacts</a:t>
            </a:r>
            <a:endParaRPr lang="en-US" sz="2800" dirty="0"/>
          </a:p>
        </p:txBody>
      </p:sp>
      <p:sp>
        <p:nvSpPr>
          <p:cNvPr id="4" name="Text 2"/>
          <p:cNvSpPr/>
          <p:nvPr/>
        </p:nvSpPr>
        <p:spPr>
          <a:xfrm>
            <a:off x="502920" y="1591056"/>
            <a:ext cx="11185855" cy="457200"/>
          </a:xfrm>
          <a:prstGeom prst="rect">
            <a:avLst/>
          </a:prstGeom>
          <a:noFill/>
          <a:ln/>
        </p:spPr>
        <p:txBody>
          <a:bodyPr wrap="square" lIns="0" tIns="0" rIns="0" bIns="0" rtlCol="0" anchor="ctr"/>
          <a:lstStyle/>
          <a:p>
            <a:pPr indent="0" marL="0">
              <a:buNone/>
            </a:pPr>
            <a:r>
              <a:rPr lang="en-US" sz="1300" dirty="0">
                <a:solidFill>
                  <a:srgbClr val="5B6577"/>
                </a:solidFill>
                <a:latin typeface="Calibri" pitchFamily="34" charset="0"/>
                <a:ea typeface="Calibri" pitchFamily="34" charset="-122"/>
                <a:cs typeface="Calibri" pitchFamily="34" charset="-120"/>
              </a:rPr>
              <a:t>A Google ADK multi-agent system on Gemini 2.5 Flash (Vertex AI), with backend tools on a mock retail database for real-time inventory &amp; order status — every hard requirement met today, not 'on the roadmap'.</a:t>
            </a:r>
            <a:endParaRPr lang="en-US" sz="1300" dirty="0"/>
          </a:p>
        </p:txBody>
      </p:sp>
      <p:sp>
        <p:nvSpPr>
          <p:cNvPr id="5" name="Shape 3"/>
          <p:cNvSpPr/>
          <p:nvPr/>
        </p:nvSpPr>
        <p:spPr>
          <a:xfrm>
            <a:off x="502920"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740664" y="2368296"/>
            <a:ext cx="566928" cy="566928"/>
          </a:xfrm>
          <a:prstGeom prst="roundRect">
            <a:avLst>
              <a:gd name="adj" fmla="val 19355"/>
            </a:avLst>
          </a:prstGeom>
          <a:solidFill>
            <a:srgbClr val="2563EB"/>
          </a:solidFill>
          <a:ln/>
        </p:spPr>
      </p:sp>
      <p:pic>
        <p:nvPicPr>
          <p:cNvPr id="7" name="Image 0" descr="icons/sitemap.png">    </p:cNvPr>
          <p:cNvPicPr>
            <a:picLocks noChangeAspect="1"/>
          </p:cNvPicPr>
          <p:nvPr/>
        </p:nvPicPr>
        <p:blipFill>
          <a:blip r:embed="rId1"/>
          <a:stretch>
            <a:fillRect/>
          </a:stretch>
        </p:blipFill>
        <p:spPr>
          <a:xfrm>
            <a:off x="877824" y="2505456"/>
            <a:ext cx="292608" cy="292608"/>
          </a:xfrm>
          <a:prstGeom prst="rect">
            <a:avLst/>
          </a:prstGeom>
        </p:spPr>
      </p:pic>
      <p:sp>
        <p:nvSpPr>
          <p:cNvPr id="8" name="Text 5"/>
          <p:cNvSpPr/>
          <p:nvPr/>
        </p:nvSpPr>
        <p:spPr>
          <a:xfrm>
            <a:off x="1490472"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Sub-agents + context</a:t>
            </a:r>
            <a:endParaRPr lang="en-US" sz="1450" dirty="0"/>
          </a:p>
        </p:txBody>
      </p:sp>
      <p:sp>
        <p:nvSpPr>
          <p:cNvPr id="9" name="Text 6"/>
          <p:cNvSpPr/>
          <p:nvPr/>
        </p:nvSpPr>
        <p:spPr>
          <a:xfrm>
            <a:off x="758952"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ROOT orchestrator delegates to inventory · order · checkout · fulfillment workers; context kept in one session store.</a:t>
            </a:r>
            <a:endParaRPr lang="en-US" sz="1250" dirty="0"/>
          </a:p>
        </p:txBody>
      </p:sp>
      <p:sp>
        <p:nvSpPr>
          <p:cNvPr id="10" name="Shape 7"/>
          <p:cNvSpPr/>
          <p:nvPr/>
        </p:nvSpPr>
        <p:spPr>
          <a:xfrm>
            <a:off x="3345104"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3582848" y="2368296"/>
            <a:ext cx="566928" cy="566928"/>
          </a:xfrm>
          <a:prstGeom prst="roundRect">
            <a:avLst>
              <a:gd name="adj" fmla="val 19355"/>
            </a:avLst>
          </a:prstGeom>
          <a:solidFill>
            <a:srgbClr val="7C3AED"/>
          </a:solidFill>
          <a:ln/>
        </p:spPr>
      </p:sp>
      <p:pic>
        <p:nvPicPr>
          <p:cNvPr id="12" name="Image 1" descr="icons/globe.png">    </p:cNvPr>
          <p:cNvPicPr>
            <a:picLocks noChangeAspect="1"/>
          </p:cNvPicPr>
          <p:nvPr/>
        </p:nvPicPr>
        <p:blipFill>
          <a:blip r:embed="rId2"/>
          <a:stretch>
            <a:fillRect/>
          </a:stretch>
        </p:blipFill>
        <p:spPr>
          <a:xfrm>
            <a:off x="3720008" y="2505456"/>
            <a:ext cx="292608" cy="292608"/>
          </a:xfrm>
          <a:prstGeom prst="rect">
            <a:avLst/>
          </a:prstGeom>
        </p:spPr>
      </p:pic>
      <p:sp>
        <p:nvSpPr>
          <p:cNvPr id="13" name="Text 9"/>
          <p:cNvSpPr/>
          <p:nvPr/>
        </p:nvSpPr>
        <p:spPr>
          <a:xfrm>
            <a:off x="4332656"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Multi-lingual</a:t>
            </a:r>
            <a:endParaRPr lang="en-US" sz="1450" dirty="0"/>
          </a:p>
        </p:txBody>
      </p:sp>
      <p:sp>
        <p:nvSpPr>
          <p:cNvPr id="14" name="Text 10"/>
          <p:cNvSpPr/>
          <p:nvPr/>
        </p:nvSpPr>
        <p:spPr>
          <a:xfrm>
            <a:off x="3601136"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Language detected per turn and carried across the conversation (e.g. EN ⇄ ES) — same thread, same memory.</a:t>
            </a:r>
            <a:endParaRPr lang="en-US" sz="1250" dirty="0"/>
          </a:p>
        </p:txBody>
      </p:sp>
      <p:sp>
        <p:nvSpPr>
          <p:cNvPr id="15" name="Shape 11"/>
          <p:cNvSpPr/>
          <p:nvPr/>
        </p:nvSpPr>
        <p:spPr>
          <a:xfrm>
            <a:off x="6187288"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6" name="Shape 12"/>
          <p:cNvSpPr/>
          <p:nvPr/>
        </p:nvSpPr>
        <p:spPr>
          <a:xfrm>
            <a:off x="6425032" y="2368296"/>
            <a:ext cx="566928" cy="566928"/>
          </a:xfrm>
          <a:prstGeom prst="roundRect">
            <a:avLst>
              <a:gd name="adj" fmla="val 19355"/>
            </a:avLst>
          </a:prstGeom>
          <a:solidFill>
            <a:srgbClr val="0D9488"/>
          </a:solidFill>
          <a:ln/>
        </p:spPr>
      </p:sp>
      <p:pic>
        <p:nvPicPr>
          <p:cNvPr id="17" name="Image 2" descr="icons/mobile.png">    </p:cNvPr>
          <p:cNvPicPr>
            <a:picLocks noChangeAspect="1"/>
          </p:cNvPicPr>
          <p:nvPr/>
        </p:nvPicPr>
        <p:blipFill>
          <a:blip r:embed="rId3"/>
          <a:stretch>
            <a:fillRect/>
          </a:stretch>
        </p:blipFill>
        <p:spPr>
          <a:xfrm>
            <a:off x="6562192" y="2505456"/>
            <a:ext cx="292608" cy="292608"/>
          </a:xfrm>
          <a:prstGeom prst="rect">
            <a:avLst/>
          </a:prstGeom>
        </p:spPr>
      </p:pic>
      <p:sp>
        <p:nvSpPr>
          <p:cNvPr id="18" name="Text 13"/>
          <p:cNvSpPr/>
          <p:nvPr/>
        </p:nvSpPr>
        <p:spPr>
          <a:xfrm>
            <a:off x="7174840"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Multi-channel</a:t>
            </a:r>
            <a:endParaRPr lang="en-US" sz="1450" dirty="0"/>
          </a:p>
        </p:txBody>
      </p:sp>
      <p:sp>
        <p:nvSpPr>
          <p:cNvPr id="19" name="Text 14"/>
          <p:cNvSpPr/>
          <p:nvPr/>
        </p:nvSpPr>
        <p:spPr>
          <a:xfrm>
            <a:off x="6443320"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Web side-panel today + a Phone (voice) channel rendered as a mobile-device simulator — same features.</a:t>
            </a:r>
            <a:endParaRPr lang="en-US" sz="1250" dirty="0"/>
          </a:p>
        </p:txBody>
      </p:sp>
      <p:sp>
        <p:nvSpPr>
          <p:cNvPr id="20" name="Shape 15"/>
          <p:cNvSpPr/>
          <p:nvPr/>
        </p:nvSpPr>
        <p:spPr>
          <a:xfrm>
            <a:off x="9029471" y="2148840"/>
            <a:ext cx="2659304" cy="2788920"/>
          </a:xfrm>
          <a:prstGeom prst="roundRect">
            <a:avLst>
              <a:gd name="adj" fmla="val 309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1" name="Shape 16"/>
          <p:cNvSpPr/>
          <p:nvPr/>
        </p:nvSpPr>
        <p:spPr>
          <a:xfrm>
            <a:off x="9267215" y="2368296"/>
            <a:ext cx="566928" cy="566928"/>
          </a:xfrm>
          <a:prstGeom prst="roundRect">
            <a:avLst>
              <a:gd name="adj" fmla="val 19355"/>
            </a:avLst>
          </a:prstGeom>
          <a:solidFill>
            <a:srgbClr val="E11D48"/>
          </a:solidFill>
          <a:ln/>
        </p:spPr>
      </p:sp>
      <p:pic>
        <p:nvPicPr>
          <p:cNvPr id="22" name="Image 3" descr="icons/layers.png">    </p:cNvPr>
          <p:cNvPicPr>
            <a:picLocks noChangeAspect="1"/>
          </p:cNvPicPr>
          <p:nvPr/>
        </p:nvPicPr>
        <p:blipFill>
          <a:blip r:embed="rId4"/>
          <a:stretch>
            <a:fillRect/>
          </a:stretch>
        </p:blipFill>
        <p:spPr>
          <a:xfrm>
            <a:off x="9404375" y="2505456"/>
            <a:ext cx="292608" cy="292608"/>
          </a:xfrm>
          <a:prstGeom prst="rect">
            <a:avLst/>
          </a:prstGeom>
        </p:spPr>
      </p:pic>
      <p:sp>
        <p:nvSpPr>
          <p:cNvPr id="23" name="Text 17"/>
          <p:cNvSpPr/>
          <p:nvPr/>
        </p:nvSpPr>
        <p:spPr>
          <a:xfrm>
            <a:off x="10017023" y="2350008"/>
            <a:ext cx="1470584" cy="603504"/>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Multi-modal</a:t>
            </a:r>
            <a:endParaRPr lang="en-US" sz="1450" dirty="0"/>
          </a:p>
        </p:txBody>
      </p:sp>
      <p:sp>
        <p:nvSpPr>
          <p:cNvPr id="24" name="Text 18"/>
          <p:cNvSpPr/>
          <p:nvPr/>
        </p:nvSpPr>
        <p:spPr>
          <a:xfrm>
            <a:off x="9285503" y="3044952"/>
            <a:ext cx="2202104" cy="1746504"/>
          </a:xfrm>
          <a:prstGeom prst="rect">
            <a:avLst/>
          </a:prstGeom>
          <a:noFill/>
          <a:ln/>
        </p:spPr>
        <p:txBody>
          <a:bodyPr wrap="square" lIns="0" tIns="0" rIns="0" bIns="0" rtlCol="0" anchor="t"/>
          <a:lstStyle/>
          <a:p>
            <a:pPr marL="152400" indent="-152400">
              <a:spcAft>
                <a:spcPts val="500"/>
              </a:spcAft>
              <a:buSzPct val="100000"/>
              <a:buChar char="•"/>
            </a:pPr>
            <a:r>
              <a:rPr lang="en-US" sz="1250" dirty="0">
                <a:solidFill>
                  <a:srgbClr val="5B6577"/>
                </a:solidFill>
                <a:latin typeface="Calibri" pitchFamily="34" charset="0"/>
                <a:ea typeface="Calibri" pitchFamily="34" charset="-122"/>
                <a:cs typeface="Calibri" pitchFamily="34" charset="-120"/>
              </a:rPr>
              <a:t>Text, voice (speech-to-text + TTS), file upload, AND a camera 'see-it-shop-it' vision agent.</a:t>
            </a:r>
            <a:endParaRPr lang="en-US" sz="1250" dirty="0"/>
          </a:p>
        </p:txBody>
      </p:sp>
      <p:sp>
        <p:nvSpPr>
          <p:cNvPr id="25" name="Shape 19"/>
          <p:cNvSpPr/>
          <p:nvPr/>
        </p:nvSpPr>
        <p:spPr>
          <a:xfrm>
            <a:off x="502920" y="5212080"/>
            <a:ext cx="11185855" cy="868680"/>
          </a:xfrm>
          <a:prstGeom prst="roundRect">
            <a:avLst>
              <a:gd name="adj" fmla="val 9474"/>
            </a:avLst>
          </a:prstGeom>
          <a:solidFill>
            <a:srgbClr val="F5F6FB"/>
          </a:solidFill>
          <a:ln w="12700">
            <a:solidFill>
              <a:srgbClr val="E6E8F0"/>
            </a:solidFill>
            <a:prstDash val="solid"/>
          </a:ln>
        </p:spPr>
      </p:sp>
      <p:pic>
        <p:nvPicPr>
          <p:cNvPr id="26" name="Image 4" descr="icons/db.png">    </p:cNvPr>
          <p:cNvPicPr>
            <a:picLocks noChangeAspect="1"/>
          </p:cNvPicPr>
          <p:nvPr/>
        </p:nvPicPr>
        <p:blipFill>
          <a:blip r:embed="rId5"/>
          <a:stretch>
            <a:fillRect/>
          </a:stretch>
        </p:blipFill>
        <p:spPr>
          <a:xfrm>
            <a:off x="777240" y="5440680"/>
            <a:ext cx="384048" cy="384048"/>
          </a:xfrm>
          <a:prstGeom prst="rect">
            <a:avLst/>
          </a:prstGeom>
        </p:spPr>
      </p:pic>
      <p:sp>
        <p:nvSpPr>
          <p:cNvPr id="27" name="Text 20"/>
          <p:cNvSpPr/>
          <p:nvPr/>
        </p:nvSpPr>
        <p:spPr>
          <a:xfrm>
            <a:off x="1371600" y="5212080"/>
            <a:ext cx="10088575" cy="86868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Backend tools on a mock retail DB:  </a:t>
            </a:r>
            <a:pPr indent="0" marL="0">
              <a:buNone/>
            </a:pPr>
            <a:r>
              <a:rPr lang="en-US" sz="1250" dirty="0">
                <a:solidFill>
                  <a:srgbClr val="5B6577"/>
                </a:solidFill>
                <a:latin typeface="Calibri" pitchFamily="34" charset="0"/>
                <a:ea typeface="Calibri" pitchFamily="34" charset="-122"/>
                <a:cs typeface="Calibri" pitchFamily="34" charset="-120"/>
              </a:rPr>
              <a:t>search_inventory · check_stock · get_product_details · get_order_status · place_order · place_bulk_order · run_fulfillment</a:t>
            </a:r>
            <a:endParaRPr lang="en-US" sz="1250" dirty="0"/>
          </a:p>
        </p:txBody>
      </p:sp>
      <p:sp>
        <p:nvSpPr>
          <p:cNvPr id="28" name="Text 2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9" name="Text 2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3</a:t>
            </a:r>
            <a:endParaRPr lang="en-US" sz="9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TECHNICAL DEEP-DIVE · ARCHITECTURE</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How it works — a real multi-agent system on Google Cloud</a:t>
            </a:r>
            <a:endParaRPr lang="en-US" sz="2800" dirty="0"/>
          </a:p>
        </p:txBody>
      </p:sp>
      <p:sp>
        <p:nvSpPr>
          <p:cNvPr id="4" name="Shape 2"/>
          <p:cNvSpPr/>
          <p:nvPr/>
        </p:nvSpPr>
        <p:spPr>
          <a:xfrm>
            <a:off x="502920" y="1600200"/>
            <a:ext cx="324612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49224" y="1828800"/>
            <a:ext cx="457200" cy="457200"/>
          </a:xfrm>
          <a:prstGeom prst="roundRect">
            <a:avLst>
              <a:gd name="adj" fmla="val 20000"/>
            </a:avLst>
          </a:prstGeom>
          <a:solidFill>
            <a:srgbClr val="7C3AED"/>
          </a:solidFill>
          <a:ln/>
        </p:spPr>
      </p:sp>
      <p:pic>
        <p:nvPicPr>
          <p:cNvPr id="6" name="Image 0" descr="icons/comments.png">    </p:cNvPr>
          <p:cNvPicPr>
            <a:picLocks noChangeAspect="1"/>
          </p:cNvPicPr>
          <p:nvPr/>
        </p:nvPicPr>
        <p:blipFill>
          <a:blip r:embed="rId1"/>
          <a:stretch>
            <a:fillRect/>
          </a:stretch>
        </p:blipFill>
        <p:spPr>
          <a:xfrm>
            <a:off x="758952" y="1938528"/>
            <a:ext cx="237744" cy="237744"/>
          </a:xfrm>
          <a:prstGeom prst="rect">
            <a:avLst/>
          </a:prstGeom>
        </p:spPr>
      </p:pic>
      <p:sp>
        <p:nvSpPr>
          <p:cNvPr id="7" name="Text 4"/>
          <p:cNvSpPr/>
          <p:nvPr/>
        </p:nvSpPr>
        <p:spPr>
          <a:xfrm>
            <a:off x="1216152" y="1709928"/>
            <a:ext cx="240487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GOOPHER extension (MV3)</a:t>
            </a:r>
            <a:endParaRPr lang="en-US" sz="1300" dirty="0"/>
          </a:p>
        </p:txBody>
      </p:sp>
      <p:sp>
        <p:nvSpPr>
          <p:cNvPr id="8" name="Text 5"/>
          <p:cNvSpPr/>
          <p:nvPr/>
        </p:nvSpPr>
        <p:spPr>
          <a:xfrm>
            <a:off x="1216152" y="2002536"/>
            <a:ext cx="240487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Chrome side panel · web + phone · voice/camera popups</a:t>
            </a:r>
            <a:endParaRPr lang="en-US" sz="1050" dirty="0"/>
          </a:p>
        </p:txBody>
      </p:sp>
      <p:pic>
        <p:nvPicPr>
          <p:cNvPr id="9" name="Image 1" descr="icons/arrow.png">    </p:cNvPr>
          <p:cNvPicPr>
            <a:picLocks noChangeAspect="1"/>
          </p:cNvPicPr>
          <p:nvPr/>
        </p:nvPicPr>
        <p:blipFill>
          <a:blip r:embed="rId2"/>
          <a:stretch>
            <a:fillRect/>
          </a:stretch>
        </p:blipFill>
        <p:spPr>
          <a:xfrm>
            <a:off x="3813048" y="1920240"/>
            <a:ext cx="274320" cy="274320"/>
          </a:xfrm>
          <a:prstGeom prst="rect">
            <a:avLst/>
          </a:prstGeom>
        </p:spPr>
      </p:pic>
      <p:sp>
        <p:nvSpPr>
          <p:cNvPr id="10" name="Shape 6"/>
          <p:cNvSpPr/>
          <p:nvPr/>
        </p:nvSpPr>
        <p:spPr>
          <a:xfrm>
            <a:off x="4160520" y="1600200"/>
            <a:ext cx="3108960" cy="914400"/>
          </a:xfrm>
          <a:prstGeom prst="roundRect">
            <a:avLst>
              <a:gd name="adj" fmla="val 8000"/>
            </a:avLst>
          </a:prstGeom>
          <a:solidFill>
            <a:srgbClr val="FFFFFF"/>
          </a:solidFill>
          <a:ln w="19050">
            <a:solidFill>
              <a:srgbClr val="5B6577"/>
            </a:solidFill>
            <a:prstDash val="solid"/>
          </a:ln>
          <a:effectLst>
            <a:outerShdw sx="100000" sy="100000" kx="0" ky="0" algn="bl" rotWithShape="0" blurRad="114300" dist="38100" dir="8100000">
              <a:srgbClr val="0F172A">
                <a:alpha val="16000"/>
              </a:srgbClr>
            </a:outerShdw>
          </a:effectLst>
        </p:spPr>
      </p:sp>
      <p:sp>
        <p:nvSpPr>
          <p:cNvPr id="11" name="Shape 7"/>
          <p:cNvSpPr/>
          <p:nvPr/>
        </p:nvSpPr>
        <p:spPr>
          <a:xfrm>
            <a:off x="4306824" y="1828800"/>
            <a:ext cx="457200" cy="457200"/>
          </a:xfrm>
          <a:prstGeom prst="roundRect">
            <a:avLst>
              <a:gd name="adj" fmla="val 20000"/>
            </a:avLst>
          </a:prstGeom>
          <a:solidFill>
            <a:srgbClr val="5B6577"/>
          </a:solidFill>
          <a:ln/>
        </p:spPr>
      </p:sp>
      <p:pic>
        <p:nvPicPr>
          <p:cNvPr id="12" name="Image 2" descr="icons/cloud.png">    </p:cNvPr>
          <p:cNvPicPr>
            <a:picLocks noChangeAspect="1"/>
          </p:cNvPicPr>
          <p:nvPr/>
        </p:nvPicPr>
        <p:blipFill>
          <a:blip r:embed="rId3"/>
          <a:stretch>
            <a:fillRect/>
          </a:stretch>
        </p:blipFill>
        <p:spPr>
          <a:xfrm>
            <a:off x="4416552" y="1938528"/>
            <a:ext cx="237744" cy="237744"/>
          </a:xfrm>
          <a:prstGeom prst="rect">
            <a:avLst/>
          </a:prstGeom>
        </p:spPr>
      </p:pic>
      <p:sp>
        <p:nvSpPr>
          <p:cNvPr id="13" name="Text 8"/>
          <p:cNvSpPr/>
          <p:nvPr/>
        </p:nvSpPr>
        <p:spPr>
          <a:xfrm>
            <a:off x="4873752" y="1709928"/>
            <a:ext cx="226771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Cloud Run · FastAPI</a:t>
            </a:r>
            <a:endParaRPr lang="en-US" sz="1300" dirty="0"/>
          </a:p>
        </p:txBody>
      </p:sp>
      <p:sp>
        <p:nvSpPr>
          <p:cNvPr id="14" name="Text 9"/>
          <p:cNvSpPr/>
          <p:nvPr/>
        </p:nvSpPr>
        <p:spPr>
          <a:xfrm>
            <a:off x="4873752" y="2002536"/>
            <a:ext cx="226771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Auth (JWT) · rate-limit · CORS · /version</a:t>
            </a:r>
            <a:endParaRPr lang="en-US" sz="1050" dirty="0"/>
          </a:p>
        </p:txBody>
      </p:sp>
      <p:pic>
        <p:nvPicPr>
          <p:cNvPr id="15" name="Image 3" descr="icons/arrow.png">    </p:cNvPr>
          <p:cNvPicPr>
            <a:picLocks noChangeAspect="1"/>
          </p:cNvPicPr>
          <p:nvPr/>
        </p:nvPicPr>
        <p:blipFill>
          <a:blip r:embed="rId4"/>
          <a:stretch>
            <a:fillRect/>
          </a:stretch>
        </p:blipFill>
        <p:spPr>
          <a:xfrm>
            <a:off x="7333488" y="1920240"/>
            <a:ext cx="274320" cy="274320"/>
          </a:xfrm>
          <a:prstGeom prst="rect">
            <a:avLst/>
          </a:prstGeom>
        </p:spPr>
      </p:pic>
      <p:sp>
        <p:nvSpPr>
          <p:cNvPr id="16" name="Shape 10"/>
          <p:cNvSpPr/>
          <p:nvPr/>
        </p:nvSpPr>
        <p:spPr>
          <a:xfrm>
            <a:off x="7680960" y="1600200"/>
            <a:ext cx="4007815" cy="914400"/>
          </a:xfrm>
          <a:prstGeom prst="roundRect">
            <a:avLst>
              <a:gd name="adj" fmla="val 8000"/>
            </a:avLst>
          </a:prstGeom>
          <a:solidFill>
            <a:srgbClr val="FFFFFF"/>
          </a:solidFill>
          <a:ln w="19050">
            <a:solidFill>
              <a:srgbClr val="F59E0B"/>
            </a:solidFill>
            <a:prstDash val="solid"/>
          </a:ln>
          <a:effectLst>
            <a:outerShdw sx="100000" sy="100000" kx="0" ky="0" algn="bl" rotWithShape="0" blurRad="114300" dist="38100" dir="8100000">
              <a:srgbClr val="0F172A">
                <a:alpha val="16000"/>
              </a:srgbClr>
            </a:outerShdw>
          </a:effectLst>
        </p:spPr>
      </p:sp>
      <p:sp>
        <p:nvSpPr>
          <p:cNvPr id="17" name="Shape 11"/>
          <p:cNvSpPr/>
          <p:nvPr/>
        </p:nvSpPr>
        <p:spPr>
          <a:xfrm>
            <a:off x="7827264" y="1828800"/>
            <a:ext cx="457200" cy="457200"/>
          </a:xfrm>
          <a:prstGeom prst="roundRect">
            <a:avLst>
              <a:gd name="adj" fmla="val 20000"/>
            </a:avLst>
          </a:prstGeom>
          <a:solidFill>
            <a:srgbClr val="F59E0B"/>
          </a:solidFill>
          <a:ln/>
        </p:spPr>
      </p:sp>
      <p:pic>
        <p:nvPicPr>
          <p:cNvPr id="18" name="Image 4" descr="icons/robot.png">    </p:cNvPr>
          <p:cNvPicPr>
            <a:picLocks noChangeAspect="1"/>
          </p:cNvPicPr>
          <p:nvPr/>
        </p:nvPicPr>
        <p:blipFill>
          <a:blip r:embed="rId5"/>
          <a:stretch>
            <a:fillRect/>
          </a:stretch>
        </p:blipFill>
        <p:spPr>
          <a:xfrm>
            <a:off x="7936992" y="1938528"/>
            <a:ext cx="237744" cy="237744"/>
          </a:xfrm>
          <a:prstGeom prst="rect">
            <a:avLst/>
          </a:prstGeom>
        </p:spPr>
      </p:pic>
      <p:sp>
        <p:nvSpPr>
          <p:cNvPr id="19" name="Text 12"/>
          <p:cNvSpPr/>
          <p:nvPr/>
        </p:nvSpPr>
        <p:spPr>
          <a:xfrm>
            <a:off x="8394192" y="1709928"/>
            <a:ext cx="316656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ROOT orchestrator (ADK)</a:t>
            </a:r>
            <a:endParaRPr lang="en-US" sz="1300" dirty="0"/>
          </a:p>
        </p:txBody>
      </p:sp>
      <p:sp>
        <p:nvSpPr>
          <p:cNvPr id="20" name="Text 13"/>
          <p:cNvSpPr/>
          <p:nvPr/>
        </p:nvSpPr>
        <p:spPr>
          <a:xfrm>
            <a:off x="8394192" y="2002536"/>
            <a:ext cx="316656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Gemini 2.5 Flash on Vertex AI — decides &amp; delegates</a:t>
            </a:r>
            <a:endParaRPr lang="en-US" sz="1050" dirty="0"/>
          </a:p>
        </p:txBody>
      </p:sp>
      <p:sp>
        <p:nvSpPr>
          <p:cNvPr id="21" name="Shape 14"/>
          <p:cNvSpPr/>
          <p:nvPr/>
        </p:nvSpPr>
        <p:spPr>
          <a:xfrm>
            <a:off x="502920" y="2697480"/>
            <a:ext cx="11185855" cy="566928"/>
          </a:xfrm>
          <a:prstGeom prst="roundRect">
            <a:avLst>
              <a:gd name="adj" fmla="val 11290"/>
            </a:avLst>
          </a:prstGeom>
          <a:solidFill>
            <a:srgbClr val="F5F6FB"/>
          </a:solidFill>
          <a:ln w="12700">
            <a:solidFill>
              <a:srgbClr val="E6E8F0"/>
            </a:solidFill>
            <a:prstDash val="solid"/>
          </a:ln>
        </p:spPr>
      </p:sp>
      <p:sp>
        <p:nvSpPr>
          <p:cNvPr id="22" name="Text 15"/>
          <p:cNvSpPr/>
          <p:nvPr/>
        </p:nvSpPr>
        <p:spPr>
          <a:xfrm>
            <a:off x="731520" y="2697480"/>
            <a:ext cx="10728655" cy="566928"/>
          </a:xfrm>
          <a:prstGeom prst="rect">
            <a:avLst/>
          </a:prstGeom>
          <a:noFill/>
          <a:ln/>
        </p:spPr>
        <p:txBody>
          <a:bodyPr wrap="square" lIns="0" tIns="0" rIns="0" bIns="0" rtlCol="0" anchor="ctr"/>
          <a:lstStyle/>
          <a:p>
            <a:pPr indent="0" marL="0">
              <a:buNone/>
            </a:pPr>
            <a:r>
              <a:rPr lang="en-US" sz="1200" b="1" dirty="0">
                <a:solidFill>
                  <a:srgbClr val="0F172A"/>
                </a:solidFill>
                <a:latin typeface="Calibri" pitchFamily="34" charset="0"/>
                <a:ea typeface="Calibri" pitchFamily="34" charset="-122"/>
                <a:cs typeface="Calibri" pitchFamily="34" charset="-120"/>
              </a:rPr>
              <a:t>Deterministic pre-processing (no LLM):  </a:t>
            </a:r>
            <a:pPr indent="0" marL="0">
              <a:buNone/>
            </a:pPr>
            <a:r>
              <a:rPr lang="en-US" sz="1200" dirty="0">
                <a:solidFill>
                  <a:srgbClr val="5B6577"/>
                </a:solidFill>
                <a:latin typeface="Calibri" pitchFamily="34" charset="0"/>
                <a:ea typeface="Calibri" pitchFamily="34" charset="-122"/>
                <a:cs typeface="Calibri" pitchFamily="34" charset="-120"/>
              </a:rPr>
              <a:t>modality · language · channel · memory  →  then the agent runs through the common Agent Harness</a:t>
            </a:r>
            <a:endParaRPr lang="en-US" sz="1200" dirty="0"/>
          </a:p>
        </p:txBody>
      </p:sp>
      <p:sp>
        <p:nvSpPr>
          <p:cNvPr id="23" name="Text 16"/>
          <p:cNvSpPr/>
          <p:nvPr/>
        </p:nvSpPr>
        <p:spPr>
          <a:xfrm>
            <a:off x="502920" y="3419856"/>
            <a:ext cx="11185855" cy="274320"/>
          </a:xfrm>
          <a:prstGeom prst="rect">
            <a:avLst/>
          </a:prstGeom>
          <a:noFill/>
          <a:ln/>
        </p:spPr>
        <p:txBody>
          <a:bodyPr wrap="square" lIns="0" tIns="0" rIns="0" bIns="0" rtlCol="0" anchor="ctr"/>
          <a:lstStyle/>
          <a:p>
            <a:pPr indent="0" marL="0">
              <a:buNone/>
            </a:pPr>
            <a:r>
              <a:rPr lang="en-US" sz="1150" b="1" dirty="0">
                <a:solidFill>
                  <a:srgbClr val="2563EB"/>
                </a:solidFill>
                <a:latin typeface="Calibri" pitchFamily="34" charset="0"/>
                <a:ea typeface="Calibri" pitchFamily="34" charset="-122"/>
                <a:cs typeface="Calibri" pitchFamily="34" charset="-120"/>
              </a:rPr>
              <a:t>Worker sub-agents (agent-as-tool) — each picks a registry skill, calls its tools</a:t>
            </a:r>
            <a:endParaRPr lang="en-US" sz="1150" dirty="0"/>
          </a:p>
        </p:txBody>
      </p:sp>
      <p:sp>
        <p:nvSpPr>
          <p:cNvPr id="24" name="Shape 17"/>
          <p:cNvSpPr/>
          <p:nvPr/>
        </p:nvSpPr>
        <p:spPr>
          <a:xfrm>
            <a:off x="502920"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25" name="Shape 18"/>
          <p:cNvSpPr/>
          <p:nvPr/>
        </p:nvSpPr>
        <p:spPr>
          <a:xfrm>
            <a:off x="649224" y="3936492"/>
            <a:ext cx="457200" cy="457200"/>
          </a:xfrm>
          <a:prstGeom prst="roundRect">
            <a:avLst>
              <a:gd name="adj" fmla="val 20000"/>
            </a:avLst>
          </a:prstGeom>
          <a:solidFill>
            <a:srgbClr val="2563EB"/>
          </a:solidFill>
          <a:ln/>
        </p:spPr>
      </p:sp>
      <p:pic>
        <p:nvPicPr>
          <p:cNvPr id="26" name="Image 5" descr="icons/sitemap.png">    </p:cNvPr>
          <p:cNvPicPr>
            <a:picLocks noChangeAspect="1"/>
          </p:cNvPicPr>
          <p:nvPr/>
        </p:nvPicPr>
        <p:blipFill>
          <a:blip r:embed="rId6"/>
          <a:stretch>
            <a:fillRect/>
          </a:stretch>
        </p:blipFill>
        <p:spPr>
          <a:xfrm>
            <a:off x="758952" y="4046220"/>
            <a:ext cx="237744" cy="237744"/>
          </a:xfrm>
          <a:prstGeom prst="rect">
            <a:avLst/>
          </a:prstGeom>
        </p:spPr>
      </p:pic>
      <p:sp>
        <p:nvSpPr>
          <p:cNvPr id="27" name="Text 19"/>
          <p:cNvSpPr/>
          <p:nvPr/>
        </p:nvSpPr>
        <p:spPr>
          <a:xfrm>
            <a:off x="1216152"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inventory_agent</a:t>
            </a:r>
            <a:endParaRPr lang="en-US" sz="1300" dirty="0"/>
          </a:p>
        </p:txBody>
      </p:sp>
      <p:sp>
        <p:nvSpPr>
          <p:cNvPr id="28" name="Text 20"/>
          <p:cNvSpPr/>
          <p:nvPr/>
        </p:nvSpPr>
        <p:spPr>
          <a:xfrm>
            <a:off x="1216152"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search · stock · details</a:t>
            </a:r>
            <a:endParaRPr lang="en-US" sz="1050" dirty="0"/>
          </a:p>
        </p:txBody>
      </p:sp>
      <p:sp>
        <p:nvSpPr>
          <p:cNvPr id="29" name="Shape 21"/>
          <p:cNvSpPr/>
          <p:nvPr/>
        </p:nvSpPr>
        <p:spPr>
          <a:xfrm>
            <a:off x="3345104" y="3730752"/>
            <a:ext cx="2659304" cy="868680"/>
          </a:xfrm>
          <a:prstGeom prst="roundRect">
            <a:avLst>
              <a:gd name="adj" fmla="val 8421"/>
            </a:avLst>
          </a:prstGeom>
          <a:solidFill>
            <a:srgbClr val="FFFFFF"/>
          </a:solidFill>
          <a:ln w="19050">
            <a:solidFill>
              <a:srgbClr val="2563EB"/>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3491408" y="3936492"/>
            <a:ext cx="457200" cy="457200"/>
          </a:xfrm>
          <a:prstGeom prst="roundRect">
            <a:avLst>
              <a:gd name="adj" fmla="val 20000"/>
            </a:avLst>
          </a:prstGeom>
          <a:solidFill>
            <a:srgbClr val="2563EB"/>
          </a:solidFill>
          <a:ln/>
        </p:spPr>
      </p:sp>
      <p:pic>
        <p:nvPicPr>
          <p:cNvPr id="31" name="Image 6" descr="icons/route.png">    </p:cNvPr>
          <p:cNvPicPr>
            <a:picLocks noChangeAspect="1"/>
          </p:cNvPicPr>
          <p:nvPr/>
        </p:nvPicPr>
        <p:blipFill>
          <a:blip r:embed="rId7"/>
          <a:stretch>
            <a:fillRect/>
          </a:stretch>
        </p:blipFill>
        <p:spPr>
          <a:xfrm>
            <a:off x="3601136" y="4046220"/>
            <a:ext cx="237744" cy="237744"/>
          </a:xfrm>
          <a:prstGeom prst="rect">
            <a:avLst/>
          </a:prstGeom>
        </p:spPr>
      </p:pic>
      <p:sp>
        <p:nvSpPr>
          <p:cNvPr id="32" name="Text 23"/>
          <p:cNvSpPr/>
          <p:nvPr/>
        </p:nvSpPr>
        <p:spPr>
          <a:xfrm>
            <a:off x="4058336"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order_agent</a:t>
            </a:r>
            <a:endParaRPr lang="en-US" sz="1300" dirty="0"/>
          </a:p>
        </p:txBody>
      </p:sp>
      <p:sp>
        <p:nvSpPr>
          <p:cNvPr id="33" name="Text 24"/>
          <p:cNvSpPr/>
          <p:nvPr/>
        </p:nvSpPr>
        <p:spPr>
          <a:xfrm>
            <a:off x="4058336"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status · history · bulk</a:t>
            </a:r>
            <a:endParaRPr lang="en-US" sz="1050" dirty="0"/>
          </a:p>
        </p:txBody>
      </p:sp>
      <p:sp>
        <p:nvSpPr>
          <p:cNvPr id="34" name="Shape 25"/>
          <p:cNvSpPr/>
          <p:nvPr/>
        </p:nvSpPr>
        <p:spPr>
          <a:xfrm>
            <a:off x="6187288"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35" name="Shape 26"/>
          <p:cNvSpPr/>
          <p:nvPr/>
        </p:nvSpPr>
        <p:spPr>
          <a:xfrm>
            <a:off x="6333592" y="3936492"/>
            <a:ext cx="457200" cy="457200"/>
          </a:xfrm>
          <a:prstGeom prst="roundRect">
            <a:avLst>
              <a:gd name="adj" fmla="val 20000"/>
            </a:avLst>
          </a:prstGeom>
          <a:solidFill>
            <a:srgbClr val="0D9488"/>
          </a:solidFill>
          <a:ln/>
        </p:spPr>
      </p:sp>
      <p:pic>
        <p:nvPicPr>
          <p:cNvPr id="36" name="Image 7" descr="icons/lock.png">    </p:cNvPr>
          <p:cNvPicPr>
            <a:picLocks noChangeAspect="1"/>
          </p:cNvPicPr>
          <p:nvPr/>
        </p:nvPicPr>
        <p:blipFill>
          <a:blip r:embed="rId8"/>
          <a:stretch>
            <a:fillRect/>
          </a:stretch>
        </p:blipFill>
        <p:spPr>
          <a:xfrm>
            <a:off x="6443320" y="4046220"/>
            <a:ext cx="237744" cy="237744"/>
          </a:xfrm>
          <a:prstGeom prst="rect">
            <a:avLst/>
          </a:prstGeom>
        </p:spPr>
      </p:pic>
      <p:sp>
        <p:nvSpPr>
          <p:cNvPr id="37" name="Text 27"/>
          <p:cNvSpPr/>
          <p:nvPr/>
        </p:nvSpPr>
        <p:spPr>
          <a:xfrm>
            <a:off x="6900520"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checkout_agent</a:t>
            </a:r>
            <a:endParaRPr lang="en-US" sz="1300" dirty="0"/>
          </a:p>
        </p:txBody>
      </p:sp>
      <p:sp>
        <p:nvSpPr>
          <p:cNvPr id="38" name="Text 28"/>
          <p:cNvSpPr/>
          <p:nvPr/>
        </p:nvSpPr>
        <p:spPr>
          <a:xfrm>
            <a:off x="6900520"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place</a:t>
            </a:r>
            <a:endParaRPr lang="en-US" sz="1050" dirty="0"/>
          </a:p>
        </p:txBody>
      </p:sp>
      <p:sp>
        <p:nvSpPr>
          <p:cNvPr id="39" name="Shape 29"/>
          <p:cNvSpPr/>
          <p:nvPr/>
        </p:nvSpPr>
        <p:spPr>
          <a:xfrm>
            <a:off x="9029471" y="3730752"/>
            <a:ext cx="2659304" cy="868680"/>
          </a:xfrm>
          <a:prstGeom prst="roundRect">
            <a:avLst>
              <a:gd name="adj" fmla="val 8421"/>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0" name="Shape 30"/>
          <p:cNvSpPr/>
          <p:nvPr/>
        </p:nvSpPr>
        <p:spPr>
          <a:xfrm>
            <a:off x="9175775" y="3936492"/>
            <a:ext cx="457200" cy="457200"/>
          </a:xfrm>
          <a:prstGeom prst="roundRect">
            <a:avLst>
              <a:gd name="adj" fmla="val 20000"/>
            </a:avLst>
          </a:prstGeom>
          <a:solidFill>
            <a:srgbClr val="0D9488"/>
          </a:solidFill>
          <a:ln/>
        </p:spPr>
      </p:sp>
      <p:pic>
        <p:nvPicPr>
          <p:cNvPr id="41" name="Image 8" descr="icons/cog.png">    </p:cNvPr>
          <p:cNvPicPr>
            <a:picLocks noChangeAspect="1"/>
          </p:cNvPicPr>
          <p:nvPr/>
        </p:nvPicPr>
        <p:blipFill>
          <a:blip r:embed="rId9"/>
          <a:stretch>
            <a:fillRect/>
          </a:stretch>
        </p:blipFill>
        <p:spPr>
          <a:xfrm>
            <a:off x="9285503" y="4046220"/>
            <a:ext cx="237744" cy="237744"/>
          </a:xfrm>
          <a:prstGeom prst="rect">
            <a:avLst/>
          </a:prstGeom>
        </p:spPr>
      </p:pic>
      <p:sp>
        <p:nvSpPr>
          <p:cNvPr id="42" name="Text 31"/>
          <p:cNvSpPr/>
          <p:nvPr/>
        </p:nvSpPr>
        <p:spPr>
          <a:xfrm>
            <a:off x="9742703" y="3840480"/>
            <a:ext cx="1818056"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order_mgmt_agent</a:t>
            </a:r>
            <a:endParaRPr lang="en-US" sz="1300" dirty="0"/>
          </a:p>
        </p:txBody>
      </p:sp>
      <p:sp>
        <p:nvSpPr>
          <p:cNvPr id="43" name="Text 32"/>
          <p:cNvSpPr/>
          <p:nvPr/>
        </p:nvSpPr>
        <p:spPr>
          <a:xfrm>
            <a:off x="9742703" y="4133088"/>
            <a:ext cx="1818056" cy="41148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9-stage fulfillment</a:t>
            </a:r>
            <a:endParaRPr lang="en-US" sz="1050" dirty="0"/>
          </a:p>
        </p:txBody>
      </p:sp>
      <p:sp>
        <p:nvSpPr>
          <p:cNvPr id="44" name="Shape 33"/>
          <p:cNvSpPr/>
          <p:nvPr/>
        </p:nvSpPr>
        <p:spPr>
          <a:xfrm>
            <a:off x="502920" y="4800600"/>
            <a:ext cx="3657600" cy="914400"/>
          </a:xfrm>
          <a:prstGeom prst="roundRect">
            <a:avLst>
              <a:gd name="adj" fmla="val 8000"/>
            </a:avLst>
          </a:prstGeom>
          <a:solidFill>
            <a:srgbClr val="FFFFFF"/>
          </a:solidFill>
          <a:ln w="19050">
            <a:solidFill>
              <a:srgbClr val="0D9488"/>
            </a:solidFill>
            <a:prstDash val="solid"/>
          </a:ln>
          <a:effectLst>
            <a:outerShdw sx="100000" sy="100000" kx="0" ky="0" algn="bl" rotWithShape="0" blurRad="114300" dist="38100" dir="8100000">
              <a:srgbClr val="0F172A">
                <a:alpha val="16000"/>
              </a:srgbClr>
            </a:outerShdw>
          </a:effectLst>
        </p:spPr>
      </p:sp>
      <p:sp>
        <p:nvSpPr>
          <p:cNvPr id="45" name="Shape 34"/>
          <p:cNvSpPr/>
          <p:nvPr/>
        </p:nvSpPr>
        <p:spPr>
          <a:xfrm>
            <a:off x="649224" y="5029200"/>
            <a:ext cx="457200" cy="457200"/>
          </a:xfrm>
          <a:prstGeom prst="roundRect">
            <a:avLst>
              <a:gd name="adj" fmla="val 20000"/>
            </a:avLst>
          </a:prstGeom>
          <a:solidFill>
            <a:srgbClr val="0D9488"/>
          </a:solidFill>
          <a:ln/>
        </p:spPr>
      </p:sp>
      <p:pic>
        <p:nvPicPr>
          <p:cNvPr id="46" name="Image 9" descr="icons/db.png">    </p:cNvPr>
          <p:cNvPicPr>
            <a:picLocks noChangeAspect="1"/>
          </p:cNvPicPr>
          <p:nvPr/>
        </p:nvPicPr>
        <p:blipFill>
          <a:blip r:embed="rId10"/>
          <a:stretch>
            <a:fillRect/>
          </a:stretch>
        </p:blipFill>
        <p:spPr>
          <a:xfrm>
            <a:off x="758952" y="5138928"/>
            <a:ext cx="237744" cy="237744"/>
          </a:xfrm>
          <a:prstGeom prst="rect">
            <a:avLst/>
          </a:prstGeom>
        </p:spPr>
      </p:pic>
      <p:sp>
        <p:nvSpPr>
          <p:cNvPr id="47" name="Text 35"/>
          <p:cNvSpPr/>
          <p:nvPr/>
        </p:nvSpPr>
        <p:spPr>
          <a:xfrm>
            <a:off x="12161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Backend tools + mock retail DB</a:t>
            </a:r>
            <a:endParaRPr lang="en-US" sz="1300" dirty="0"/>
          </a:p>
        </p:txBody>
      </p:sp>
      <p:sp>
        <p:nvSpPr>
          <p:cNvPr id="48" name="Text 36"/>
          <p:cNvSpPr/>
          <p:nvPr/>
        </p:nvSpPr>
        <p:spPr>
          <a:xfrm>
            <a:off x="12161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Firestore (cloud) / SQLite (local) · ORDER_PLACED</a:t>
            </a:r>
            <a:endParaRPr lang="en-US" sz="1050" dirty="0"/>
          </a:p>
        </p:txBody>
      </p:sp>
      <p:sp>
        <p:nvSpPr>
          <p:cNvPr id="49" name="Shape 37"/>
          <p:cNvSpPr/>
          <p:nvPr/>
        </p:nvSpPr>
        <p:spPr>
          <a:xfrm>
            <a:off x="4389120" y="4800600"/>
            <a:ext cx="3657600"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0" name="Shape 38"/>
          <p:cNvSpPr/>
          <p:nvPr/>
        </p:nvSpPr>
        <p:spPr>
          <a:xfrm>
            <a:off x="4535424" y="5029200"/>
            <a:ext cx="457200" cy="457200"/>
          </a:xfrm>
          <a:prstGeom prst="roundRect">
            <a:avLst>
              <a:gd name="adj" fmla="val 20000"/>
            </a:avLst>
          </a:prstGeom>
          <a:solidFill>
            <a:srgbClr val="7C3AED"/>
          </a:solidFill>
          <a:ln/>
        </p:spPr>
      </p:sp>
      <p:pic>
        <p:nvPicPr>
          <p:cNvPr id="51" name="Image 10" descr="icons/lock.png">    </p:cNvPr>
          <p:cNvPicPr>
            <a:picLocks noChangeAspect="1"/>
          </p:cNvPicPr>
          <p:nvPr/>
        </p:nvPicPr>
        <p:blipFill>
          <a:blip r:embed="rId11"/>
          <a:stretch>
            <a:fillRect/>
          </a:stretch>
        </p:blipFill>
        <p:spPr>
          <a:xfrm>
            <a:off x="4645152" y="5138928"/>
            <a:ext cx="237744" cy="237744"/>
          </a:xfrm>
          <a:prstGeom prst="rect">
            <a:avLst/>
          </a:prstGeom>
        </p:spPr>
      </p:pic>
      <p:sp>
        <p:nvSpPr>
          <p:cNvPr id="52" name="Text 39"/>
          <p:cNvSpPr/>
          <p:nvPr/>
        </p:nvSpPr>
        <p:spPr>
          <a:xfrm>
            <a:off x="5102352" y="4910328"/>
            <a:ext cx="2816352"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Transactional gate (deterministic)</a:t>
            </a:r>
            <a:endParaRPr lang="en-US" sz="1300" dirty="0"/>
          </a:p>
        </p:txBody>
      </p:sp>
      <p:sp>
        <p:nvSpPr>
          <p:cNvPr id="53" name="Text 40"/>
          <p:cNvSpPr/>
          <p:nvPr/>
        </p:nvSpPr>
        <p:spPr>
          <a:xfrm>
            <a:off x="5102352" y="5202936"/>
            <a:ext cx="2816352"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p:txBody>
      </p:sp>
      <p:sp>
        <p:nvSpPr>
          <p:cNvPr id="54" name="Shape 41"/>
          <p:cNvSpPr/>
          <p:nvPr/>
        </p:nvSpPr>
        <p:spPr>
          <a:xfrm>
            <a:off x="8275320" y="4800600"/>
            <a:ext cx="3413455" cy="914400"/>
          </a:xfrm>
          <a:prstGeom prst="roundRect">
            <a:avLst>
              <a:gd name="adj" fmla="val 8000"/>
            </a:avLst>
          </a:prstGeom>
          <a:solidFill>
            <a:srgbClr val="FFFFFF"/>
          </a:solidFill>
          <a:ln w="19050">
            <a:solidFill>
              <a:srgbClr val="7C3AED"/>
            </a:solidFill>
            <a:prstDash val="solid"/>
          </a:ln>
          <a:effectLst>
            <a:outerShdw sx="100000" sy="100000" kx="0" ky="0" algn="bl" rotWithShape="0" blurRad="114300" dist="38100" dir="8100000">
              <a:srgbClr val="0F172A">
                <a:alpha val="16000"/>
              </a:srgbClr>
            </a:outerShdw>
          </a:effectLst>
        </p:spPr>
      </p:sp>
      <p:sp>
        <p:nvSpPr>
          <p:cNvPr id="55" name="Shape 42"/>
          <p:cNvSpPr/>
          <p:nvPr/>
        </p:nvSpPr>
        <p:spPr>
          <a:xfrm>
            <a:off x="8421624" y="5029200"/>
            <a:ext cx="457200" cy="457200"/>
          </a:xfrm>
          <a:prstGeom prst="roundRect">
            <a:avLst>
              <a:gd name="adj" fmla="val 20000"/>
            </a:avLst>
          </a:prstGeom>
          <a:solidFill>
            <a:srgbClr val="7C3AED"/>
          </a:solidFill>
          <a:ln/>
        </p:spPr>
      </p:sp>
      <p:pic>
        <p:nvPicPr>
          <p:cNvPr id="56" name="Image 11" descr="icons/shield.png">    </p:cNvPr>
          <p:cNvPicPr>
            <a:picLocks noChangeAspect="1"/>
          </p:cNvPicPr>
          <p:nvPr/>
        </p:nvPicPr>
        <p:blipFill>
          <a:blip r:embed="rId12"/>
          <a:stretch>
            <a:fillRect/>
          </a:stretch>
        </p:blipFill>
        <p:spPr>
          <a:xfrm>
            <a:off x="8531352" y="5138928"/>
            <a:ext cx="237744" cy="237744"/>
          </a:xfrm>
          <a:prstGeom prst="rect">
            <a:avLst/>
          </a:prstGeom>
        </p:spPr>
      </p:pic>
      <p:sp>
        <p:nvSpPr>
          <p:cNvPr id="57" name="Text 43"/>
          <p:cNvSpPr/>
          <p:nvPr/>
        </p:nvSpPr>
        <p:spPr>
          <a:xfrm>
            <a:off x="8988552" y="4910328"/>
            <a:ext cx="2572207" cy="310896"/>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Guardian + Observability</a:t>
            </a:r>
            <a:endParaRPr lang="en-US" sz="1300" dirty="0"/>
          </a:p>
        </p:txBody>
      </p:sp>
      <p:sp>
        <p:nvSpPr>
          <p:cNvPr id="58" name="Text 44"/>
          <p:cNvSpPr/>
          <p:nvPr/>
        </p:nvSpPr>
        <p:spPr>
          <a:xfrm>
            <a:off x="8988552" y="5202936"/>
            <a:ext cx="2572207" cy="457200"/>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self-heal · Cloud Trace · /dev portal</a:t>
            </a:r>
            <a:endParaRPr lang="en-US" sz="1050" dirty="0"/>
          </a:p>
        </p:txBody>
      </p:sp>
      <p:sp>
        <p:nvSpPr>
          <p:cNvPr id="59" name="Text 45"/>
          <p:cNvSpPr/>
          <p:nvPr/>
        </p:nvSpPr>
        <p:spPr>
          <a:xfrm>
            <a:off x="502920" y="5897880"/>
            <a:ext cx="11185855" cy="365760"/>
          </a:xfrm>
          <a:prstGeom prst="rect">
            <a:avLst/>
          </a:prstGeom>
          <a:noFill/>
          <a:ln/>
        </p:spPr>
        <p:txBody>
          <a:bodyPr wrap="square" lIns="0" tIns="0" rIns="0" bIns="0" rtlCol="0" anchor="ctr"/>
          <a:lstStyle/>
          <a:p>
            <a:pPr algn="ctr" indent="0" marL="0">
              <a:buNone/>
            </a:pPr>
            <a:r>
              <a:rPr lang="en-US" sz="1300" b="1" i="1" dirty="0">
                <a:solidFill>
                  <a:srgbClr val="0F172A"/>
                </a:solidFill>
                <a:latin typeface="Calibri" pitchFamily="34" charset="0"/>
                <a:ea typeface="Calibri" pitchFamily="34" charset="-122"/>
                <a:cs typeface="Calibri" pitchFamily="34" charset="-120"/>
              </a:rPr>
              <a:t>LLM orchestrates &amp; converses;  deterministic code transacts.</a:t>
            </a:r>
            <a:endParaRPr lang="en-US" sz="1300" dirty="0"/>
          </a:p>
        </p:txBody>
      </p:sp>
      <p:sp>
        <p:nvSpPr>
          <p:cNvPr id="60" name="Text 4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1" name="Text 4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4</a:t>
            </a:r>
            <a:endParaRPr lang="en-US" sz="900" dirty="0"/>
          </a:p>
        </p:txBody>
      </p:sp>
    </p:spTree>
  </p:cSld>
  <p:clrMapOvr>
    <a:masterClrMapping/>
  </p:clrMapOvr>
  <p:transition spd="med">
    <p:fade/>
  </p:transition>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ONE REQUEST, END-TO-END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Trace a single turn through the stack</a:t>
            </a:r>
            <a:endParaRPr lang="en-US" sz="2800" dirty="0"/>
          </a:p>
        </p:txBody>
      </p:sp>
      <p:sp>
        <p:nvSpPr>
          <p:cNvPr id="4" name="Shape 2"/>
          <p:cNvSpPr/>
          <p:nvPr/>
        </p:nvSpPr>
        <p:spPr>
          <a:xfrm>
            <a:off x="667512" y="1920240"/>
            <a:ext cx="0" cy="3703320"/>
          </a:xfrm>
          <a:prstGeom prst="line">
            <a:avLst/>
          </a:prstGeom>
          <a:noFill/>
          <a:ln w="25400">
            <a:solidFill>
              <a:srgbClr val="E6E8F0"/>
            </a:solidFill>
            <a:prstDash val="solid"/>
          </a:ln>
        </p:spPr>
      </p:sp>
      <p:sp>
        <p:nvSpPr>
          <p:cNvPr id="5" name="Shape 3"/>
          <p:cNvSpPr/>
          <p:nvPr/>
        </p:nvSpPr>
        <p:spPr>
          <a:xfrm>
            <a:off x="502920" y="1755648"/>
            <a:ext cx="329184" cy="329184"/>
          </a:xfrm>
          <a:prstGeom prst="ellipse">
            <a:avLst/>
          </a:prstGeom>
          <a:solidFill>
            <a:srgbClr val="7C3AED"/>
          </a:solidFill>
          <a:ln/>
        </p:spPr>
      </p:sp>
      <p:sp>
        <p:nvSpPr>
          <p:cNvPr id="6" name="Text 4"/>
          <p:cNvSpPr/>
          <p:nvPr/>
        </p:nvSpPr>
        <p:spPr>
          <a:xfrm>
            <a:off x="502920" y="17556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7" name="Text 5"/>
          <p:cNvSpPr/>
          <p:nvPr/>
        </p:nvSpPr>
        <p:spPr>
          <a:xfrm>
            <a:off x="978408" y="17099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Input — GOOPHER extension</a:t>
            </a:r>
            <a:endParaRPr lang="en-US" sz="1250" dirty="0"/>
          </a:p>
        </p:txBody>
      </p:sp>
      <p:sp>
        <p:nvSpPr>
          <p:cNvPr id="8" name="Text 6"/>
          <p:cNvSpPr/>
          <p:nvPr/>
        </p:nvSpPr>
        <p:spPr>
          <a:xfrm>
            <a:off x="978408" y="19431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text · 🎤 voice · 📷 camera · 📎 file  →  HTTPS + JWT</a:t>
            </a:r>
            <a:endParaRPr lang="en-US" sz="1050" dirty="0"/>
          </a:p>
        </p:txBody>
      </p:sp>
      <p:sp>
        <p:nvSpPr>
          <p:cNvPr id="9" name="Shape 7"/>
          <p:cNvSpPr/>
          <p:nvPr/>
        </p:nvSpPr>
        <p:spPr>
          <a:xfrm>
            <a:off x="502920" y="2189988"/>
            <a:ext cx="329184" cy="329184"/>
          </a:xfrm>
          <a:prstGeom prst="ellipse">
            <a:avLst/>
          </a:prstGeom>
          <a:solidFill>
            <a:srgbClr val="5B6577"/>
          </a:solidFill>
          <a:ln/>
        </p:spPr>
      </p:sp>
      <p:sp>
        <p:nvSpPr>
          <p:cNvPr id="10" name="Text 8"/>
          <p:cNvSpPr/>
          <p:nvPr/>
        </p:nvSpPr>
        <p:spPr>
          <a:xfrm>
            <a:off x="502920" y="21899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11" name="Text 9"/>
          <p:cNvSpPr/>
          <p:nvPr/>
        </p:nvSpPr>
        <p:spPr>
          <a:xfrm>
            <a:off x="978408" y="21442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Edge + Authentication — Cloud Run · FastAPI</a:t>
            </a:r>
            <a:endParaRPr lang="en-US" sz="1250" dirty="0"/>
          </a:p>
        </p:txBody>
      </p:sp>
      <p:sp>
        <p:nvSpPr>
          <p:cNvPr id="12" name="Text 10"/>
          <p:cNvSpPr/>
          <p:nvPr/>
        </p:nvSpPr>
        <p:spPr>
          <a:xfrm>
            <a:off x="978408" y="23774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JWT · email allowlist · master-pw · fail-closed  ·  rate/size limits · CORS</a:t>
            </a:r>
            <a:endParaRPr lang="en-US" sz="1050" dirty="0"/>
          </a:p>
        </p:txBody>
      </p:sp>
      <p:sp>
        <p:nvSpPr>
          <p:cNvPr id="13" name="Shape 11"/>
          <p:cNvSpPr/>
          <p:nvPr/>
        </p:nvSpPr>
        <p:spPr>
          <a:xfrm>
            <a:off x="502920" y="2624328"/>
            <a:ext cx="329184" cy="329184"/>
          </a:xfrm>
          <a:prstGeom prst="ellipse">
            <a:avLst/>
          </a:prstGeom>
          <a:solidFill>
            <a:srgbClr val="0D9488"/>
          </a:solidFill>
          <a:ln/>
        </p:spPr>
      </p:sp>
      <p:sp>
        <p:nvSpPr>
          <p:cNvPr id="14" name="Text 12"/>
          <p:cNvSpPr/>
          <p:nvPr/>
        </p:nvSpPr>
        <p:spPr>
          <a:xfrm>
            <a:off x="502920" y="26243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15" name="Text 13"/>
          <p:cNvSpPr/>
          <p:nvPr/>
        </p:nvSpPr>
        <p:spPr>
          <a:xfrm>
            <a:off x="978408" y="25786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Pre-process (no LLM) + Memory Agent</a:t>
            </a:r>
            <a:endParaRPr lang="en-US" sz="1250" dirty="0"/>
          </a:p>
        </p:txBody>
      </p:sp>
      <p:sp>
        <p:nvSpPr>
          <p:cNvPr id="16" name="Text 14"/>
          <p:cNvSpPr/>
          <p:nvPr/>
        </p:nvSpPr>
        <p:spPr>
          <a:xfrm>
            <a:off x="978408" y="28117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modality · language · channel agents  ·  Memory Agent LOADS session by session_id</a:t>
            </a:r>
            <a:endParaRPr lang="en-US" sz="1050" dirty="0"/>
          </a:p>
        </p:txBody>
      </p:sp>
      <p:sp>
        <p:nvSpPr>
          <p:cNvPr id="17" name="Shape 15"/>
          <p:cNvSpPr/>
          <p:nvPr/>
        </p:nvSpPr>
        <p:spPr>
          <a:xfrm>
            <a:off x="502920" y="3058668"/>
            <a:ext cx="329184" cy="329184"/>
          </a:xfrm>
          <a:prstGeom prst="ellipse">
            <a:avLst/>
          </a:prstGeom>
          <a:solidFill>
            <a:srgbClr val="F59E0B"/>
          </a:solidFill>
          <a:ln/>
        </p:spPr>
      </p:sp>
      <p:sp>
        <p:nvSpPr>
          <p:cNvPr id="18" name="Text 16"/>
          <p:cNvSpPr/>
          <p:nvPr/>
        </p:nvSpPr>
        <p:spPr>
          <a:xfrm>
            <a:off x="502920" y="30586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19" name="Text 17"/>
          <p:cNvSpPr/>
          <p:nvPr/>
        </p:nvSpPr>
        <p:spPr>
          <a:xfrm>
            <a:off x="978408" y="30129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Route</a:t>
            </a:r>
            <a:endParaRPr lang="en-US" sz="1250" dirty="0"/>
          </a:p>
        </p:txBody>
      </p:sp>
      <p:sp>
        <p:nvSpPr>
          <p:cNvPr id="20" name="Text 18"/>
          <p:cNvSpPr/>
          <p:nvPr/>
        </p:nvSpPr>
        <p:spPr>
          <a:xfrm>
            <a:off x="978408" y="32461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purchase? → deterministic transactional gate (skip LLM)  ·  else → agent path</a:t>
            </a:r>
            <a:endParaRPr lang="en-US" sz="1050" dirty="0"/>
          </a:p>
        </p:txBody>
      </p:sp>
      <p:sp>
        <p:nvSpPr>
          <p:cNvPr id="21" name="Shape 19"/>
          <p:cNvSpPr/>
          <p:nvPr/>
        </p:nvSpPr>
        <p:spPr>
          <a:xfrm>
            <a:off x="502920" y="3493008"/>
            <a:ext cx="329184" cy="329184"/>
          </a:xfrm>
          <a:prstGeom prst="ellipse">
            <a:avLst/>
          </a:prstGeom>
          <a:solidFill>
            <a:srgbClr val="7C3AED"/>
          </a:solidFill>
          <a:ln/>
        </p:spPr>
      </p:sp>
      <p:sp>
        <p:nvSpPr>
          <p:cNvPr id="22" name="Text 20"/>
          <p:cNvSpPr/>
          <p:nvPr/>
        </p:nvSpPr>
        <p:spPr>
          <a:xfrm>
            <a:off x="502920" y="349300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5</a:t>
            </a:r>
            <a:endParaRPr lang="en-US" sz="1300" dirty="0"/>
          </a:p>
        </p:txBody>
      </p:sp>
      <p:sp>
        <p:nvSpPr>
          <p:cNvPr id="23" name="Text 21"/>
          <p:cNvSpPr/>
          <p:nvPr/>
        </p:nvSpPr>
        <p:spPr>
          <a:xfrm>
            <a:off x="978408" y="344728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Harness</a:t>
            </a:r>
            <a:endParaRPr lang="en-US" sz="1250" dirty="0"/>
          </a:p>
        </p:txBody>
      </p:sp>
      <p:sp>
        <p:nvSpPr>
          <p:cNvPr id="24" name="Text 22"/>
          <p:cNvSpPr/>
          <p:nvPr/>
        </p:nvSpPr>
        <p:spPr>
          <a:xfrm>
            <a:off x="978408" y="368046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build agent · ensure ADK session · run (retry · degrade-once · structured result)</a:t>
            </a:r>
            <a:endParaRPr lang="en-US" sz="1050" dirty="0"/>
          </a:p>
        </p:txBody>
      </p:sp>
      <p:sp>
        <p:nvSpPr>
          <p:cNvPr id="25" name="Shape 23"/>
          <p:cNvSpPr/>
          <p:nvPr/>
        </p:nvSpPr>
        <p:spPr>
          <a:xfrm>
            <a:off x="502920" y="3927348"/>
            <a:ext cx="329184" cy="329184"/>
          </a:xfrm>
          <a:prstGeom prst="ellipse">
            <a:avLst/>
          </a:prstGeom>
          <a:solidFill>
            <a:srgbClr val="F59E0B"/>
          </a:solidFill>
          <a:ln/>
        </p:spPr>
      </p:sp>
      <p:sp>
        <p:nvSpPr>
          <p:cNvPr id="26" name="Text 24"/>
          <p:cNvSpPr/>
          <p:nvPr/>
        </p:nvSpPr>
        <p:spPr>
          <a:xfrm>
            <a:off x="502920" y="392734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6</a:t>
            </a:r>
            <a:endParaRPr lang="en-US" sz="1300" dirty="0"/>
          </a:p>
        </p:txBody>
      </p:sp>
      <p:sp>
        <p:nvSpPr>
          <p:cNvPr id="27" name="Text 25"/>
          <p:cNvSpPr/>
          <p:nvPr/>
        </p:nvSpPr>
        <p:spPr>
          <a:xfrm>
            <a:off x="978408" y="388162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ROOT sub-agent: goopher_orchestrator — Gemini 2.5 Flash (Vertex)</a:t>
            </a:r>
            <a:endParaRPr lang="en-US" sz="1250" dirty="0"/>
          </a:p>
        </p:txBody>
      </p:sp>
      <p:sp>
        <p:nvSpPr>
          <p:cNvPr id="28" name="Text 26"/>
          <p:cNvSpPr/>
          <p:nvPr/>
        </p:nvSpPr>
        <p:spPr>
          <a:xfrm>
            <a:off x="978408" y="411480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selects ONE worker via agent-as-tool (stays in control)</a:t>
            </a:r>
            <a:endParaRPr lang="en-US" sz="1050" dirty="0"/>
          </a:p>
        </p:txBody>
      </p:sp>
      <p:sp>
        <p:nvSpPr>
          <p:cNvPr id="29" name="Shape 27"/>
          <p:cNvSpPr/>
          <p:nvPr/>
        </p:nvSpPr>
        <p:spPr>
          <a:xfrm>
            <a:off x="502920" y="4361688"/>
            <a:ext cx="329184" cy="329184"/>
          </a:xfrm>
          <a:prstGeom prst="ellipse">
            <a:avLst/>
          </a:prstGeom>
          <a:solidFill>
            <a:srgbClr val="2563EB"/>
          </a:solidFill>
          <a:ln/>
        </p:spPr>
      </p:sp>
      <p:sp>
        <p:nvSpPr>
          <p:cNvPr id="30" name="Text 28"/>
          <p:cNvSpPr/>
          <p:nvPr/>
        </p:nvSpPr>
        <p:spPr>
          <a:xfrm>
            <a:off x="502920" y="436168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7</a:t>
            </a:r>
            <a:endParaRPr lang="en-US" sz="1300" dirty="0"/>
          </a:p>
        </p:txBody>
      </p:sp>
      <p:sp>
        <p:nvSpPr>
          <p:cNvPr id="31" name="Text 29"/>
          <p:cNvSpPr/>
          <p:nvPr/>
        </p:nvSpPr>
        <p:spPr>
          <a:xfrm>
            <a:off x="978408" y="431596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Worker sub-agent (e.g. inventory_agent) PICKS an agent skill</a:t>
            </a:r>
            <a:endParaRPr lang="en-US" sz="1250" dirty="0"/>
          </a:p>
        </p:txBody>
      </p:sp>
      <p:sp>
        <p:nvSpPr>
          <p:cNvPr id="32" name="Text 30"/>
          <p:cNvSpPr/>
          <p:nvPr/>
        </p:nvSpPr>
        <p:spPr>
          <a:xfrm>
            <a:off x="978408" y="454914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skill (instruction + tools) → calls its tools via native function-calling</a:t>
            </a:r>
            <a:endParaRPr lang="en-US" sz="1050" dirty="0"/>
          </a:p>
        </p:txBody>
      </p:sp>
      <p:sp>
        <p:nvSpPr>
          <p:cNvPr id="33" name="Shape 31"/>
          <p:cNvSpPr/>
          <p:nvPr/>
        </p:nvSpPr>
        <p:spPr>
          <a:xfrm>
            <a:off x="502920" y="4796028"/>
            <a:ext cx="329184" cy="329184"/>
          </a:xfrm>
          <a:prstGeom prst="ellipse">
            <a:avLst/>
          </a:prstGeom>
          <a:solidFill>
            <a:srgbClr val="0D9488"/>
          </a:solidFill>
          <a:ln/>
        </p:spPr>
      </p:sp>
      <p:sp>
        <p:nvSpPr>
          <p:cNvPr id="34" name="Text 32"/>
          <p:cNvSpPr/>
          <p:nvPr/>
        </p:nvSpPr>
        <p:spPr>
          <a:xfrm>
            <a:off x="502920" y="479602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8</a:t>
            </a:r>
            <a:endParaRPr lang="en-US" sz="1300" dirty="0"/>
          </a:p>
        </p:txBody>
      </p:sp>
      <p:sp>
        <p:nvSpPr>
          <p:cNvPr id="35" name="Text 33"/>
          <p:cNvSpPr/>
          <p:nvPr/>
        </p:nvSpPr>
        <p:spPr>
          <a:xfrm>
            <a:off x="978408" y="475030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Tools → mock retail DB</a:t>
            </a:r>
            <a:endParaRPr lang="en-US" sz="1250" dirty="0"/>
          </a:p>
        </p:txBody>
      </p:sp>
      <p:sp>
        <p:nvSpPr>
          <p:cNvPr id="36" name="Text 34"/>
          <p:cNvSpPr/>
          <p:nvPr/>
        </p:nvSpPr>
        <p:spPr>
          <a:xfrm>
            <a:off x="978408" y="498348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read/write Firestore: catalog · orders · ORDER_PLACED</a:t>
            </a:r>
            <a:endParaRPr lang="en-US" sz="1050" dirty="0"/>
          </a:p>
        </p:txBody>
      </p:sp>
      <p:sp>
        <p:nvSpPr>
          <p:cNvPr id="37" name="Shape 35"/>
          <p:cNvSpPr/>
          <p:nvPr/>
        </p:nvSpPr>
        <p:spPr>
          <a:xfrm>
            <a:off x="502920" y="5230368"/>
            <a:ext cx="329184" cy="329184"/>
          </a:xfrm>
          <a:prstGeom prst="ellipse">
            <a:avLst/>
          </a:prstGeom>
          <a:solidFill>
            <a:srgbClr val="7C3AED"/>
          </a:solidFill>
          <a:ln/>
        </p:spPr>
      </p:sp>
      <p:sp>
        <p:nvSpPr>
          <p:cNvPr id="38" name="Text 36"/>
          <p:cNvSpPr/>
          <p:nvPr/>
        </p:nvSpPr>
        <p:spPr>
          <a:xfrm>
            <a:off x="502920" y="5230368"/>
            <a:ext cx="329184" cy="329184"/>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9</a:t>
            </a:r>
            <a:endParaRPr lang="en-US" sz="1300" dirty="0"/>
          </a:p>
        </p:txBody>
      </p:sp>
      <p:sp>
        <p:nvSpPr>
          <p:cNvPr id="39" name="Text 37"/>
          <p:cNvSpPr/>
          <p:nvPr/>
        </p:nvSpPr>
        <p:spPr>
          <a:xfrm>
            <a:off x="978408" y="5184648"/>
            <a:ext cx="6126480" cy="237744"/>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Respond</a:t>
            </a:r>
            <a:endParaRPr lang="en-US" sz="1250" dirty="0"/>
          </a:p>
        </p:txBody>
      </p:sp>
      <p:sp>
        <p:nvSpPr>
          <p:cNvPr id="40" name="Text 38"/>
          <p:cNvSpPr/>
          <p:nvPr/>
        </p:nvSpPr>
        <p:spPr>
          <a:xfrm>
            <a:off x="978408" y="5417820"/>
            <a:ext cx="6126480" cy="228600"/>
          </a:xfrm>
          <a:prstGeom prst="rect">
            <a:avLst/>
          </a:prstGeom>
          <a:noFill/>
          <a:ln/>
        </p:spPr>
        <p:txBody>
          <a:bodyPr wrap="square" lIns="0" tIns="0" rIns="0" bIns="0" rtlCol="0" anchor="ctr"/>
          <a:lstStyle/>
          <a:p>
            <a:pPr indent="0" marL="0">
              <a:buNone/>
            </a:pPr>
            <a:r>
              <a:rPr lang="en-US" sz="1050" dirty="0">
                <a:solidFill>
                  <a:srgbClr val="5B6577"/>
                </a:solidFill>
                <a:latin typeface="Calibri" pitchFamily="34" charset="0"/>
                <a:ea typeface="Calibri" pitchFamily="34" charset="-122"/>
                <a:cs typeface="Calibri" pitchFamily="34" charset="-120"/>
              </a:rPr>
              <a:t>channel-format reply · Memory Agent PERSISTS turn · stream back · trace (Cloud Trace + /dev)</a:t>
            </a:r>
            <a:endParaRPr lang="en-US" sz="1050" dirty="0"/>
          </a:p>
        </p:txBody>
      </p:sp>
      <p:sp>
        <p:nvSpPr>
          <p:cNvPr id="41" name="Text 39"/>
          <p:cNvSpPr/>
          <p:nvPr/>
        </p:nvSpPr>
        <p:spPr>
          <a:xfrm>
            <a:off x="7452360" y="1627632"/>
            <a:ext cx="4236415" cy="274320"/>
          </a:xfrm>
          <a:prstGeom prst="rect">
            <a:avLst/>
          </a:prstGeom>
          <a:noFill/>
          <a:ln/>
        </p:spPr>
        <p:txBody>
          <a:bodyPr wrap="square" lIns="0" tIns="0" rIns="0" bIns="0" rtlCol="0" anchor="ctr"/>
          <a:lstStyle/>
          <a:p>
            <a:pPr indent="0" marL="0">
              <a:buNone/>
            </a:pPr>
            <a:r>
              <a:rPr lang="en-US" sz="1300" b="1" dirty="0">
                <a:solidFill>
                  <a:srgbClr val="2563EB"/>
                </a:solidFill>
                <a:latin typeface="Calibri" pitchFamily="34" charset="0"/>
                <a:ea typeface="Calibri" pitchFamily="34" charset="-122"/>
                <a:cs typeface="Calibri" pitchFamily="34" charset="-120"/>
              </a:rPr>
              <a:t>Cross-cutting (every turn)</a:t>
            </a:r>
            <a:endParaRPr lang="en-US" sz="1300" dirty="0"/>
          </a:p>
        </p:txBody>
      </p:sp>
      <p:sp>
        <p:nvSpPr>
          <p:cNvPr id="42" name="Shape 40"/>
          <p:cNvSpPr/>
          <p:nvPr/>
        </p:nvSpPr>
        <p:spPr>
          <a:xfrm>
            <a:off x="7452360" y="1965960"/>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3" name="Shape 41"/>
          <p:cNvSpPr/>
          <p:nvPr/>
        </p:nvSpPr>
        <p:spPr>
          <a:xfrm>
            <a:off x="7635240" y="2148840"/>
            <a:ext cx="457200" cy="457200"/>
          </a:xfrm>
          <a:prstGeom prst="roundRect">
            <a:avLst>
              <a:gd name="adj" fmla="val 20000"/>
            </a:avLst>
          </a:prstGeom>
          <a:solidFill>
            <a:srgbClr val="7C3AED"/>
          </a:solidFill>
          <a:ln/>
        </p:spPr>
      </p:sp>
      <p:pic>
        <p:nvPicPr>
          <p:cNvPr id="44" name="Image 0" descr="icons/lock.png">    </p:cNvPr>
          <p:cNvPicPr>
            <a:picLocks noChangeAspect="1"/>
          </p:cNvPicPr>
          <p:nvPr/>
        </p:nvPicPr>
        <p:blipFill>
          <a:blip r:embed="rId1"/>
          <a:stretch>
            <a:fillRect/>
          </a:stretch>
        </p:blipFill>
        <p:spPr>
          <a:xfrm>
            <a:off x="7744968" y="2258568"/>
            <a:ext cx="237744" cy="237744"/>
          </a:xfrm>
          <a:prstGeom prst="rect">
            <a:avLst/>
          </a:prstGeom>
        </p:spPr>
      </p:pic>
      <p:sp>
        <p:nvSpPr>
          <p:cNvPr id="45" name="Text 42"/>
          <p:cNvSpPr/>
          <p:nvPr/>
        </p:nvSpPr>
        <p:spPr>
          <a:xfrm>
            <a:off x="8202168" y="2112264"/>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Transactional gate — deterministic</a:t>
            </a:r>
            <a:endParaRPr lang="en-US" sz="1250" dirty="0"/>
          </a:p>
        </p:txBody>
      </p:sp>
      <p:sp>
        <p:nvSpPr>
          <p:cNvPr id="46" name="Text 43"/>
          <p:cNvSpPr/>
          <p:nvPr/>
        </p:nvSpPr>
        <p:spPr>
          <a:xfrm>
            <a:off x="7671816" y="2606040"/>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cart → payment → ORDER_PLACED → receipt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the LLM never executes the purchase</a:t>
            </a:r>
            <a:endParaRPr lang="en-US" sz="1050" dirty="0"/>
          </a:p>
        </p:txBody>
      </p:sp>
      <p:sp>
        <p:nvSpPr>
          <p:cNvPr id="47" name="Shape 44"/>
          <p:cNvSpPr/>
          <p:nvPr/>
        </p:nvSpPr>
        <p:spPr>
          <a:xfrm>
            <a:off x="7452360" y="3209544"/>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8" name="Shape 45"/>
          <p:cNvSpPr/>
          <p:nvPr/>
        </p:nvSpPr>
        <p:spPr>
          <a:xfrm>
            <a:off x="7635240" y="3392424"/>
            <a:ext cx="457200" cy="457200"/>
          </a:xfrm>
          <a:prstGeom prst="roundRect">
            <a:avLst>
              <a:gd name="adj" fmla="val 20000"/>
            </a:avLst>
          </a:prstGeom>
          <a:solidFill>
            <a:srgbClr val="E11D48"/>
          </a:solidFill>
          <a:ln/>
        </p:spPr>
      </p:sp>
      <p:pic>
        <p:nvPicPr>
          <p:cNvPr id="49" name="Image 1" descr="icons/layers.png">    </p:cNvPr>
          <p:cNvPicPr>
            <a:picLocks noChangeAspect="1"/>
          </p:cNvPicPr>
          <p:nvPr/>
        </p:nvPicPr>
        <p:blipFill>
          <a:blip r:embed="rId2"/>
          <a:stretch>
            <a:fillRect/>
          </a:stretch>
        </p:blipFill>
        <p:spPr>
          <a:xfrm>
            <a:off x="7744968" y="3502152"/>
            <a:ext cx="237744" cy="237744"/>
          </a:xfrm>
          <a:prstGeom prst="rect">
            <a:avLst/>
          </a:prstGeom>
        </p:spPr>
      </p:pic>
      <p:sp>
        <p:nvSpPr>
          <p:cNvPr id="50" name="Text 46"/>
          <p:cNvSpPr/>
          <p:nvPr/>
        </p:nvSpPr>
        <p:spPr>
          <a:xfrm>
            <a:off x="8202168" y="3355848"/>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Isolated side-agents</a:t>
            </a:r>
            <a:endParaRPr lang="en-US" sz="1250" dirty="0"/>
          </a:p>
        </p:txBody>
      </p:sp>
      <p:sp>
        <p:nvSpPr>
          <p:cNvPr id="51" name="Text 47"/>
          <p:cNvSpPr/>
          <p:nvPr/>
        </p:nvSpPr>
        <p:spPr>
          <a:xfrm>
            <a:off x="7671816" y="3849624"/>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/vision (Gemini Vision) · /advise (ReAct)</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Guardian self-heal — separate endpoints, don't touch /chat</a:t>
            </a:r>
            <a:endParaRPr lang="en-US" sz="1050" dirty="0"/>
          </a:p>
        </p:txBody>
      </p:sp>
      <p:sp>
        <p:nvSpPr>
          <p:cNvPr id="52" name="Shape 48"/>
          <p:cNvSpPr/>
          <p:nvPr/>
        </p:nvSpPr>
        <p:spPr>
          <a:xfrm>
            <a:off x="7452360" y="4453128"/>
            <a:ext cx="4236415" cy="1097280"/>
          </a:xfrm>
          <a:prstGeom prst="roundRect">
            <a:avLst>
              <a:gd name="adj" fmla="val 666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3" name="Shape 49"/>
          <p:cNvSpPr/>
          <p:nvPr/>
        </p:nvSpPr>
        <p:spPr>
          <a:xfrm>
            <a:off x="7635240" y="4636008"/>
            <a:ext cx="457200" cy="457200"/>
          </a:xfrm>
          <a:prstGeom prst="roundRect">
            <a:avLst>
              <a:gd name="adj" fmla="val 20000"/>
            </a:avLst>
          </a:prstGeom>
          <a:solidFill>
            <a:srgbClr val="0D9488"/>
          </a:solidFill>
          <a:ln/>
        </p:spPr>
      </p:sp>
      <p:pic>
        <p:nvPicPr>
          <p:cNvPr id="54" name="Image 2" descr="icons/eye.png">    </p:cNvPr>
          <p:cNvPicPr>
            <a:picLocks noChangeAspect="1"/>
          </p:cNvPicPr>
          <p:nvPr/>
        </p:nvPicPr>
        <p:blipFill>
          <a:blip r:embed="rId3"/>
          <a:stretch>
            <a:fillRect/>
          </a:stretch>
        </p:blipFill>
        <p:spPr>
          <a:xfrm>
            <a:off x="7744968" y="4745736"/>
            <a:ext cx="237744" cy="237744"/>
          </a:xfrm>
          <a:prstGeom prst="rect">
            <a:avLst/>
          </a:prstGeom>
        </p:spPr>
      </p:pic>
      <p:sp>
        <p:nvSpPr>
          <p:cNvPr id="55" name="Text 50"/>
          <p:cNvSpPr/>
          <p:nvPr/>
        </p:nvSpPr>
        <p:spPr>
          <a:xfrm>
            <a:off x="8202168" y="4599432"/>
            <a:ext cx="3322015" cy="457200"/>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Observability &amp; resilience</a:t>
            </a:r>
            <a:endParaRPr lang="en-US" sz="1250" dirty="0"/>
          </a:p>
        </p:txBody>
      </p:sp>
      <p:sp>
        <p:nvSpPr>
          <p:cNvPr id="56" name="Text 51"/>
          <p:cNvSpPr/>
          <p:nvPr/>
        </p:nvSpPr>
        <p:spPr>
          <a:xfrm>
            <a:off x="7671816" y="5093208"/>
            <a:ext cx="3815791" cy="420624"/>
          </a:xfrm>
          <a:prstGeom prst="rect">
            <a:avLst/>
          </a:prstGeom>
          <a:noFill/>
          <a:ln/>
        </p:spPr>
        <p:txBody>
          <a:bodyPr wrap="square" lIns="0" tIns="0" rIns="0" bIns="0" rtlCol="0" anchor="t"/>
          <a:lstStyle/>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Cloud Trace spans · live /dev · /metrics · /version</a:t>
            </a:r>
            <a:endParaRPr lang="en-US" sz="1050" dirty="0"/>
          </a:p>
          <a:p>
            <a:pPr marL="139700" indent="-139700">
              <a:spcAft>
                <a:spcPts val="300"/>
              </a:spcAft>
              <a:buSzPct val="100000"/>
              <a:buChar char="•"/>
            </a:pPr>
            <a:r>
              <a:rPr lang="en-US" sz="1050" dirty="0">
                <a:solidFill>
                  <a:srgbClr val="5B6577"/>
                </a:solidFill>
                <a:latin typeface="Calibri" pitchFamily="34" charset="0"/>
                <a:ea typeface="Calibri" pitchFamily="34" charset="-122"/>
                <a:cs typeface="Calibri" pitchFamily="34" charset="-120"/>
              </a:rPr>
              <a:t>graceful fallback + circuit breaker</a:t>
            </a:r>
            <a:endParaRPr lang="en-US" sz="1050" dirty="0"/>
          </a:p>
        </p:txBody>
      </p:sp>
      <p:sp>
        <p:nvSpPr>
          <p:cNvPr id="57" name="Shape 52"/>
          <p:cNvSpPr/>
          <p:nvPr/>
        </p:nvSpPr>
        <p:spPr>
          <a:xfrm>
            <a:off x="7452360" y="5715000"/>
            <a:ext cx="4236415" cy="603504"/>
          </a:xfrm>
          <a:prstGeom prst="roundRect">
            <a:avLst>
              <a:gd name="adj" fmla="val 12121"/>
            </a:avLst>
          </a:prstGeom>
          <a:solidFill>
            <a:srgbClr val="0A0E1F"/>
          </a:solidFill>
          <a:ln/>
        </p:spPr>
      </p:sp>
      <p:sp>
        <p:nvSpPr>
          <p:cNvPr id="58" name="Text 53"/>
          <p:cNvSpPr/>
          <p:nvPr/>
        </p:nvSpPr>
        <p:spPr>
          <a:xfrm>
            <a:off x="7653528" y="5715000"/>
            <a:ext cx="3870655" cy="603504"/>
          </a:xfrm>
          <a:prstGeom prst="rect">
            <a:avLst/>
          </a:prstGeom>
          <a:noFill/>
          <a:ln/>
        </p:spPr>
        <p:txBody>
          <a:bodyPr wrap="square" lIns="0" tIns="0" rIns="0" bIns="0" rtlCol="0" anchor="ctr"/>
          <a:lstStyle/>
          <a:p>
            <a:pPr indent="0" marL="0">
              <a:buNone/>
            </a:pPr>
            <a:r>
              <a:rPr lang="en-US" sz="1050" b="1" spc="200" kern="0" dirty="0">
                <a:solidFill>
                  <a:srgbClr val="FCA5C0"/>
                </a:solidFill>
                <a:latin typeface="Calibri" pitchFamily="34" charset="0"/>
                <a:ea typeface="Calibri" pitchFamily="34" charset="-122"/>
                <a:cs typeface="Calibri" pitchFamily="34" charset="-120"/>
              </a:rPr>
              <a:t>STACK   </a:t>
            </a:r>
            <a:pPr indent="0" marL="0">
              <a:buNone/>
            </a:pPr>
            <a:r>
              <a:rPr lang="en-US" sz="1050" dirty="0">
                <a:solidFill>
                  <a:srgbClr val="D7D3EC"/>
                </a:solidFill>
                <a:latin typeface="Calibri" pitchFamily="34" charset="0"/>
                <a:ea typeface="Calibri" pitchFamily="34" charset="-122"/>
                <a:cs typeface="Calibri" pitchFamily="34" charset="-120"/>
              </a:rPr>
              <a:t>Vertex AI · Gemini 2.5 Flash · ADK · Cloud Run · Firestore · Cloud Trace</a:t>
            </a:r>
            <a:endParaRPr lang="en-US" sz="1050" dirty="0"/>
          </a:p>
        </p:txBody>
      </p:sp>
      <p:sp>
        <p:nvSpPr>
          <p:cNvPr id="59" name="Text 54"/>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60" name="Text 55"/>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5</a:t>
            </a:r>
            <a:endParaRPr lang="en-US" sz="900" dirty="0"/>
          </a:p>
        </p:txBody>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ARCHITECTURE DEEP-DIVE · COMPONENTS IN DETAIL</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Inside the platform — sub-agents, skills &amp; the guard rails</a:t>
            </a:r>
            <a:endParaRPr lang="en-US" sz="2800" dirty="0"/>
          </a:p>
        </p:txBody>
      </p:sp>
      <p:sp>
        <p:nvSpPr>
          <p:cNvPr id="4" name="Shape 2"/>
          <p:cNvSpPr/>
          <p:nvPr/>
        </p:nvSpPr>
        <p:spPr>
          <a:xfrm>
            <a:off x="502920"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22376" y="1984248"/>
            <a:ext cx="493776" cy="493776"/>
          </a:xfrm>
          <a:prstGeom prst="roundRect">
            <a:avLst>
              <a:gd name="adj" fmla="val 20370"/>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41248" y="2103120"/>
            <a:ext cx="256032" cy="256032"/>
          </a:xfrm>
          <a:prstGeom prst="rect">
            <a:avLst/>
          </a:prstGeom>
        </p:spPr>
      </p:pic>
      <p:sp>
        <p:nvSpPr>
          <p:cNvPr id="7" name="Text 4"/>
          <p:cNvSpPr/>
          <p:nvPr/>
        </p:nvSpPr>
        <p:spPr>
          <a:xfrm>
            <a:off x="1325880"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Sub-agents  (the LLM agents)</a:t>
            </a:r>
            <a:endParaRPr lang="en-US" sz="1250" dirty="0"/>
          </a:p>
        </p:txBody>
      </p:sp>
      <p:sp>
        <p:nvSpPr>
          <p:cNvPr id="8" name="Text 5"/>
          <p:cNvSpPr/>
          <p:nvPr/>
        </p:nvSpPr>
        <p:spPr>
          <a:xfrm>
            <a:off x="740664"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ROOT: goopher_orchestrator (routes)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inventory_agent — search · stock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order_agent — status · history · bulk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checkout_agent — cart · pay · place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order_management_agent — fulfillment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Isolated: vision_agent · advisor_agent · guardian</a:t>
            </a:r>
            <a:endParaRPr lang="en-US" sz="1000" dirty="0"/>
          </a:p>
        </p:txBody>
      </p:sp>
      <p:sp>
        <p:nvSpPr>
          <p:cNvPr id="9" name="Shape 6"/>
          <p:cNvSpPr/>
          <p:nvPr/>
        </p:nvSpPr>
        <p:spPr>
          <a:xfrm>
            <a:off x="4322978"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42434" y="1984248"/>
            <a:ext cx="493776" cy="493776"/>
          </a:xfrm>
          <a:prstGeom prst="roundRect">
            <a:avLst>
              <a:gd name="adj" fmla="val 20370"/>
            </a:avLst>
          </a:prstGeom>
          <a:solidFill>
            <a:srgbClr val="F59E0B"/>
          </a:solidFill>
          <a:ln/>
        </p:spPr>
      </p:sp>
      <p:pic>
        <p:nvPicPr>
          <p:cNvPr id="11" name="Image 1" descr="icons/layers.png">    </p:cNvPr>
          <p:cNvPicPr>
            <a:picLocks noChangeAspect="1"/>
          </p:cNvPicPr>
          <p:nvPr/>
        </p:nvPicPr>
        <p:blipFill>
          <a:blip r:embed="rId2"/>
          <a:stretch>
            <a:fillRect/>
          </a:stretch>
        </p:blipFill>
        <p:spPr>
          <a:xfrm>
            <a:off x="4661306" y="2103120"/>
            <a:ext cx="256032" cy="256032"/>
          </a:xfrm>
          <a:prstGeom prst="rect">
            <a:avLst/>
          </a:prstGeom>
        </p:spPr>
      </p:pic>
      <p:sp>
        <p:nvSpPr>
          <p:cNvPr id="12" name="Text 8"/>
          <p:cNvSpPr/>
          <p:nvPr/>
        </p:nvSpPr>
        <p:spPr>
          <a:xfrm>
            <a:off x="5145938"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Agent skills  (registry — SEPARATE)</a:t>
            </a:r>
            <a:endParaRPr lang="en-US" sz="1250" dirty="0"/>
          </a:p>
        </p:txBody>
      </p:sp>
      <p:sp>
        <p:nvSpPr>
          <p:cNvPr id="13" name="Text 9"/>
          <p:cNvSpPr/>
          <p:nvPr/>
        </p:nvSpPr>
        <p:spPr>
          <a:xfrm>
            <a:off x="4560722"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 skill = INSTRUCTION + TOOLS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an agent PICKS a skill (≠ a sub-agent)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inventory · order  (read-only)</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checkout · fulfillment  (transactional)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read-only flag enforced in code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introspect live → GET /skills</a:t>
            </a:r>
            <a:endParaRPr lang="en-US" sz="1000" dirty="0"/>
          </a:p>
        </p:txBody>
      </p:sp>
      <p:sp>
        <p:nvSpPr>
          <p:cNvPr id="14" name="Shape 10"/>
          <p:cNvSpPr/>
          <p:nvPr/>
        </p:nvSpPr>
        <p:spPr>
          <a:xfrm>
            <a:off x="8143037" y="178308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62493" y="1984248"/>
            <a:ext cx="493776" cy="493776"/>
          </a:xfrm>
          <a:prstGeom prst="roundRect">
            <a:avLst>
              <a:gd name="adj" fmla="val 20370"/>
            </a:avLst>
          </a:prstGeom>
          <a:solidFill>
            <a:srgbClr val="7C3AED"/>
          </a:solidFill>
          <a:ln/>
        </p:spPr>
      </p:sp>
      <p:pic>
        <p:nvPicPr>
          <p:cNvPr id="16" name="Image 2" descr="icons/lock.png">    </p:cNvPr>
          <p:cNvPicPr>
            <a:picLocks noChangeAspect="1"/>
          </p:cNvPicPr>
          <p:nvPr/>
        </p:nvPicPr>
        <p:blipFill>
          <a:blip r:embed="rId3"/>
          <a:stretch>
            <a:fillRect/>
          </a:stretch>
        </p:blipFill>
        <p:spPr>
          <a:xfrm>
            <a:off x="8481365" y="2103120"/>
            <a:ext cx="256032" cy="256032"/>
          </a:xfrm>
          <a:prstGeom prst="rect">
            <a:avLst/>
          </a:prstGeom>
        </p:spPr>
      </p:pic>
      <p:sp>
        <p:nvSpPr>
          <p:cNvPr id="17" name="Text 12"/>
          <p:cNvSpPr/>
          <p:nvPr/>
        </p:nvSpPr>
        <p:spPr>
          <a:xfrm>
            <a:off x="8965997" y="196596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Authentication &amp; edge</a:t>
            </a:r>
            <a:endParaRPr lang="en-US" sz="1250" dirty="0"/>
          </a:p>
        </p:txBody>
      </p:sp>
      <p:sp>
        <p:nvSpPr>
          <p:cNvPr id="18" name="Text 13"/>
          <p:cNvSpPr/>
          <p:nvPr/>
        </p:nvSpPr>
        <p:spPr>
          <a:xfrm>
            <a:off x="8380781" y="258775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JWT bearer token on every request</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Email allowlist + master password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Fail-closed — no match → rejected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Rate-limit · request-size limit · CORS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Secrets in env / secret — never committed</a:t>
            </a:r>
            <a:endParaRPr lang="en-US" sz="1000" dirty="0"/>
          </a:p>
        </p:txBody>
      </p:sp>
      <p:sp>
        <p:nvSpPr>
          <p:cNvPr id="19" name="Shape 14"/>
          <p:cNvSpPr/>
          <p:nvPr/>
        </p:nvSpPr>
        <p:spPr>
          <a:xfrm>
            <a:off x="502920"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22376" y="4361688"/>
            <a:ext cx="493776" cy="493776"/>
          </a:xfrm>
          <a:prstGeom prst="roundRect">
            <a:avLst>
              <a:gd name="adj" fmla="val 20370"/>
            </a:avLst>
          </a:prstGeom>
          <a:solidFill>
            <a:srgbClr val="0D9488"/>
          </a:solidFill>
          <a:ln/>
        </p:spPr>
      </p:sp>
      <p:pic>
        <p:nvPicPr>
          <p:cNvPr id="21" name="Image 3" descr="icons/db.png">    </p:cNvPr>
          <p:cNvPicPr>
            <a:picLocks noChangeAspect="1"/>
          </p:cNvPicPr>
          <p:nvPr/>
        </p:nvPicPr>
        <p:blipFill>
          <a:blip r:embed="rId4"/>
          <a:stretch>
            <a:fillRect/>
          </a:stretch>
        </p:blipFill>
        <p:spPr>
          <a:xfrm>
            <a:off x="841248" y="4480560"/>
            <a:ext cx="256032" cy="256032"/>
          </a:xfrm>
          <a:prstGeom prst="rect">
            <a:avLst/>
          </a:prstGeom>
        </p:spPr>
      </p:pic>
      <p:sp>
        <p:nvSpPr>
          <p:cNvPr id="22" name="Text 16"/>
          <p:cNvSpPr/>
          <p:nvPr/>
        </p:nvSpPr>
        <p:spPr>
          <a:xfrm>
            <a:off x="1325880"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Memory agent  (shared state)</a:t>
            </a:r>
            <a:endParaRPr lang="en-US" sz="1250" dirty="0"/>
          </a:p>
        </p:txBody>
      </p:sp>
      <p:sp>
        <p:nvSpPr>
          <p:cNvPr id="23" name="Text 17"/>
          <p:cNvSpPr/>
          <p:nvPr/>
        </p:nvSpPr>
        <p:spPr>
          <a:xfrm>
            <a:off x="740664"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One session store keyed by session_id</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Firestore (cloud) / SQLite (local)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Turns + working-memory facts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LOAD at start · PERSIST at end of turn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Durable &amp; shared across instances</a:t>
            </a:r>
            <a:endParaRPr lang="en-US" sz="1000" dirty="0"/>
          </a:p>
        </p:txBody>
      </p:sp>
      <p:sp>
        <p:nvSpPr>
          <p:cNvPr id="24" name="Shape 18"/>
          <p:cNvSpPr/>
          <p:nvPr/>
        </p:nvSpPr>
        <p:spPr>
          <a:xfrm>
            <a:off x="4322978"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42434" y="4361688"/>
            <a:ext cx="493776" cy="493776"/>
          </a:xfrm>
          <a:prstGeom prst="roundRect">
            <a:avLst>
              <a:gd name="adj" fmla="val 20370"/>
            </a:avLst>
          </a:prstGeom>
          <a:solidFill>
            <a:srgbClr val="E11D48"/>
          </a:solidFill>
          <a:ln/>
        </p:spPr>
      </p:sp>
      <p:pic>
        <p:nvPicPr>
          <p:cNvPr id="26" name="Image 4" descr="icons/shield.png">    </p:cNvPr>
          <p:cNvPicPr>
            <a:picLocks noChangeAspect="1"/>
          </p:cNvPicPr>
          <p:nvPr/>
        </p:nvPicPr>
        <p:blipFill>
          <a:blip r:embed="rId5"/>
          <a:stretch>
            <a:fillRect/>
          </a:stretch>
        </p:blipFill>
        <p:spPr>
          <a:xfrm>
            <a:off x="4661306" y="4480560"/>
            <a:ext cx="256032" cy="256032"/>
          </a:xfrm>
          <a:prstGeom prst="rect">
            <a:avLst/>
          </a:prstGeom>
        </p:spPr>
      </p:pic>
      <p:sp>
        <p:nvSpPr>
          <p:cNvPr id="27" name="Text 20"/>
          <p:cNvSpPr/>
          <p:nvPr/>
        </p:nvSpPr>
        <p:spPr>
          <a:xfrm>
            <a:off x="5145938"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Guardrails  (safety)</a:t>
            </a:r>
            <a:endParaRPr lang="en-US" sz="1250" dirty="0"/>
          </a:p>
        </p:txBody>
      </p:sp>
      <p:sp>
        <p:nvSpPr>
          <p:cNvPr id="28" name="Text 21"/>
          <p:cNvSpPr/>
          <p:nvPr/>
        </p:nvSpPr>
        <p:spPr>
          <a:xfrm>
            <a:off x="4560722"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Deterministic gate — LLM never pays</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No substitution · confirm-before-charge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Loop prevention (agent-as-tool)</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Bounded retries · graceful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Self-healing Guardian (circuit breaker)</a:t>
            </a:r>
            <a:endParaRPr lang="en-US" sz="1000" dirty="0"/>
          </a:p>
        </p:txBody>
      </p:sp>
      <p:sp>
        <p:nvSpPr>
          <p:cNvPr id="29" name="Shape 22"/>
          <p:cNvSpPr/>
          <p:nvPr/>
        </p:nvSpPr>
        <p:spPr>
          <a:xfrm>
            <a:off x="8143037" y="4160520"/>
            <a:ext cx="3545738" cy="2121408"/>
          </a:xfrm>
          <a:prstGeom prst="roundRect">
            <a:avLst>
              <a:gd name="adj" fmla="val 38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62493" y="4361688"/>
            <a:ext cx="493776" cy="493776"/>
          </a:xfrm>
          <a:prstGeom prst="roundRect">
            <a:avLst>
              <a:gd name="adj" fmla="val 20370"/>
            </a:avLst>
          </a:prstGeom>
          <a:solidFill>
            <a:srgbClr val="16A34A"/>
          </a:solidFill>
          <a:ln/>
        </p:spPr>
      </p:sp>
      <p:pic>
        <p:nvPicPr>
          <p:cNvPr id="31" name="Image 5" descr="icons/check.png">    </p:cNvPr>
          <p:cNvPicPr>
            <a:picLocks noChangeAspect="1"/>
          </p:cNvPicPr>
          <p:nvPr/>
        </p:nvPicPr>
        <p:blipFill>
          <a:blip r:embed="rId6"/>
          <a:stretch>
            <a:fillRect/>
          </a:stretch>
        </p:blipFill>
        <p:spPr>
          <a:xfrm>
            <a:off x="8481365" y="4480560"/>
            <a:ext cx="256032" cy="256032"/>
          </a:xfrm>
          <a:prstGeom prst="rect">
            <a:avLst/>
          </a:prstGeom>
        </p:spPr>
      </p:pic>
      <p:sp>
        <p:nvSpPr>
          <p:cNvPr id="32" name="Text 24"/>
          <p:cNvSpPr/>
          <p:nvPr/>
        </p:nvSpPr>
        <p:spPr>
          <a:xfrm>
            <a:off x="8965997" y="4343400"/>
            <a:ext cx="2558186" cy="530352"/>
          </a:xfrm>
          <a:prstGeom prst="rect">
            <a:avLst/>
          </a:prstGeom>
          <a:noFill/>
          <a:ln/>
        </p:spPr>
        <p:txBody>
          <a:bodyPr wrap="square" lIns="0" tIns="0" rIns="0" bIns="0" rtlCol="0" anchor="ctr"/>
          <a:lstStyle/>
          <a:p>
            <a:pPr indent="0" marL="0">
              <a:buNone/>
            </a:pPr>
            <a:r>
              <a:rPr lang="en-US" sz="1250" b="1" dirty="0">
                <a:solidFill>
                  <a:srgbClr val="0F172A"/>
                </a:solidFill>
                <a:latin typeface="Calibri" pitchFamily="34" charset="0"/>
                <a:ea typeface="Calibri" pitchFamily="34" charset="-122"/>
                <a:cs typeface="Calibri" pitchFamily="34" charset="-120"/>
              </a:rPr>
              <a:t>Quality — unit tests &amp; evals</a:t>
            </a:r>
            <a:endParaRPr lang="en-US" sz="1250" dirty="0"/>
          </a:p>
        </p:txBody>
      </p:sp>
      <p:sp>
        <p:nvSpPr>
          <p:cNvPr id="33" name="Text 25"/>
          <p:cNvSpPr/>
          <p:nvPr/>
        </p:nvSpPr>
        <p:spPr>
          <a:xfrm>
            <a:off x="8380781" y="4965192"/>
            <a:ext cx="3088538" cy="1225296"/>
          </a:xfrm>
          <a:prstGeom prst="rect">
            <a:avLst/>
          </a:prstGeom>
          <a:noFill/>
          <a:ln/>
        </p:spPr>
        <p:txBody>
          <a:bodyPr wrap="square" lIns="0" tIns="0" rIns="0" bIns="0" rtlCol="0" anchor="t"/>
          <a:lstStyle/>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117 unit tests (pytest) gate every change</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8 evals on agent behaviour</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CI/CD: push → test + eval → Cloud Run</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CI-sim blocks google.* → tests fallback</a:t>
            </a:r>
            <a:endParaRPr lang="en-US" sz="1000" dirty="0"/>
          </a:p>
          <a:p>
            <a:pPr marL="127000" indent="-127000">
              <a:spcAft>
                <a:spcPts val="200"/>
              </a:spcAft>
              <a:buSzPct val="100000"/>
              <a:buChar char="•"/>
            </a:pPr>
            <a:r>
              <a:rPr lang="en-US" sz="1000" dirty="0">
                <a:solidFill>
                  <a:srgbClr val="5B6577"/>
                </a:solidFill>
                <a:latin typeface="Calibri" pitchFamily="34" charset="0"/>
                <a:ea typeface="Calibri" pitchFamily="34" charset="-122"/>
                <a:cs typeface="Calibri" pitchFamily="34" charset="-120"/>
              </a:rPr>
              <a:t>Isolation asserts (advisor ∌ checkout)</a:t>
            </a:r>
            <a:endParaRPr lang="en-US" sz="10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6</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HANDS-ON · LIVE DEMONSTRATION</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Live demo — in the GOOPHER extension</a:t>
            </a:r>
            <a:endParaRPr lang="en-US" sz="3000" dirty="0"/>
          </a:p>
        </p:txBody>
      </p:sp>
      <p:sp>
        <p:nvSpPr>
          <p:cNvPr id="4" name="Text 2"/>
          <p:cNvSpPr/>
          <p:nvPr/>
        </p:nvSpPr>
        <p:spPr>
          <a:xfrm>
            <a:off x="502920" y="1481328"/>
            <a:ext cx="11185855" cy="365760"/>
          </a:xfrm>
          <a:prstGeom prst="rect">
            <a:avLst/>
          </a:prstGeom>
          <a:noFill/>
          <a:ln/>
        </p:spPr>
        <p:txBody>
          <a:bodyPr wrap="square" lIns="0" tIns="0" rIns="0" bIns="0" rtlCol="0" anchor="ctr"/>
          <a:lstStyle/>
          <a:p>
            <a:pPr indent="0" marL="0">
              <a:buNone/>
            </a:pPr>
            <a:r>
              <a:rPr lang="en-US" sz="1300" dirty="0">
                <a:solidFill>
                  <a:srgbClr val="C9C2E8"/>
                </a:solidFill>
                <a:latin typeface="Calibri" pitchFamily="34" charset="0"/>
                <a:ea typeface="Calibri" pitchFamily="34" charset="-122"/>
                <a:cs typeface="Calibri" pitchFamily="34" charset="-120"/>
              </a:rPr>
              <a:t>Everything below is run live in the side panel, against the deployed Cloud Run service.</a:t>
            </a:r>
            <a:endParaRPr lang="en-US" sz="1300" dirty="0"/>
          </a:p>
        </p:txBody>
      </p:sp>
      <p:sp>
        <p:nvSpPr>
          <p:cNvPr id="5" name="Shape 3"/>
          <p:cNvSpPr/>
          <p:nvPr/>
        </p:nvSpPr>
        <p:spPr>
          <a:xfrm>
            <a:off x="502920"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6" name="Shape 4"/>
          <p:cNvSpPr/>
          <p:nvPr/>
        </p:nvSpPr>
        <p:spPr>
          <a:xfrm>
            <a:off x="758952" y="2423160"/>
            <a:ext cx="603504" cy="603504"/>
          </a:xfrm>
          <a:prstGeom prst="roundRect">
            <a:avLst>
              <a:gd name="adj" fmla="val 19697"/>
            </a:avLst>
          </a:prstGeom>
          <a:solidFill>
            <a:srgbClr val="E11D48"/>
          </a:solidFill>
          <a:ln/>
        </p:spPr>
      </p:sp>
      <p:pic>
        <p:nvPicPr>
          <p:cNvPr id="7" name="Image 0" descr="icons/comments.png">    </p:cNvPr>
          <p:cNvPicPr>
            <a:picLocks noChangeAspect="1"/>
          </p:cNvPicPr>
          <p:nvPr/>
        </p:nvPicPr>
        <p:blipFill>
          <a:blip r:embed="rId2"/>
          <a:stretch>
            <a:fillRect/>
          </a:stretch>
        </p:blipFill>
        <p:spPr>
          <a:xfrm>
            <a:off x="914400" y="2578608"/>
            <a:ext cx="292608" cy="292608"/>
          </a:xfrm>
          <a:prstGeom prst="rect">
            <a:avLst/>
          </a:prstGeom>
        </p:spPr>
      </p:pic>
      <p:sp>
        <p:nvSpPr>
          <p:cNvPr id="8" name="Text 5"/>
          <p:cNvSpPr/>
          <p:nvPr/>
        </p:nvSpPr>
        <p:spPr>
          <a:xfrm>
            <a:off x="1527048"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1.  Conversational order + confirm</a:t>
            </a:r>
            <a:endParaRPr lang="en-US" sz="1600" dirty="0"/>
          </a:p>
        </p:txBody>
      </p:sp>
      <p:sp>
        <p:nvSpPr>
          <p:cNvPr id="9" name="Text 6"/>
          <p:cNvSpPr/>
          <p:nvPr/>
        </p:nvSpPr>
        <p:spPr>
          <a:xfrm>
            <a:off x="1527048"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“do you have oreos?” → “place an order” → shows cart → “please confirm” → staged receipt. Never substitutes.</a:t>
            </a:r>
            <a:endParaRPr lang="en-US" sz="1250" dirty="0"/>
          </a:p>
        </p:txBody>
      </p:sp>
      <p:sp>
        <p:nvSpPr>
          <p:cNvPr id="10" name="Shape 7"/>
          <p:cNvSpPr/>
          <p:nvPr/>
        </p:nvSpPr>
        <p:spPr>
          <a:xfrm>
            <a:off x="6370168" y="2148840"/>
            <a:ext cx="5318608" cy="1783080"/>
          </a:xfrm>
          <a:prstGeom prst="roundRect">
            <a:avLst>
              <a:gd name="adj" fmla="val 5128"/>
            </a:avLst>
          </a:prstGeom>
          <a:solidFill>
            <a:srgbClr val="FFFFFF">
              <a:alpha val="10000"/>
            </a:srgbClr>
          </a:solidFill>
          <a:ln w="12700">
            <a:solidFill>
              <a:srgbClr val="FFFFFF"/>
            </a:solidFill>
            <a:prstDash val="solid"/>
          </a:ln>
        </p:spPr>
      </p:sp>
      <p:sp>
        <p:nvSpPr>
          <p:cNvPr id="11" name="Shape 8"/>
          <p:cNvSpPr/>
          <p:nvPr/>
        </p:nvSpPr>
        <p:spPr>
          <a:xfrm>
            <a:off x="6626200" y="2423160"/>
            <a:ext cx="603504" cy="603504"/>
          </a:xfrm>
          <a:prstGeom prst="roundRect">
            <a:avLst>
              <a:gd name="adj" fmla="val 19697"/>
            </a:avLst>
          </a:prstGeom>
          <a:solidFill>
            <a:srgbClr val="E11D48"/>
          </a:solidFill>
          <a:ln/>
        </p:spPr>
      </p:sp>
      <p:pic>
        <p:nvPicPr>
          <p:cNvPr id="12" name="Image 1" descr="icons/camera.png">    </p:cNvPr>
          <p:cNvPicPr>
            <a:picLocks noChangeAspect="1"/>
          </p:cNvPicPr>
          <p:nvPr/>
        </p:nvPicPr>
        <p:blipFill>
          <a:blip r:embed="rId3"/>
          <a:stretch>
            <a:fillRect/>
          </a:stretch>
        </p:blipFill>
        <p:spPr>
          <a:xfrm>
            <a:off x="6781648" y="2578608"/>
            <a:ext cx="292608" cy="292608"/>
          </a:xfrm>
          <a:prstGeom prst="rect">
            <a:avLst/>
          </a:prstGeom>
        </p:spPr>
      </p:pic>
      <p:sp>
        <p:nvSpPr>
          <p:cNvPr id="13" name="Text 9"/>
          <p:cNvSpPr/>
          <p:nvPr/>
        </p:nvSpPr>
        <p:spPr>
          <a:xfrm>
            <a:off x="7394296" y="240487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2.  See-it, shop-it (Gemini Vision)</a:t>
            </a:r>
            <a:endParaRPr lang="en-US" sz="1600" dirty="0"/>
          </a:p>
        </p:txBody>
      </p:sp>
      <p:sp>
        <p:nvSpPr>
          <p:cNvPr id="14" name="Text 10"/>
          <p:cNvSpPr/>
          <p:nvPr/>
        </p:nvSpPr>
        <p:spPr>
          <a:xfrm>
            <a:off x="7394296" y="291693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Show a real soccer ball → “what's the price?” → “place an order” → confirm. Same model recognizes + reasons + replies.</a:t>
            </a:r>
            <a:endParaRPr lang="en-US" sz="1250" dirty="0"/>
          </a:p>
        </p:txBody>
      </p:sp>
      <p:sp>
        <p:nvSpPr>
          <p:cNvPr id="15" name="Shape 11"/>
          <p:cNvSpPr/>
          <p:nvPr/>
        </p:nvSpPr>
        <p:spPr>
          <a:xfrm>
            <a:off x="502920"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16" name="Shape 12"/>
          <p:cNvSpPr/>
          <p:nvPr/>
        </p:nvSpPr>
        <p:spPr>
          <a:xfrm>
            <a:off x="758952" y="4526280"/>
            <a:ext cx="603504" cy="603504"/>
          </a:xfrm>
          <a:prstGeom prst="roundRect">
            <a:avLst>
              <a:gd name="adj" fmla="val 19697"/>
            </a:avLst>
          </a:prstGeom>
          <a:solidFill>
            <a:srgbClr val="E11D48"/>
          </a:solidFill>
          <a:ln/>
        </p:spPr>
      </p:sp>
      <p:pic>
        <p:nvPicPr>
          <p:cNvPr id="17" name="Image 2" descr="icons/eye.png">    </p:cNvPr>
          <p:cNvPicPr>
            <a:picLocks noChangeAspect="1"/>
          </p:cNvPicPr>
          <p:nvPr/>
        </p:nvPicPr>
        <p:blipFill>
          <a:blip r:embed="rId4"/>
          <a:stretch>
            <a:fillRect/>
          </a:stretch>
        </p:blipFill>
        <p:spPr>
          <a:xfrm>
            <a:off x="914400" y="4681728"/>
            <a:ext cx="292608" cy="292608"/>
          </a:xfrm>
          <a:prstGeom prst="rect">
            <a:avLst/>
          </a:prstGeom>
        </p:spPr>
      </p:pic>
      <p:sp>
        <p:nvSpPr>
          <p:cNvPr id="18" name="Text 13"/>
          <p:cNvSpPr/>
          <p:nvPr/>
        </p:nvSpPr>
        <p:spPr>
          <a:xfrm>
            <a:off x="1527048"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3.  Radical transparency (/dev)</a:t>
            </a:r>
            <a:endParaRPr lang="en-US" sz="1600" dirty="0"/>
          </a:p>
        </p:txBody>
      </p:sp>
      <p:sp>
        <p:nvSpPr>
          <p:cNvPr id="19" name="Text 14"/>
          <p:cNvSpPr/>
          <p:nvPr/>
        </p:nvSpPr>
        <p:spPr>
          <a:xfrm>
            <a:off x="1527048"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Watch the live pipeline: harness → orchestrator → worker → skill → tool → memory. Multilingual + voice in the same thread.</a:t>
            </a:r>
            <a:endParaRPr lang="en-US" sz="1250" dirty="0"/>
          </a:p>
        </p:txBody>
      </p:sp>
      <p:sp>
        <p:nvSpPr>
          <p:cNvPr id="20" name="Shape 15"/>
          <p:cNvSpPr/>
          <p:nvPr/>
        </p:nvSpPr>
        <p:spPr>
          <a:xfrm>
            <a:off x="6370168" y="4251960"/>
            <a:ext cx="5318608" cy="1783080"/>
          </a:xfrm>
          <a:prstGeom prst="roundRect">
            <a:avLst>
              <a:gd name="adj" fmla="val 5128"/>
            </a:avLst>
          </a:prstGeom>
          <a:solidFill>
            <a:srgbClr val="FFFFFF">
              <a:alpha val="10000"/>
            </a:srgbClr>
          </a:solidFill>
          <a:ln w="12700">
            <a:solidFill>
              <a:srgbClr val="FFFFFF"/>
            </a:solidFill>
            <a:prstDash val="solid"/>
          </a:ln>
        </p:spPr>
      </p:sp>
      <p:sp>
        <p:nvSpPr>
          <p:cNvPr id="21" name="Shape 16"/>
          <p:cNvSpPr/>
          <p:nvPr/>
        </p:nvSpPr>
        <p:spPr>
          <a:xfrm>
            <a:off x="6626200" y="4526280"/>
            <a:ext cx="603504" cy="603504"/>
          </a:xfrm>
          <a:prstGeom prst="roundRect">
            <a:avLst>
              <a:gd name="adj" fmla="val 19697"/>
            </a:avLst>
          </a:prstGeom>
          <a:solidFill>
            <a:srgbClr val="E11D48"/>
          </a:solidFill>
          <a:ln/>
        </p:spPr>
      </p:sp>
      <p:pic>
        <p:nvPicPr>
          <p:cNvPr id="22" name="Image 3" descr="icons/shield.png">    </p:cNvPr>
          <p:cNvPicPr>
            <a:picLocks noChangeAspect="1"/>
          </p:cNvPicPr>
          <p:nvPr/>
        </p:nvPicPr>
        <p:blipFill>
          <a:blip r:embed="rId5"/>
          <a:stretch>
            <a:fillRect/>
          </a:stretch>
        </p:blipFill>
        <p:spPr>
          <a:xfrm>
            <a:off x="6781648" y="4681728"/>
            <a:ext cx="292608" cy="292608"/>
          </a:xfrm>
          <a:prstGeom prst="rect">
            <a:avLst/>
          </a:prstGeom>
        </p:spPr>
      </p:pic>
      <p:sp>
        <p:nvSpPr>
          <p:cNvPr id="23" name="Text 17"/>
          <p:cNvSpPr/>
          <p:nvPr/>
        </p:nvSpPr>
        <p:spPr>
          <a:xfrm>
            <a:off x="7394296" y="4507992"/>
            <a:ext cx="4038448" cy="457200"/>
          </a:xfrm>
          <a:prstGeom prst="rect">
            <a:avLst/>
          </a:prstGeom>
          <a:noFill/>
          <a:ln/>
        </p:spPr>
        <p:txBody>
          <a:bodyPr wrap="square" lIns="0" tIns="0" rIns="0" bIns="0" rtlCol="0" anchor="ctr"/>
          <a:lstStyle/>
          <a:p>
            <a:pPr indent="0" marL="0">
              <a:buNone/>
            </a:pPr>
            <a:r>
              <a:rPr lang="en-US" sz="1600" b="1" dirty="0">
                <a:solidFill>
                  <a:srgbClr val="FFFFFF"/>
                </a:solidFill>
                <a:latin typeface="Calibri" pitchFamily="34" charset="0"/>
                <a:ea typeface="Calibri" pitchFamily="34" charset="-122"/>
                <a:cs typeface="Calibri" pitchFamily="34" charset="-120"/>
              </a:rPr>
              <a:t>4.  Self-healing (the finale)</a:t>
            </a:r>
            <a:endParaRPr lang="en-US" sz="1600" dirty="0"/>
          </a:p>
        </p:txBody>
      </p:sp>
      <p:sp>
        <p:nvSpPr>
          <p:cNvPr id="24" name="Text 18"/>
          <p:cNvSpPr/>
          <p:nvPr/>
        </p:nvSpPr>
        <p:spPr>
          <a:xfrm>
            <a:off x="7394296" y="5020056"/>
            <a:ext cx="4038448" cy="868680"/>
          </a:xfrm>
          <a:prstGeom prst="rect">
            <a:avLst/>
          </a:prstGeom>
          <a:noFill/>
          <a:ln/>
        </p:spPr>
        <p:txBody>
          <a:bodyPr wrap="square" lIns="0" tIns="0" rIns="0" bIns="0" rtlCol="0" anchor="t"/>
          <a:lstStyle/>
          <a:p>
            <a:pPr indent="0" marL="0">
              <a:buNone/>
            </a:pPr>
            <a:r>
              <a:rPr lang="en-US" sz="1250" dirty="0">
                <a:solidFill>
                  <a:srgbClr val="D7D3EC"/>
                </a:solidFill>
                <a:latin typeface="Calibri" pitchFamily="34" charset="0"/>
                <a:ea typeface="Calibri" pitchFamily="34" charset="-122"/>
                <a:cs typeface="Calibri" pitchFamily="34" charset="-120"/>
              </a:rPr>
              <a:t>💥 Kill Vertex → DETECT → DIAGNOSE → REMEDIATE → VERIFY → restore. Isolated; never touches live flows.</a:t>
            </a:r>
            <a:endParaRPr lang="en-US" sz="125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HOW GOOPHER MEETS THE FOUR HARD REQUIREMENTS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Sub-agents + context · multilingual · multichannel · multimodal</a:t>
            </a:r>
            <a:endParaRPr lang="en-US" sz="2800" dirty="0"/>
          </a:p>
        </p:txBody>
      </p:sp>
      <p:sp>
        <p:nvSpPr>
          <p:cNvPr id="4" name="Shape 2"/>
          <p:cNvSpPr/>
          <p:nvPr/>
        </p:nvSpPr>
        <p:spPr>
          <a:xfrm>
            <a:off x="502920"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2563EB"/>
          </a:solidFill>
          <a:ln/>
        </p:spPr>
      </p:sp>
      <p:pic>
        <p:nvPicPr>
          <p:cNvPr id="6" name="Image 0" descr="icons/sitemap.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Sub-agents &amp; context</a:t>
            </a:r>
            <a:endParaRPr lang="en-US" sz="1550" dirty="0"/>
          </a:p>
        </p:txBody>
      </p:sp>
      <p:sp>
        <p:nvSpPr>
          <p:cNvPr id="8" name="Text 5"/>
          <p:cNvSpPr/>
          <p:nvPr/>
        </p:nvSpPr>
        <p:spPr>
          <a:xfrm>
            <a:off x="758952"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ROOT orchestrator → inventory/order/checkout/fulfillment workers (agent-as-tool).</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keyed by session_id (Firestore, durable) shared by all agents.</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“is it in navy?” → “order it” resolves across turns; survives autoscaling.</a:t>
            </a:r>
            <a:endParaRPr lang="en-US" sz="1200" dirty="0"/>
          </a:p>
        </p:txBody>
      </p:sp>
      <p:sp>
        <p:nvSpPr>
          <p:cNvPr id="9" name="Shape 6"/>
          <p:cNvSpPr/>
          <p:nvPr/>
        </p:nvSpPr>
        <p:spPr>
          <a:xfrm>
            <a:off x="6370168" y="178308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6607912" y="2002536"/>
            <a:ext cx="566928" cy="566928"/>
          </a:xfrm>
          <a:prstGeom prst="roundRect">
            <a:avLst>
              <a:gd name="adj" fmla="val 19355"/>
            </a:avLst>
          </a:prstGeom>
          <a:solidFill>
            <a:srgbClr val="7C3AED"/>
          </a:solidFill>
          <a:ln/>
        </p:spPr>
      </p:sp>
      <p:pic>
        <p:nvPicPr>
          <p:cNvPr id="11" name="Image 1" descr="icons/globe.png">    </p:cNvPr>
          <p:cNvPicPr>
            <a:picLocks noChangeAspect="1"/>
          </p:cNvPicPr>
          <p:nvPr/>
        </p:nvPicPr>
        <p:blipFill>
          <a:blip r:embed="rId2"/>
          <a:stretch>
            <a:fillRect/>
          </a:stretch>
        </p:blipFill>
        <p:spPr>
          <a:xfrm>
            <a:off x="6745072" y="2139696"/>
            <a:ext cx="292608" cy="292608"/>
          </a:xfrm>
          <a:prstGeom prst="rect">
            <a:avLst/>
          </a:prstGeom>
        </p:spPr>
      </p:pic>
      <p:sp>
        <p:nvSpPr>
          <p:cNvPr id="12" name="Text 8"/>
          <p:cNvSpPr/>
          <p:nvPr/>
        </p:nvSpPr>
        <p:spPr>
          <a:xfrm>
            <a:off x="7357720" y="198424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Multi-lingual</a:t>
            </a:r>
            <a:endParaRPr lang="en-US" sz="1550" dirty="0"/>
          </a:p>
        </p:txBody>
      </p:sp>
      <p:sp>
        <p:nvSpPr>
          <p:cNvPr id="13" name="Text 9"/>
          <p:cNvSpPr/>
          <p:nvPr/>
        </p:nvSpPr>
        <p:spPr>
          <a:xfrm>
            <a:off x="6626200" y="267919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Per-turn language detection; the language is remembered and carried.</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Start Web/English, continue Phone/Spanish — same thread, same memory.</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Extensible to Vertex Translation for long-tail locales.</a:t>
            </a:r>
            <a:endParaRPr lang="en-US" sz="1200" dirty="0"/>
          </a:p>
        </p:txBody>
      </p:sp>
      <p:sp>
        <p:nvSpPr>
          <p:cNvPr id="14" name="Shape 10"/>
          <p:cNvSpPr/>
          <p:nvPr/>
        </p:nvSpPr>
        <p:spPr>
          <a:xfrm>
            <a:off x="502920"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740664" y="4334256"/>
            <a:ext cx="566928" cy="566928"/>
          </a:xfrm>
          <a:prstGeom prst="roundRect">
            <a:avLst>
              <a:gd name="adj" fmla="val 19355"/>
            </a:avLst>
          </a:prstGeom>
          <a:solidFill>
            <a:srgbClr val="0D9488"/>
          </a:solidFill>
          <a:ln/>
        </p:spPr>
      </p:sp>
      <p:pic>
        <p:nvPicPr>
          <p:cNvPr id="16" name="Image 2" descr="icons/mobile.png">    </p:cNvPr>
          <p:cNvPicPr>
            <a:picLocks noChangeAspect="1"/>
          </p:cNvPicPr>
          <p:nvPr/>
        </p:nvPicPr>
        <p:blipFill>
          <a:blip r:embed="rId3"/>
          <a:stretch>
            <a:fillRect/>
          </a:stretch>
        </p:blipFill>
        <p:spPr>
          <a:xfrm>
            <a:off x="877824" y="4471416"/>
            <a:ext cx="292608" cy="292608"/>
          </a:xfrm>
          <a:prstGeom prst="rect">
            <a:avLst/>
          </a:prstGeom>
        </p:spPr>
      </p:pic>
      <p:sp>
        <p:nvSpPr>
          <p:cNvPr id="17" name="Text 12"/>
          <p:cNvSpPr/>
          <p:nvPr/>
        </p:nvSpPr>
        <p:spPr>
          <a:xfrm>
            <a:off x="1490472"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Multi-channel</a:t>
            </a:r>
            <a:endParaRPr lang="en-US" sz="1550" dirty="0"/>
          </a:p>
        </p:txBody>
      </p:sp>
      <p:sp>
        <p:nvSpPr>
          <p:cNvPr id="18" name="Text 13"/>
          <p:cNvSpPr/>
          <p:nvPr/>
        </p:nvSpPr>
        <p:spPr>
          <a:xfrm>
            <a:off x="758952"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Web side-panel + a Phone (voice) channel rendered as a mobile simulator.</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Channel-aware formatting (voice-safe text for phone).</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Path to telephony / CCAI for true phone &amp; SMS.</a:t>
            </a:r>
            <a:endParaRPr lang="en-US" sz="1200" dirty="0"/>
          </a:p>
        </p:txBody>
      </p:sp>
      <p:sp>
        <p:nvSpPr>
          <p:cNvPr id="19" name="Shape 14"/>
          <p:cNvSpPr/>
          <p:nvPr/>
        </p:nvSpPr>
        <p:spPr>
          <a:xfrm>
            <a:off x="6370168" y="4114800"/>
            <a:ext cx="5318608" cy="2057400"/>
          </a:xfrm>
          <a:prstGeom prst="roundRect">
            <a:avLst>
              <a:gd name="adj" fmla="val 400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6607912" y="4334256"/>
            <a:ext cx="566928" cy="566928"/>
          </a:xfrm>
          <a:prstGeom prst="roundRect">
            <a:avLst>
              <a:gd name="adj" fmla="val 19355"/>
            </a:avLst>
          </a:prstGeom>
          <a:solidFill>
            <a:srgbClr val="E11D48"/>
          </a:solidFill>
          <a:ln/>
        </p:spPr>
      </p:sp>
      <p:pic>
        <p:nvPicPr>
          <p:cNvPr id="21" name="Image 3" descr="icons/layers.png">    </p:cNvPr>
          <p:cNvPicPr>
            <a:picLocks noChangeAspect="1"/>
          </p:cNvPicPr>
          <p:nvPr/>
        </p:nvPicPr>
        <p:blipFill>
          <a:blip r:embed="rId4"/>
          <a:stretch>
            <a:fillRect/>
          </a:stretch>
        </p:blipFill>
        <p:spPr>
          <a:xfrm>
            <a:off x="6745072" y="4471416"/>
            <a:ext cx="292608" cy="292608"/>
          </a:xfrm>
          <a:prstGeom prst="rect">
            <a:avLst/>
          </a:prstGeom>
        </p:spPr>
      </p:pic>
      <p:sp>
        <p:nvSpPr>
          <p:cNvPr id="22" name="Text 16"/>
          <p:cNvSpPr/>
          <p:nvPr/>
        </p:nvSpPr>
        <p:spPr>
          <a:xfrm>
            <a:off x="7357720" y="4315968"/>
            <a:ext cx="4129888" cy="603504"/>
          </a:xfrm>
          <a:prstGeom prst="rect">
            <a:avLst/>
          </a:prstGeom>
          <a:noFill/>
          <a:ln/>
        </p:spPr>
        <p:txBody>
          <a:bodyPr wrap="square" lIns="0" tIns="0" rIns="0" bIns="0" rtlCol="0" anchor="ctr"/>
          <a:lstStyle/>
          <a:p>
            <a:pPr indent="0" marL="0">
              <a:buNone/>
            </a:pPr>
            <a:r>
              <a:rPr lang="en-US" sz="1550" b="1" dirty="0">
                <a:solidFill>
                  <a:srgbClr val="0F172A"/>
                </a:solidFill>
                <a:latin typeface="Calibri" pitchFamily="34" charset="0"/>
                <a:ea typeface="Calibri" pitchFamily="34" charset="-122"/>
                <a:cs typeface="Calibri" pitchFamily="34" charset="-120"/>
              </a:rPr>
              <a:t>Multi-modal</a:t>
            </a:r>
            <a:endParaRPr lang="en-US" sz="1550" dirty="0"/>
          </a:p>
        </p:txBody>
      </p:sp>
      <p:sp>
        <p:nvSpPr>
          <p:cNvPr id="23" name="Text 17"/>
          <p:cNvSpPr/>
          <p:nvPr/>
        </p:nvSpPr>
        <p:spPr>
          <a:xfrm>
            <a:off x="6626200" y="5010912"/>
            <a:ext cx="4861408" cy="101498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Text, voice (browser STT + TTS), file upload (e.g. bulk order CSV).</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Camera “see-it-shop-it” — a dedicated Gemini Vision agent.</a:t>
            </a:r>
            <a:endParaRPr lang="en-US" sz="1200" dirty="0"/>
          </a:p>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Each modality detected deterministically, then routed.</a:t>
            </a:r>
            <a:endParaRPr lang="en-US" sz="1200" dirty="0"/>
          </a:p>
        </p:txBody>
      </p:sp>
      <p:sp>
        <p:nvSpPr>
          <p:cNvPr id="24" name="Text 18"/>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25" name="Text 19"/>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8</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59E0B"/>
                </a:solidFill>
                <a:latin typeface="Calibri" pitchFamily="34" charset="0"/>
                <a:ea typeface="Calibri" pitchFamily="34" charset="-122"/>
                <a:cs typeface="Calibri" pitchFamily="34" charset="-120"/>
              </a:rPr>
              <a:t>ARCHITECTURAL DECISIONS &amp; TRADE-OFFS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Why this custom design — defending the engineering choices</a:t>
            </a:r>
            <a:endParaRPr lang="en-US" sz="2800" dirty="0"/>
          </a:p>
        </p:txBody>
      </p:sp>
      <p:sp>
        <p:nvSpPr>
          <p:cNvPr id="4" name="Shape 2"/>
          <p:cNvSpPr/>
          <p:nvPr/>
        </p:nvSpPr>
        <p:spPr>
          <a:xfrm>
            <a:off x="502920" y="1664208"/>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847088"/>
            <a:ext cx="420624" cy="420624"/>
          </a:xfrm>
          <a:prstGeom prst="roundRect">
            <a:avLst>
              <a:gd name="adj" fmla="val 21739"/>
            </a:avLst>
          </a:prstGeom>
          <a:solidFill>
            <a:srgbClr val="7C3AED"/>
          </a:solidFill>
          <a:ln/>
        </p:spPr>
      </p:sp>
      <p:pic>
        <p:nvPicPr>
          <p:cNvPr id="6" name="Image 0" descr="icons/lock.png">    </p:cNvPr>
          <p:cNvPicPr>
            <a:picLocks noChangeAspect="1"/>
          </p:cNvPicPr>
          <p:nvPr/>
        </p:nvPicPr>
        <p:blipFill>
          <a:blip r:embed="rId1"/>
          <a:stretch>
            <a:fillRect/>
          </a:stretch>
        </p:blipFill>
        <p:spPr>
          <a:xfrm>
            <a:off x="786384" y="1947672"/>
            <a:ext cx="219456" cy="219456"/>
          </a:xfrm>
          <a:prstGeom prst="rect">
            <a:avLst/>
          </a:prstGeom>
        </p:spPr>
      </p:pic>
      <p:sp>
        <p:nvSpPr>
          <p:cNvPr id="7" name="Text 4"/>
          <p:cNvSpPr/>
          <p:nvPr/>
        </p:nvSpPr>
        <p:spPr>
          <a:xfrm>
            <a:off x="1216152" y="1792224"/>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Deterministic transactional gate</a:t>
            </a:r>
            <a:endParaRPr lang="en-US" sz="1300" dirty="0"/>
          </a:p>
        </p:txBody>
      </p:sp>
      <p:sp>
        <p:nvSpPr>
          <p:cNvPr id="8" name="Text 5"/>
          <p:cNvSpPr/>
          <p:nvPr/>
        </p:nvSpPr>
        <p:spPr>
          <a:xfrm>
            <a:off x="1216152" y="2066544"/>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the LLM places orders</a:t>
            </a:r>
            <a:endParaRPr lang="en-US" sz="1000" dirty="0"/>
          </a:p>
        </p:txBody>
      </p:sp>
      <p:sp>
        <p:nvSpPr>
          <p:cNvPr id="9" name="Text 6"/>
          <p:cNvSpPr/>
          <p:nvPr/>
        </p:nvSpPr>
        <p:spPr>
          <a:xfrm>
            <a:off x="704088" y="2322576"/>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Money/inventory = auditable code, never a hallucinated purchase.</a:t>
            </a:r>
            <a:endParaRPr lang="en-US" sz="1050" dirty="0"/>
          </a:p>
        </p:txBody>
      </p:sp>
      <p:sp>
        <p:nvSpPr>
          <p:cNvPr id="10" name="Shape 7"/>
          <p:cNvSpPr/>
          <p:nvPr/>
        </p:nvSpPr>
        <p:spPr>
          <a:xfrm>
            <a:off x="6324448" y="1664208"/>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847088"/>
            <a:ext cx="420624" cy="420624"/>
          </a:xfrm>
          <a:prstGeom prst="roundRect">
            <a:avLst>
              <a:gd name="adj" fmla="val 21739"/>
            </a:avLst>
          </a:prstGeom>
          <a:solidFill>
            <a:srgbClr val="7C3AED"/>
          </a:solidFill>
          <a:ln/>
        </p:spPr>
      </p:sp>
      <p:pic>
        <p:nvPicPr>
          <p:cNvPr id="12" name="Image 1" descr="icons/sitemap.png">    </p:cNvPr>
          <p:cNvPicPr>
            <a:picLocks noChangeAspect="1"/>
          </p:cNvPicPr>
          <p:nvPr/>
        </p:nvPicPr>
        <p:blipFill>
          <a:blip r:embed="rId2"/>
          <a:stretch>
            <a:fillRect/>
          </a:stretch>
        </p:blipFill>
        <p:spPr>
          <a:xfrm>
            <a:off x="6607912" y="1947672"/>
            <a:ext cx="219456" cy="219456"/>
          </a:xfrm>
          <a:prstGeom prst="rect">
            <a:avLst/>
          </a:prstGeom>
        </p:spPr>
      </p:pic>
      <p:sp>
        <p:nvSpPr>
          <p:cNvPr id="13" name="Text 9"/>
          <p:cNvSpPr/>
          <p:nvPr/>
        </p:nvSpPr>
        <p:spPr>
          <a:xfrm>
            <a:off x="7037680" y="1792224"/>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Agent-as-tool (not transfer)</a:t>
            </a:r>
            <a:endParaRPr lang="en-US" sz="1300" dirty="0"/>
          </a:p>
        </p:txBody>
      </p:sp>
      <p:sp>
        <p:nvSpPr>
          <p:cNvPr id="14" name="Text 10"/>
          <p:cNvSpPr/>
          <p:nvPr/>
        </p:nvSpPr>
        <p:spPr>
          <a:xfrm>
            <a:off x="7037680" y="2066544"/>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sub_agents / transfer</a:t>
            </a:r>
            <a:endParaRPr lang="en-US" sz="1000" dirty="0"/>
          </a:p>
        </p:txBody>
      </p:sp>
      <p:sp>
        <p:nvSpPr>
          <p:cNvPr id="15" name="Text 11"/>
          <p:cNvSpPr/>
          <p:nvPr/>
        </p:nvSpPr>
        <p:spPr>
          <a:xfrm>
            <a:off x="6525616" y="2322576"/>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Workers can't hand control back → delegation loops can't form.</a:t>
            </a:r>
            <a:endParaRPr lang="en-US" sz="1050" dirty="0"/>
          </a:p>
        </p:txBody>
      </p:sp>
      <p:sp>
        <p:nvSpPr>
          <p:cNvPr id="16" name="Shape 12"/>
          <p:cNvSpPr/>
          <p:nvPr/>
        </p:nvSpPr>
        <p:spPr>
          <a:xfrm>
            <a:off x="502920" y="2871216"/>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054096"/>
            <a:ext cx="420624" cy="420624"/>
          </a:xfrm>
          <a:prstGeom prst="roundRect">
            <a:avLst>
              <a:gd name="adj" fmla="val 21739"/>
            </a:avLst>
          </a:prstGeom>
          <a:solidFill>
            <a:srgbClr val="7C3AED"/>
          </a:solidFill>
          <a:ln/>
        </p:spPr>
      </p:sp>
      <p:pic>
        <p:nvPicPr>
          <p:cNvPr id="18" name="Image 2" descr="icons/cog.png">    </p:cNvPr>
          <p:cNvPicPr>
            <a:picLocks noChangeAspect="1"/>
          </p:cNvPicPr>
          <p:nvPr/>
        </p:nvPicPr>
        <p:blipFill>
          <a:blip r:embed="rId3"/>
          <a:stretch>
            <a:fillRect/>
          </a:stretch>
        </p:blipFill>
        <p:spPr>
          <a:xfrm>
            <a:off x="786384" y="3154680"/>
            <a:ext cx="219456" cy="219456"/>
          </a:xfrm>
          <a:prstGeom prst="rect">
            <a:avLst/>
          </a:prstGeom>
        </p:spPr>
      </p:pic>
      <p:sp>
        <p:nvSpPr>
          <p:cNvPr id="19" name="Text 14"/>
          <p:cNvSpPr/>
          <p:nvPr/>
        </p:nvSpPr>
        <p:spPr>
          <a:xfrm>
            <a:off x="1216152" y="2999232"/>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Deterministic pre-processing</a:t>
            </a:r>
            <a:endParaRPr lang="en-US" sz="1300" dirty="0"/>
          </a:p>
        </p:txBody>
      </p:sp>
      <p:sp>
        <p:nvSpPr>
          <p:cNvPr id="20" name="Text 15"/>
          <p:cNvSpPr/>
          <p:nvPr/>
        </p:nvSpPr>
        <p:spPr>
          <a:xfrm>
            <a:off x="1216152" y="3273552"/>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modality/lang as LLM agents</a:t>
            </a:r>
            <a:endParaRPr lang="en-US" sz="1000" dirty="0"/>
          </a:p>
        </p:txBody>
      </p:sp>
      <p:sp>
        <p:nvSpPr>
          <p:cNvPr id="21" name="Text 16"/>
          <p:cNvSpPr/>
          <p:nvPr/>
        </p:nvSpPr>
        <p:spPr>
          <a:xfrm>
            <a:off x="704088" y="3529584"/>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No intelligence needed → plain code is reliable &amp; free.</a:t>
            </a:r>
            <a:endParaRPr lang="en-US" sz="1050" dirty="0"/>
          </a:p>
        </p:txBody>
      </p:sp>
      <p:sp>
        <p:nvSpPr>
          <p:cNvPr id="22" name="Shape 17"/>
          <p:cNvSpPr/>
          <p:nvPr/>
        </p:nvSpPr>
        <p:spPr>
          <a:xfrm>
            <a:off x="6324448" y="2871216"/>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054096"/>
            <a:ext cx="420624" cy="420624"/>
          </a:xfrm>
          <a:prstGeom prst="roundRect">
            <a:avLst>
              <a:gd name="adj" fmla="val 21739"/>
            </a:avLst>
          </a:prstGeom>
          <a:solidFill>
            <a:srgbClr val="7C3AED"/>
          </a:solidFill>
          <a:ln/>
        </p:spPr>
      </p:sp>
      <p:pic>
        <p:nvPicPr>
          <p:cNvPr id="24" name="Image 3" descr="icons/brain.png">    </p:cNvPr>
          <p:cNvPicPr>
            <a:picLocks noChangeAspect="1"/>
          </p:cNvPicPr>
          <p:nvPr/>
        </p:nvPicPr>
        <p:blipFill>
          <a:blip r:embed="rId4"/>
          <a:stretch>
            <a:fillRect/>
          </a:stretch>
        </p:blipFill>
        <p:spPr>
          <a:xfrm>
            <a:off x="6607912" y="3154680"/>
            <a:ext cx="219456" cy="219456"/>
          </a:xfrm>
          <a:prstGeom prst="rect">
            <a:avLst/>
          </a:prstGeom>
        </p:spPr>
      </p:pic>
      <p:sp>
        <p:nvSpPr>
          <p:cNvPr id="25" name="Text 19"/>
          <p:cNvSpPr/>
          <p:nvPr/>
        </p:nvSpPr>
        <p:spPr>
          <a:xfrm>
            <a:off x="7037680" y="2999232"/>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Native function-calling</a:t>
            </a:r>
            <a:endParaRPr lang="en-US" sz="1300" dirty="0"/>
          </a:p>
        </p:txBody>
      </p:sp>
      <p:sp>
        <p:nvSpPr>
          <p:cNvPr id="26" name="Text 20"/>
          <p:cNvSpPr/>
          <p:nvPr/>
        </p:nvSpPr>
        <p:spPr>
          <a:xfrm>
            <a:off x="7037680" y="3273552"/>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ReAct everywhere</a:t>
            </a:r>
            <a:endParaRPr lang="en-US" sz="1000" dirty="0"/>
          </a:p>
        </p:txBody>
      </p:sp>
      <p:sp>
        <p:nvSpPr>
          <p:cNvPr id="27" name="Text 21"/>
          <p:cNvSpPr/>
          <p:nvPr/>
        </p:nvSpPr>
        <p:spPr>
          <a:xfrm>
            <a:off x="6525616" y="3529584"/>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No brittle text parsing; explicit ReAct only for the read-only advisor.</a:t>
            </a:r>
            <a:endParaRPr lang="en-US" sz="1050" dirty="0"/>
          </a:p>
        </p:txBody>
      </p:sp>
      <p:sp>
        <p:nvSpPr>
          <p:cNvPr id="28" name="Shape 22"/>
          <p:cNvSpPr/>
          <p:nvPr/>
        </p:nvSpPr>
        <p:spPr>
          <a:xfrm>
            <a:off x="502920" y="4078224"/>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261104"/>
            <a:ext cx="420624" cy="420624"/>
          </a:xfrm>
          <a:prstGeom prst="roundRect">
            <a:avLst>
              <a:gd name="adj" fmla="val 21739"/>
            </a:avLst>
          </a:prstGeom>
          <a:solidFill>
            <a:srgbClr val="7C3AED"/>
          </a:solidFill>
          <a:ln/>
        </p:spPr>
      </p:sp>
      <p:pic>
        <p:nvPicPr>
          <p:cNvPr id="30" name="Image 4" descr="icons/check.png">    </p:cNvPr>
          <p:cNvPicPr>
            <a:picLocks noChangeAspect="1"/>
          </p:cNvPicPr>
          <p:nvPr/>
        </p:nvPicPr>
        <p:blipFill>
          <a:blip r:embed="rId5"/>
          <a:stretch>
            <a:fillRect/>
          </a:stretch>
        </p:blipFill>
        <p:spPr>
          <a:xfrm>
            <a:off x="786384" y="4361688"/>
            <a:ext cx="219456" cy="219456"/>
          </a:xfrm>
          <a:prstGeom prst="rect">
            <a:avLst/>
          </a:prstGeom>
        </p:spPr>
      </p:pic>
      <p:sp>
        <p:nvSpPr>
          <p:cNvPr id="31" name="Text 24"/>
          <p:cNvSpPr/>
          <p:nvPr/>
        </p:nvSpPr>
        <p:spPr>
          <a:xfrm>
            <a:off x="1216152" y="4206240"/>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LLM-as-judge (RSI critic)</a:t>
            </a:r>
            <a:endParaRPr lang="en-US" sz="1300" dirty="0"/>
          </a:p>
        </p:txBody>
      </p:sp>
      <p:sp>
        <p:nvSpPr>
          <p:cNvPr id="32" name="Text 25"/>
          <p:cNvSpPr/>
          <p:nvPr/>
        </p:nvSpPr>
        <p:spPr>
          <a:xfrm>
            <a:off x="1216152" y="4480560"/>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an ADK / ReAct critic</a:t>
            </a:r>
            <a:endParaRPr lang="en-US" sz="1000" dirty="0"/>
          </a:p>
        </p:txBody>
      </p:sp>
      <p:sp>
        <p:nvSpPr>
          <p:cNvPr id="33" name="Text 26"/>
          <p:cNvSpPr/>
          <p:nvPr/>
        </p:nvSpPr>
        <p:spPr>
          <a:xfrm>
            <a:off x="704088" y="4736592"/>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Judging a failure is ONE structured call — no tool loop needed.</a:t>
            </a:r>
            <a:endParaRPr lang="en-US" sz="1050" dirty="0"/>
          </a:p>
        </p:txBody>
      </p:sp>
      <p:sp>
        <p:nvSpPr>
          <p:cNvPr id="34" name="Shape 27"/>
          <p:cNvSpPr/>
          <p:nvPr/>
        </p:nvSpPr>
        <p:spPr>
          <a:xfrm>
            <a:off x="6324448" y="4078224"/>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261104"/>
            <a:ext cx="420624" cy="420624"/>
          </a:xfrm>
          <a:prstGeom prst="roundRect">
            <a:avLst>
              <a:gd name="adj" fmla="val 21739"/>
            </a:avLst>
          </a:prstGeom>
          <a:solidFill>
            <a:srgbClr val="7C3AED"/>
          </a:solidFill>
          <a:ln/>
        </p:spPr>
      </p:sp>
      <p:pic>
        <p:nvPicPr>
          <p:cNvPr id="36" name="Image 5" descr="icons/cloud.png">    </p:cNvPr>
          <p:cNvPicPr>
            <a:picLocks noChangeAspect="1"/>
          </p:cNvPicPr>
          <p:nvPr/>
        </p:nvPicPr>
        <p:blipFill>
          <a:blip r:embed="rId6"/>
          <a:stretch>
            <a:fillRect/>
          </a:stretch>
        </p:blipFill>
        <p:spPr>
          <a:xfrm>
            <a:off x="6607912" y="4361688"/>
            <a:ext cx="219456" cy="219456"/>
          </a:xfrm>
          <a:prstGeom prst="rect">
            <a:avLst/>
          </a:prstGeom>
        </p:spPr>
      </p:pic>
      <p:sp>
        <p:nvSpPr>
          <p:cNvPr id="37" name="Text 29"/>
          <p:cNvSpPr/>
          <p:nvPr/>
        </p:nvSpPr>
        <p:spPr>
          <a:xfrm>
            <a:off x="7037680" y="4206240"/>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One Gemini model on Vertex</a:t>
            </a:r>
            <a:endParaRPr lang="en-US" sz="1300" dirty="0"/>
          </a:p>
        </p:txBody>
      </p:sp>
      <p:sp>
        <p:nvSpPr>
          <p:cNvPr id="38" name="Text 30"/>
          <p:cNvSpPr/>
          <p:nvPr/>
        </p:nvSpPr>
        <p:spPr>
          <a:xfrm>
            <a:off x="7037680" y="4480560"/>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many models / self-host</a:t>
            </a:r>
            <a:endParaRPr lang="en-US" sz="1000" dirty="0"/>
          </a:p>
        </p:txBody>
      </p:sp>
      <p:sp>
        <p:nvSpPr>
          <p:cNvPr id="39" name="Text 31"/>
          <p:cNvSpPr/>
          <p:nvPr/>
        </p:nvSpPr>
        <p:spPr>
          <a:xfrm>
            <a:off x="6525616" y="4736592"/>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Reasoning + language + vision in one managed model — less ops.</a:t>
            </a:r>
            <a:endParaRPr lang="en-US" sz="1050" dirty="0"/>
          </a:p>
        </p:txBody>
      </p:sp>
      <p:sp>
        <p:nvSpPr>
          <p:cNvPr id="40" name="Shape 32"/>
          <p:cNvSpPr/>
          <p:nvPr/>
        </p:nvSpPr>
        <p:spPr>
          <a:xfrm>
            <a:off x="502920" y="5285232"/>
            <a:ext cx="5364328" cy="1078992"/>
          </a:xfrm>
          <a:prstGeom prst="roundRect">
            <a:avLst>
              <a:gd name="adj" fmla="val 6780"/>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41" name="Shape 33"/>
          <p:cNvSpPr/>
          <p:nvPr/>
        </p:nvSpPr>
        <p:spPr>
          <a:xfrm>
            <a:off x="685800" y="5468112"/>
            <a:ext cx="420624" cy="420624"/>
          </a:xfrm>
          <a:prstGeom prst="roundRect">
            <a:avLst>
              <a:gd name="adj" fmla="val 21739"/>
            </a:avLst>
          </a:prstGeom>
          <a:solidFill>
            <a:srgbClr val="7C3AED"/>
          </a:solidFill>
          <a:ln/>
        </p:spPr>
      </p:sp>
      <p:pic>
        <p:nvPicPr>
          <p:cNvPr id="42" name="Image 6" descr="icons/sync.png">    </p:cNvPr>
          <p:cNvPicPr>
            <a:picLocks noChangeAspect="1"/>
          </p:cNvPicPr>
          <p:nvPr/>
        </p:nvPicPr>
        <p:blipFill>
          <a:blip r:embed="rId7"/>
          <a:stretch>
            <a:fillRect/>
          </a:stretch>
        </p:blipFill>
        <p:spPr>
          <a:xfrm>
            <a:off x="786384" y="5568696"/>
            <a:ext cx="219456" cy="219456"/>
          </a:xfrm>
          <a:prstGeom prst="rect">
            <a:avLst/>
          </a:prstGeom>
        </p:spPr>
      </p:pic>
      <p:sp>
        <p:nvSpPr>
          <p:cNvPr id="43" name="Text 34"/>
          <p:cNvSpPr/>
          <p:nvPr/>
        </p:nvSpPr>
        <p:spPr>
          <a:xfrm>
            <a:off x="1216152" y="5413248"/>
            <a:ext cx="4486504" cy="274320"/>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Graceful fallback + self-heal</a:t>
            </a:r>
            <a:endParaRPr lang="en-US" sz="1300" dirty="0"/>
          </a:p>
        </p:txBody>
      </p:sp>
      <p:sp>
        <p:nvSpPr>
          <p:cNvPr id="44" name="Text 35"/>
          <p:cNvSpPr/>
          <p:nvPr/>
        </p:nvSpPr>
        <p:spPr>
          <a:xfrm>
            <a:off x="1216152" y="5687568"/>
            <a:ext cx="4486504" cy="219456"/>
          </a:xfrm>
          <a:prstGeom prst="rect">
            <a:avLst/>
          </a:prstGeom>
          <a:noFill/>
          <a:ln/>
        </p:spPr>
        <p:txBody>
          <a:bodyPr wrap="square" lIns="0" tIns="0" rIns="0" bIns="0" rtlCol="0" anchor="ctr"/>
          <a:lstStyle/>
          <a:p>
            <a:pPr indent="0" marL="0">
              <a:buNone/>
            </a:pPr>
            <a:r>
              <a:rPr lang="en-US" sz="1000" i="1" dirty="0">
                <a:solidFill>
                  <a:srgbClr val="E11D48"/>
                </a:solidFill>
                <a:latin typeface="Calibri" pitchFamily="34" charset="0"/>
                <a:ea typeface="Calibri" pitchFamily="34" charset="-122"/>
                <a:cs typeface="Calibri" pitchFamily="34" charset="-120"/>
              </a:rPr>
              <a:t>vs </a:t>
            </a:r>
            <a:pPr indent="0" marL="0">
              <a:buNone/>
            </a:pPr>
            <a:r>
              <a:rPr lang="en-US" sz="1000" i="1" dirty="0">
                <a:solidFill>
                  <a:srgbClr val="8A94A6"/>
                </a:solidFill>
                <a:latin typeface="Calibri" pitchFamily="34" charset="0"/>
                <a:ea typeface="Calibri" pitchFamily="34" charset="-122"/>
                <a:cs typeface="Calibri" pitchFamily="34" charset="-120"/>
              </a:rPr>
              <a:t>fail the request</a:t>
            </a:r>
            <a:endParaRPr lang="en-US" sz="1000" dirty="0"/>
          </a:p>
        </p:txBody>
      </p:sp>
      <p:sp>
        <p:nvSpPr>
          <p:cNvPr id="45" name="Text 36"/>
          <p:cNvSpPr/>
          <p:nvPr/>
        </p:nvSpPr>
        <p:spPr>
          <a:xfrm>
            <a:off x="704088" y="5943600"/>
            <a:ext cx="4980280" cy="384048"/>
          </a:xfrm>
          <a:prstGeom prst="rect">
            <a:avLst/>
          </a:prstGeom>
          <a:noFill/>
          <a:ln/>
        </p:spPr>
        <p:txBody>
          <a:bodyPr wrap="square" lIns="0" tIns="0" rIns="0" bIns="0" rtlCol="0" anchor="t"/>
          <a:lstStyle/>
          <a:p>
            <a:pPr indent="0" marL="0">
              <a:buNone/>
            </a:pPr>
            <a:r>
              <a:rPr lang="en-US" sz="1050" dirty="0">
                <a:solidFill>
                  <a:srgbClr val="5B6577"/>
                </a:solidFill>
                <a:latin typeface="Calibri" pitchFamily="34" charset="0"/>
                <a:ea typeface="Calibri" pitchFamily="34" charset="-122"/>
                <a:cs typeface="Calibri" pitchFamily="34" charset="-120"/>
              </a:rPr>
              <a:t>Degrade, don't go down — fallback engine + Guardian heal-forward.</a:t>
            </a:r>
            <a:endParaRPr lang="en-US" sz="1050" dirty="0"/>
          </a:p>
        </p:txBody>
      </p:sp>
      <p:sp>
        <p:nvSpPr>
          <p:cNvPr id="46" name="Shape 37"/>
          <p:cNvSpPr/>
          <p:nvPr/>
        </p:nvSpPr>
        <p:spPr>
          <a:xfrm>
            <a:off x="6324448" y="5285232"/>
            <a:ext cx="5364328" cy="1078992"/>
          </a:xfrm>
          <a:prstGeom prst="roundRect">
            <a:avLst>
              <a:gd name="adj" fmla="val 6780"/>
            </a:avLst>
          </a:prstGeom>
          <a:solidFill>
            <a:srgbClr val="7C3AED"/>
          </a:solidFill>
          <a:ln/>
          <a:effectLst>
            <a:outerShdw sx="100000" sy="100000" kx="0" ky="0" algn="bl" rotWithShape="0" blurRad="114300" dist="38100" dir="8100000">
              <a:srgbClr val="0F172A">
                <a:alpha val="16000"/>
              </a:srgbClr>
            </a:outerShdw>
          </a:effectLst>
        </p:spPr>
      </p:sp>
      <p:sp>
        <p:nvSpPr>
          <p:cNvPr id="47" name="Shape 38"/>
          <p:cNvSpPr/>
          <p:nvPr/>
        </p:nvSpPr>
        <p:spPr>
          <a:xfrm>
            <a:off x="6507328" y="5468112"/>
            <a:ext cx="420624" cy="420624"/>
          </a:xfrm>
          <a:prstGeom prst="roundRect">
            <a:avLst>
              <a:gd name="adj" fmla="val 21739"/>
            </a:avLst>
          </a:prstGeom>
          <a:solidFill>
            <a:srgbClr val="FFFFFF">
              <a:alpha val="20000"/>
            </a:srgbClr>
          </a:solidFill>
          <a:ln/>
        </p:spPr>
      </p:sp>
      <p:pic>
        <p:nvPicPr>
          <p:cNvPr id="48" name="Image 7" descr="icons/bulb.png">    </p:cNvPr>
          <p:cNvPicPr>
            <a:picLocks noChangeAspect="1"/>
          </p:cNvPicPr>
          <p:nvPr/>
        </p:nvPicPr>
        <p:blipFill>
          <a:blip r:embed="rId8"/>
          <a:stretch>
            <a:fillRect/>
          </a:stretch>
        </p:blipFill>
        <p:spPr>
          <a:xfrm>
            <a:off x="6607912" y="5568696"/>
            <a:ext cx="219456" cy="219456"/>
          </a:xfrm>
          <a:prstGeom prst="rect">
            <a:avLst/>
          </a:prstGeom>
        </p:spPr>
      </p:pic>
      <p:sp>
        <p:nvSpPr>
          <p:cNvPr id="49" name="Text 39"/>
          <p:cNvSpPr/>
          <p:nvPr/>
        </p:nvSpPr>
        <p:spPr>
          <a:xfrm>
            <a:off x="7037680" y="5449824"/>
            <a:ext cx="4486504" cy="274320"/>
          </a:xfrm>
          <a:prstGeom prst="rect">
            <a:avLst/>
          </a:prstGeom>
          <a:noFill/>
          <a:ln/>
        </p:spPr>
        <p:txBody>
          <a:bodyPr wrap="square" lIns="0" tIns="0" rIns="0" bIns="0" rtlCol="0" anchor="ctr"/>
          <a:lstStyle/>
          <a:p>
            <a:pPr indent="0" marL="0">
              <a:buNone/>
            </a:pPr>
            <a:r>
              <a:rPr lang="en-US" sz="1300" b="1" dirty="0">
                <a:solidFill>
                  <a:srgbClr val="FFFFFF"/>
                </a:solidFill>
                <a:latin typeface="Calibri" pitchFamily="34" charset="0"/>
                <a:ea typeface="Calibri" pitchFamily="34" charset="-122"/>
                <a:cs typeface="Calibri" pitchFamily="34" charset="-120"/>
              </a:rPr>
              <a:t>Full trade-off log</a:t>
            </a:r>
            <a:endParaRPr lang="en-US" sz="1300" dirty="0"/>
          </a:p>
        </p:txBody>
      </p:sp>
      <p:sp>
        <p:nvSpPr>
          <p:cNvPr id="50" name="Text 40"/>
          <p:cNvSpPr/>
          <p:nvPr/>
        </p:nvSpPr>
        <p:spPr>
          <a:xfrm>
            <a:off x="6525616" y="5852160"/>
            <a:ext cx="4980280" cy="457200"/>
          </a:xfrm>
          <a:prstGeom prst="rect">
            <a:avLst/>
          </a:prstGeom>
          <a:noFill/>
          <a:ln/>
        </p:spPr>
        <p:txBody>
          <a:bodyPr wrap="square" lIns="0" tIns="0" rIns="0" bIns="0" rtlCol="0" anchor="t"/>
          <a:lstStyle/>
          <a:p>
            <a:pPr indent="0" marL="0">
              <a:buNone/>
            </a:pPr>
            <a:r>
              <a:rPr lang="en-US" sz="1050" dirty="0">
                <a:solidFill>
                  <a:srgbClr val="EDE7FB"/>
                </a:solidFill>
                <a:latin typeface="Calibri" pitchFamily="34" charset="0"/>
                <a:ea typeface="Calibri" pitchFamily="34" charset="-122"/>
                <a:cs typeface="Calibri" pitchFamily="34" charset="-120"/>
              </a:rPr>
              <a:t>TRADEOFFS.md — every decision: options considered → chosen → why / cost accepted.</a:t>
            </a:r>
            <a:endParaRPr lang="en-US" sz="1050" dirty="0"/>
          </a:p>
        </p:txBody>
      </p:sp>
      <p:sp>
        <p:nvSpPr>
          <p:cNvPr id="51" name="Text 4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52" name="Text 4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9</a:t>
            </a:r>
            <a:endParaRPr lang="en-US" sz="900" dirty="0"/>
          </a:p>
        </p:txBody>
      </p:sp>
    </p:spTree>
  </p:cSld>
  <p:clrMapOvr>
    <a:masterClrMapping/>
  </p:clrMapOvr>
  <p:transition spd="med">
    <p:fade/>
  </p:transition>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HANDS-ON · THE HARD PARTS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Engineering challenges — and how we unblocked them</a:t>
            </a:r>
            <a:endParaRPr lang="en-US" sz="2800" dirty="0"/>
          </a:p>
        </p:txBody>
      </p:sp>
      <p:sp>
        <p:nvSpPr>
          <p:cNvPr id="4" name="Shape 2"/>
          <p:cNvSpPr/>
          <p:nvPr/>
        </p:nvSpPr>
        <p:spPr>
          <a:xfrm>
            <a:off x="502920"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685800" y="1938528"/>
            <a:ext cx="457200" cy="457200"/>
          </a:xfrm>
          <a:prstGeom prst="roundRect">
            <a:avLst>
              <a:gd name="adj" fmla="val 20000"/>
            </a:avLst>
          </a:prstGeom>
          <a:solidFill>
            <a:srgbClr val="E11D48"/>
          </a:solidFill>
          <a:ln/>
        </p:spPr>
      </p:sp>
      <p:pic>
        <p:nvPicPr>
          <p:cNvPr id="6" name="Image 0" descr="icons/sitemap.png">    </p:cNvPr>
          <p:cNvPicPr>
            <a:picLocks noChangeAspect="1"/>
          </p:cNvPicPr>
          <p:nvPr/>
        </p:nvPicPr>
        <p:blipFill>
          <a:blip r:embed="rId1"/>
          <a:stretch>
            <a:fillRect/>
          </a:stretch>
        </p:blipFill>
        <p:spPr>
          <a:xfrm>
            <a:off x="795528" y="2048256"/>
            <a:ext cx="237744" cy="237744"/>
          </a:xfrm>
          <a:prstGeom prst="rect">
            <a:avLst/>
          </a:prstGeom>
        </p:spPr>
      </p:pic>
      <p:sp>
        <p:nvSpPr>
          <p:cNvPr id="7" name="Text 4"/>
          <p:cNvSpPr/>
          <p:nvPr/>
        </p:nvSpPr>
        <p:spPr>
          <a:xfrm>
            <a:off x="1252728"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Sub-agents skipped / ran out of order</a:t>
            </a:r>
            <a:endParaRPr lang="en-US" sz="1250" dirty="0"/>
          </a:p>
        </p:txBody>
      </p:sp>
      <p:sp>
        <p:nvSpPr>
          <p:cNvPr id="8" name="Text 5"/>
          <p:cNvSpPr/>
          <p:nvPr/>
        </p:nvSpPr>
        <p:spPr>
          <a:xfrm>
            <a:off x="1252728"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ADK let the LLM skip sub-agents; a SequentialAgent can't be an AgentTool.</a:t>
            </a:r>
            <a:endParaRPr lang="en-US" sz="1050" dirty="0"/>
          </a:p>
        </p:txBody>
      </p:sp>
      <p:sp>
        <p:nvSpPr>
          <p:cNvPr id="9" name="Text 6"/>
          <p:cNvSpPr/>
          <p:nvPr/>
        </p:nvSpPr>
        <p:spPr>
          <a:xfrm>
            <a:off x="704088"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Agent-as-tool composition + deterministic pre-processing (modality/lang/channel as plain code).</a:t>
            </a:r>
            <a:endParaRPr lang="en-US" sz="1100" dirty="0"/>
          </a:p>
        </p:txBody>
      </p:sp>
      <p:sp>
        <p:nvSpPr>
          <p:cNvPr id="10" name="Shape 7"/>
          <p:cNvSpPr/>
          <p:nvPr/>
        </p:nvSpPr>
        <p:spPr>
          <a:xfrm>
            <a:off x="6324448" y="173736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Shape 8"/>
          <p:cNvSpPr/>
          <p:nvPr/>
        </p:nvSpPr>
        <p:spPr>
          <a:xfrm>
            <a:off x="6507328" y="1938528"/>
            <a:ext cx="457200" cy="457200"/>
          </a:xfrm>
          <a:prstGeom prst="roundRect">
            <a:avLst>
              <a:gd name="adj" fmla="val 20000"/>
            </a:avLst>
          </a:prstGeom>
          <a:solidFill>
            <a:srgbClr val="E11D48"/>
          </a:solidFill>
          <a:ln/>
        </p:spPr>
      </p:sp>
      <p:pic>
        <p:nvPicPr>
          <p:cNvPr id="12" name="Image 1" descr="icons/brain.png">    </p:cNvPr>
          <p:cNvPicPr>
            <a:picLocks noChangeAspect="1"/>
          </p:cNvPicPr>
          <p:nvPr/>
        </p:nvPicPr>
        <p:blipFill>
          <a:blip r:embed="rId2"/>
          <a:stretch>
            <a:fillRect/>
          </a:stretch>
        </p:blipFill>
        <p:spPr>
          <a:xfrm>
            <a:off x="6617056" y="2048256"/>
            <a:ext cx="237744" cy="237744"/>
          </a:xfrm>
          <a:prstGeom prst="rect">
            <a:avLst/>
          </a:prstGeom>
        </p:spPr>
      </p:pic>
      <p:sp>
        <p:nvSpPr>
          <p:cNvPr id="13" name="Text 9"/>
          <p:cNvSpPr/>
          <p:nvPr/>
        </p:nvSpPr>
        <p:spPr>
          <a:xfrm>
            <a:off x="7074256" y="188366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Gemini 2.5 “thinking” ate the answer</a:t>
            </a:r>
            <a:endParaRPr lang="en-US" sz="1250" dirty="0"/>
          </a:p>
        </p:txBody>
      </p:sp>
      <p:sp>
        <p:nvSpPr>
          <p:cNvPr id="14" name="Text 10"/>
          <p:cNvSpPr/>
          <p:nvPr/>
        </p:nvSpPr>
        <p:spPr>
          <a:xfrm>
            <a:off x="7074256" y="219456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Vision + the ReAct advisor returned a plan but no final text (thinking spent the budget).</a:t>
            </a:r>
            <a:endParaRPr lang="en-US" sz="1050" dirty="0"/>
          </a:p>
        </p:txBody>
      </p:sp>
      <p:sp>
        <p:nvSpPr>
          <p:cNvPr id="15" name="Text 11"/>
          <p:cNvSpPr/>
          <p:nvPr/>
        </p:nvSpPr>
        <p:spPr>
          <a:xfrm>
            <a:off x="6525616" y="252374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thinking_budget=0 + token cap; a grounded synthesis fallback guarantees an answer.</a:t>
            </a:r>
            <a:endParaRPr lang="en-US" sz="1100" dirty="0"/>
          </a:p>
        </p:txBody>
      </p:sp>
      <p:sp>
        <p:nvSpPr>
          <p:cNvPr id="16" name="Shape 12"/>
          <p:cNvSpPr/>
          <p:nvPr/>
        </p:nvSpPr>
        <p:spPr>
          <a:xfrm>
            <a:off x="502920"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7" name="Shape 13"/>
          <p:cNvSpPr/>
          <p:nvPr/>
        </p:nvSpPr>
        <p:spPr>
          <a:xfrm>
            <a:off x="685800" y="3401568"/>
            <a:ext cx="457200" cy="457200"/>
          </a:xfrm>
          <a:prstGeom prst="roundRect">
            <a:avLst>
              <a:gd name="adj" fmla="val 20000"/>
            </a:avLst>
          </a:prstGeom>
          <a:solidFill>
            <a:srgbClr val="E11D48"/>
          </a:solidFill>
          <a:ln/>
        </p:spPr>
      </p:sp>
      <p:pic>
        <p:nvPicPr>
          <p:cNvPr id="18" name="Image 2" descr="icons/check.png">    </p:cNvPr>
          <p:cNvPicPr>
            <a:picLocks noChangeAspect="1"/>
          </p:cNvPicPr>
          <p:nvPr/>
        </p:nvPicPr>
        <p:blipFill>
          <a:blip r:embed="rId3"/>
          <a:stretch>
            <a:fillRect/>
          </a:stretch>
        </p:blipFill>
        <p:spPr>
          <a:xfrm>
            <a:off x="795528" y="3511296"/>
            <a:ext cx="237744" cy="237744"/>
          </a:xfrm>
          <a:prstGeom prst="rect">
            <a:avLst/>
          </a:prstGeom>
        </p:spPr>
      </p:pic>
      <p:sp>
        <p:nvSpPr>
          <p:cNvPr id="19" name="Text 14"/>
          <p:cNvSpPr/>
          <p:nvPr/>
        </p:nvSpPr>
        <p:spPr>
          <a:xfrm>
            <a:off x="1252728"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A cloud-only bug hid behind green local tests</a:t>
            </a:r>
            <a:endParaRPr lang="en-US" sz="1250" dirty="0"/>
          </a:p>
        </p:txBody>
      </p:sp>
      <p:sp>
        <p:nvSpPr>
          <p:cNvPr id="20" name="Text 15"/>
          <p:cNvSpPr/>
          <p:nvPr/>
        </p:nvSpPr>
        <p:spPr>
          <a:xfrm>
            <a:off x="1252728"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The ADK path isn't exercised in CI (no creds), so a prod regression could slip through.</a:t>
            </a:r>
            <a:endParaRPr lang="en-US" sz="1050" dirty="0"/>
          </a:p>
        </p:txBody>
      </p:sp>
      <p:sp>
        <p:nvSpPr>
          <p:cNvPr id="21" name="Text 16"/>
          <p:cNvSpPr/>
          <p:nvPr/>
        </p:nvSpPr>
        <p:spPr>
          <a:xfrm>
            <a:off x="704088"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CI-sim: block google.* and run the whole suite via the deterministic fallback path.</a:t>
            </a:r>
            <a:endParaRPr lang="en-US" sz="1100" dirty="0"/>
          </a:p>
        </p:txBody>
      </p:sp>
      <p:sp>
        <p:nvSpPr>
          <p:cNvPr id="22" name="Shape 17"/>
          <p:cNvSpPr/>
          <p:nvPr/>
        </p:nvSpPr>
        <p:spPr>
          <a:xfrm>
            <a:off x="6324448" y="320040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3" name="Shape 18"/>
          <p:cNvSpPr/>
          <p:nvPr/>
        </p:nvSpPr>
        <p:spPr>
          <a:xfrm>
            <a:off x="6507328" y="3401568"/>
            <a:ext cx="457200" cy="457200"/>
          </a:xfrm>
          <a:prstGeom prst="roundRect">
            <a:avLst>
              <a:gd name="adj" fmla="val 20000"/>
            </a:avLst>
          </a:prstGeom>
          <a:solidFill>
            <a:srgbClr val="E11D48"/>
          </a:solidFill>
          <a:ln/>
        </p:spPr>
      </p:sp>
      <p:pic>
        <p:nvPicPr>
          <p:cNvPr id="24" name="Image 3" descr="icons/lock.png">    </p:cNvPr>
          <p:cNvPicPr>
            <a:picLocks noChangeAspect="1"/>
          </p:cNvPicPr>
          <p:nvPr/>
        </p:nvPicPr>
        <p:blipFill>
          <a:blip r:embed="rId4"/>
          <a:stretch>
            <a:fillRect/>
          </a:stretch>
        </p:blipFill>
        <p:spPr>
          <a:xfrm>
            <a:off x="6617056" y="3511296"/>
            <a:ext cx="237744" cy="237744"/>
          </a:xfrm>
          <a:prstGeom prst="rect">
            <a:avLst/>
          </a:prstGeom>
        </p:spPr>
      </p:pic>
      <p:sp>
        <p:nvSpPr>
          <p:cNvPr id="25" name="Text 19"/>
          <p:cNvSpPr/>
          <p:nvPr/>
        </p:nvSpPr>
        <p:spPr>
          <a:xfrm>
            <a:off x="7074256" y="334670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LLM could substitute or auto-charge</a:t>
            </a:r>
            <a:endParaRPr lang="en-US" sz="1250" dirty="0"/>
          </a:p>
        </p:txBody>
      </p:sp>
      <p:sp>
        <p:nvSpPr>
          <p:cNvPr id="26" name="Text 20"/>
          <p:cNvSpPr/>
          <p:nvPr/>
        </p:nvSpPr>
        <p:spPr>
          <a:xfrm>
            <a:off x="7074256" y="365760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A free-form LLM placing orders risks wrong items and unconfirmed charges.</a:t>
            </a:r>
            <a:endParaRPr lang="en-US" sz="1050" dirty="0"/>
          </a:p>
        </p:txBody>
      </p:sp>
      <p:sp>
        <p:nvSpPr>
          <p:cNvPr id="27" name="Text 21"/>
          <p:cNvSpPr/>
          <p:nvPr/>
        </p:nvSpPr>
        <p:spPr>
          <a:xfrm>
            <a:off x="6525616" y="398678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No-substitution + a deterministic confirm-before-charge gate on EVERY modality.</a:t>
            </a:r>
            <a:endParaRPr lang="en-US" sz="1100" dirty="0"/>
          </a:p>
        </p:txBody>
      </p:sp>
      <p:sp>
        <p:nvSpPr>
          <p:cNvPr id="28" name="Shape 22"/>
          <p:cNvSpPr/>
          <p:nvPr/>
        </p:nvSpPr>
        <p:spPr>
          <a:xfrm>
            <a:off x="502920"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9" name="Shape 23"/>
          <p:cNvSpPr/>
          <p:nvPr/>
        </p:nvSpPr>
        <p:spPr>
          <a:xfrm>
            <a:off x="685800" y="4864608"/>
            <a:ext cx="457200" cy="457200"/>
          </a:xfrm>
          <a:prstGeom prst="roundRect">
            <a:avLst>
              <a:gd name="adj" fmla="val 20000"/>
            </a:avLst>
          </a:prstGeom>
          <a:solidFill>
            <a:srgbClr val="E11D48"/>
          </a:solidFill>
          <a:ln/>
        </p:spPr>
      </p:sp>
      <p:pic>
        <p:nvPicPr>
          <p:cNvPr id="30" name="Image 4" descr="icons/db.png">    </p:cNvPr>
          <p:cNvPicPr>
            <a:picLocks noChangeAspect="1"/>
          </p:cNvPicPr>
          <p:nvPr/>
        </p:nvPicPr>
        <p:blipFill>
          <a:blip r:embed="rId5"/>
          <a:stretch>
            <a:fillRect/>
          </a:stretch>
        </p:blipFill>
        <p:spPr>
          <a:xfrm>
            <a:off x="795528" y="4974336"/>
            <a:ext cx="237744" cy="237744"/>
          </a:xfrm>
          <a:prstGeom prst="rect">
            <a:avLst/>
          </a:prstGeom>
        </p:spPr>
      </p:pic>
      <p:sp>
        <p:nvSpPr>
          <p:cNvPr id="31" name="Text 24"/>
          <p:cNvSpPr/>
          <p:nvPr/>
        </p:nvSpPr>
        <p:spPr>
          <a:xfrm>
            <a:off x="1252728"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Context lost on channel / language switch</a:t>
            </a:r>
            <a:endParaRPr lang="en-US" sz="1250" dirty="0"/>
          </a:p>
        </p:txBody>
      </p:sp>
      <p:sp>
        <p:nvSpPr>
          <p:cNvPr id="32" name="Text 25"/>
          <p:cNvSpPr/>
          <p:nvPr/>
        </p:nvSpPr>
        <p:spPr>
          <a:xfrm>
            <a:off x="1252728"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Per-instance memory drops context across Web↔Phone, EN↔ES, and scale-to-zero.</a:t>
            </a:r>
            <a:endParaRPr lang="en-US" sz="1050" dirty="0"/>
          </a:p>
        </p:txBody>
      </p:sp>
      <p:sp>
        <p:nvSpPr>
          <p:cNvPr id="33" name="Text 26"/>
          <p:cNvSpPr/>
          <p:nvPr/>
        </p:nvSpPr>
        <p:spPr>
          <a:xfrm>
            <a:off x="704088"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One session store keyed by session_id, durable in Firestore, shared by all agents.</a:t>
            </a:r>
            <a:endParaRPr lang="en-US" sz="1100" dirty="0"/>
          </a:p>
        </p:txBody>
      </p:sp>
      <p:sp>
        <p:nvSpPr>
          <p:cNvPr id="34" name="Shape 27"/>
          <p:cNvSpPr/>
          <p:nvPr/>
        </p:nvSpPr>
        <p:spPr>
          <a:xfrm>
            <a:off x="6324448" y="4663440"/>
            <a:ext cx="5364328" cy="1298448"/>
          </a:xfrm>
          <a:prstGeom prst="roundRect">
            <a:avLst>
              <a:gd name="adj" fmla="val 563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5" name="Shape 28"/>
          <p:cNvSpPr/>
          <p:nvPr/>
        </p:nvSpPr>
        <p:spPr>
          <a:xfrm>
            <a:off x="6507328" y="4864608"/>
            <a:ext cx="457200" cy="457200"/>
          </a:xfrm>
          <a:prstGeom prst="roundRect">
            <a:avLst>
              <a:gd name="adj" fmla="val 20000"/>
            </a:avLst>
          </a:prstGeom>
          <a:solidFill>
            <a:srgbClr val="E11D48"/>
          </a:solidFill>
          <a:ln/>
        </p:spPr>
      </p:sp>
      <p:pic>
        <p:nvPicPr>
          <p:cNvPr id="36" name="Image 5" descr="icons/cloud.png">    </p:cNvPr>
          <p:cNvPicPr>
            <a:picLocks noChangeAspect="1"/>
          </p:cNvPicPr>
          <p:nvPr/>
        </p:nvPicPr>
        <p:blipFill>
          <a:blip r:embed="rId6"/>
          <a:stretch>
            <a:fillRect/>
          </a:stretch>
        </p:blipFill>
        <p:spPr>
          <a:xfrm>
            <a:off x="6617056" y="4974336"/>
            <a:ext cx="237744" cy="237744"/>
          </a:xfrm>
          <a:prstGeom prst="rect">
            <a:avLst/>
          </a:prstGeom>
        </p:spPr>
      </p:pic>
      <p:sp>
        <p:nvSpPr>
          <p:cNvPr id="37" name="Text 29"/>
          <p:cNvSpPr/>
          <p:nvPr/>
        </p:nvSpPr>
        <p:spPr>
          <a:xfrm>
            <a:off x="7074256" y="4809744"/>
            <a:ext cx="4449928" cy="292608"/>
          </a:xfrm>
          <a:prstGeom prst="rect">
            <a:avLst/>
          </a:prstGeom>
          <a:noFill/>
          <a:ln/>
        </p:spPr>
        <p:txBody>
          <a:bodyPr wrap="square" lIns="0" tIns="0" rIns="0" bIns="0" rtlCol="0" anchor="ctr"/>
          <a:lstStyle/>
          <a:p>
            <a:pPr indent="0" marL="0">
              <a:buNone/>
            </a:pPr>
            <a:r>
              <a:rPr lang="en-US" sz="1250" b="1" dirty="0">
                <a:solidFill>
                  <a:srgbClr val="E11D48"/>
                </a:solidFill>
                <a:latin typeface="Calibri" pitchFamily="34" charset="0"/>
                <a:ea typeface="Calibri" pitchFamily="34" charset="-122"/>
                <a:cs typeface="Calibri" pitchFamily="34" charset="-120"/>
              </a:rPr>
              <a:t>⚠  </a:t>
            </a:r>
            <a:pPr indent="0" marL="0">
              <a:buNone/>
            </a:pPr>
            <a:r>
              <a:rPr lang="en-US" sz="1250" b="1" dirty="0">
                <a:solidFill>
                  <a:srgbClr val="0F172A"/>
                </a:solidFill>
                <a:latin typeface="Calibri" pitchFamily="34" charset="0"/>
                <a:ea typeface="Calibri" pitchFamily="34" charset="-122"/>
                <a:cs typeface="Calibri" pitchFamily="34" charset="-120"/>
              </a:rPr>
              <a:t>Vertex vs AI Studio SDK; quota “limit:0” lies</a:t>
            </a:r>
            <a:endParaRPr lang="en-US" sz="1250" dirty="0"/>
          </a:p>
        </p:txBody>
      </p:sp>
      <p:sp>
        <p:nvSpPr>
          <p:cNvPr id="38" name="Text 30"/>
          <p:cNvSpPr/>
          <p:nvPr/>
        </p:nvSpPr>
        <p:spPr>
          <a:xfrm>
            <a:off x="7074256" y="5120640"/>
            <a:ext cx="4431640" cy="292608"/>
          </a:xfrm>
          <a:prstGeom prst="rect">
            <a:avLst/>
          </a:prstGeom>
          <a:noFill/>
          <a:ln/>
        </p:spPr>
        <p:txBody>
          <a:bodyPr wrap="square" lIns="0" tIns="0" rIns="0" bIns="0" rtlCol="0" anchor="t"/>
          <a:lstStyle/>
          <a:p>
            <a:pPr indent="0" marL="0">
              <a:buNone/>
            </a:pPr>
            <a:r>
              <a:rPr lang="en-US" sz="1050" i="1" dirty="0">
                <a:solidFill>
                  <a:srgbClr val="8A94A6"/>
                </a:solidFill>
                <a:latin typeface="Calibri" pitchFamily="34" charset="0"/>
                <a:ea typeface="Calibri" pitchFamily="34" charset="-122"/>
                <a:cs typeface="Calibri" pitchFamily="34" charset="-120"/>
              </a:rPr>
              <a:t>google.generativeai can't reach Vertex; a wrong model reads as a zero quota.</a:t>
            </a:r>
            <a:endParaRPr lang="en-US" sz="1050" dirty="0"/>
          </a:p>
        </p:txBody>
      </p:sp>
      <p:sp>
        <p:nvSpPr>
          <p:cNvPr id="39" name="Text 31"/>
          <p:cNvSpPr/>
          <p:nvPr/>
        </p:nvSpPr>
        <p:spPr>
          <a:xfrm>
            <a:off x="6525616" y="5449824"/>
            <a:ext cx="4980280" cy="457200"/>
          </a:xfrm>
          <a:prstGeom prst="rect">
            <a:avLst/>
          </a:prstGeom>
          <a:noFill/>
          <a:ln/>
        </p:spPr>
        <p:txBody>
          <a:bodyPr wrap="square" lIns="0" tIns="0" rIns="0" bIns="0" rtlCol="0" anchor="t"/>
          <a:lstStyle/>
          <a:p>
            <a:pPr indent="0" marL="0">
              <a:buNone/>
            </a:pPr>
            <a:r>
              <a:rPr lang="en-US" sz="1100" b="1" dirty="0">
                <a:solidFill>
                  <a:srgbClr val="0D9488"/>
                </a:solidFill>
                <a:latin typeface="Calibri" pitchFamily="34" charset="0"/>
                <a:ea typeface="Calibri" pitchFamily="34" charset="-122"/>
                <a:cs typeface="Calibri" pitchFamily="34" charset="-120"/>
              </a:rPr>
              <a:t>✓  </a:t>
            </a:r>
            <a:pPr indent="0" marL="0">
              <a:buNone/>
            </a:pPr>
            <a:r>
              <a:rPr lang="en-US" sz="1100" dirty="0">
                <a:solidFill>
                  <a:srgbClr val="5B6577"/>
                </a:solidFill>
                <a:latin typeface="Calibri" pitchFamily="34" charset="0"/>
                <a:ea typeface="Calibri" pitchFamily="34" charset="-122"/>
                <a:cs typeface="Calibri" pitchFamily="34" charset="-120"/>
              </a:rPr>
              <a:t>Unified google.genai (vertexai=True) + pin gemini-2.5-flash (verified quota).</a:t>
            </a:r>
            <a:endParaRPr lang="en-US" sz="1100" dirty="0"/>
          </a:p>
        </p:txBody>
      </p:sp>
      <p:sp>
        <p:nvSpPr>
          <p:cNvPr id="40" name="Text 32"/>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1" name="Text 33"/>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10</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par>
                                <p:cTn id="20" presetID="10" presetClass="entr" presetSubtype="0" fill="hold" grpId="0" nodeType="withEffect">
                                  <p:stCondLst>
                                    <p:cond delay="0"/>
                                  </p:stCondLst>
                                  <p:childTnLst>
                                    <p:set>
                                      <p:cBhvr>
                                        <p:cTn id="21" dur="1" fill="hold">
                                          <p:stCondLst>
                                            <p:cond delay="0"/>
                                          </p:stCondLst>
                                        </p:cTn>
                                        <p:tgtEl>
                                          <p:spTgt spid="9"/>
                                        </p:tgtEl>
                                        <p:attrNameLst>
                                          <p:attrName>style.visibility</p:attrName>
                                        </p:attrNameLst>
                                      </p:cBhvr>
                                      <p:to>
                                        <p:strVal val="visible"/>
                                      </p:to>
                                    </p:set>
                                    <p:animEffect transition="in" filter="fade">
                                      <p:cBhvr>
                                        <p:cTn id="22" dur="500"/>
                                        <p:tgtEl>
                                          <p:spTgt spid="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grpId="0" nodeType="click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par>
                                <p:cTn id="37" presetID="10" presetClass="entr" presetSubtype="0" fill="hold" grpId="0" nodeType="withEffect">
                                  <p:stCondLst>
                                    <p:cond delay="0"/>
                                  </p:stCondLst>
                                  <p:childTnLst>
                                    <p:set>
                                      <p:cBhvr>
                                        <p:cTn id="38" dur="1" fill="hold">
                                          <p:stCondLst>
                                            <p:cond delay="0"/>
                                          </p:stCondLst>
                                        </p:cTn>
                                        <p:tgtEl>
                                          <p:spTgt spid="14"/>
                                        </p:tgtEl>
                                        <p:attrNameLst>
                                          <p:attrName>style.visibility</p:attrName>
                                        </p:attrNameLst>
                                      </p:cBhvr>
                                      <p:to>
                                        <p:strVal val="visible"/>
                                      </p:to>
                                    </p:set>
                                    <p:animEffect transition="in" filter="fade">
                                      <p:cBhvr>
                                        <p:cTn id="39" dur="500"/>
                                        <p:tgtEl>
                                          <p:spTgt spid="14"/>
                                        </p:tgtEl>
                                      </p:cBhvr>
                                    </p:animEffect>
                                  </p:childTnLst>
                                </p:cTn>
                              </p:par>
                              <p:par>
                                <p:cTn id="40" presetID="10" presetClass="entr" presetSubtype="0" fill="hold" grpId="0" nodeType="withEffect">
                                  <p:stCondLst>
                                    <p:cond delay="0"/>
                                  </p:stCondLst>
                                  <p:childTnLst>
                                    <p:set>
                                      <p:cBhvr>
                                        <p:cTn id="41" dur="1" fill="hold">
                                          <p:stCondLst>
                                            <p:cond delay="0"/>
                                          </p:stCondLst>
                                        </p:cTn>
                                        <p:tgtEl>
                                          <p:spTgt spid="15"/>
                                        </p:tgtEl>
                                        <p:attrNameLst>
                                          <p:attrName>style.visibility</p:attrName>
                                        </p:attrNameLst>
                                      </p:cBhvr>
                                      <p:to>
                                        <p:strVal val="visible"/>
                                      </p:to>
                                    </p:set>
                                    <p:animEffect transition="in" filter="fade">
                                      <p:cBhvr>
                                        <p:cTn id="42" dur="500"/>
                                        <p:tgtEl>
                                          <p:spTgt spid="1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grpId="0" nodeType="click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par>
                                <p:cTn id="54" presetID="10" presetClass="entr" presetSubtype="0" fill="hold" grpId="0" nodeType="withEffect">
                                  <p:stCondLst>
                                    <p:cond delay="0"/>
                                  </p:stCondLst>
                                  <p:childTnLst>
                                    <p:set>
                                      <p:cBhvr>
                                        <p:cTn id="55" dur="1" fill="hold">
                                          <p:stCondLst>
                                            <p:cond delay="0"/>
                                          </p:stCondLst>
                                        </p:cTn>
                                        <p:tgtEl>
                                          <p:spTgt spid="19"/>
                                        </p:tgtEl>
                                        <p:attrNameLst>
                                          <p:attrName>style.visibility</p:attrName>
                                        </p:attrNameLst>
                                      </p:cBhvr>
                                      <p:to>
                                        <p:strVal val="visible"/>
                                      </p:to>
                                    </p:set>
                                    <p:animEffect transition="in" filter="fade">
                                      <p:cBhvr>
                                        <p:cTn id="56" dur="500"/>
                                        <p:tgtEl>
                                          <p:spTgt spid="19"/>
                                        </p:tgtEl>
                                      </p:cBhvr>
                                    </p:animEffect>
                                  </p:childTnLst>
                                </p:cTn>
                              </p:par>
                              <p:par>
                                <p:cTn id="57" presetID="10" presetClass="entr" presetSubtype="0" fill="hold" grpId="0" nodeType="withEffect">
                                  <p:stCondLst>
                                    <p:cond delay="0"/>
                                  </p:stCondLst>
                                  <p:childTnLst>
                                    <p:set>
                                      <p:cBhvr>
                                        <p:cTn id="58" dur="1" fill="hold">
                                          <p:stCondLst>
                                            <p:cond delay="0"/>
                                          </p:stCondLst>
                                        </p:cTn>
                                        <p:tgtEl>
                                          <p:spTgt spid="20"/>
                                        </p:tgtEl>
                                        <p:attrNameLst>
                                          <p:attrName>style.visibility</p:attrName>
                                        </p:attrNameLst>
                                      </p:cBhvr>
                                      <p:to>
                                        <p:strVal val="visible"/>
                                      </p:to>
                                    </p:set>
                                    <p:animEffect transition="in" filter="fade">
                                      <p:cBhvr>
                                        <p:cTn id="59" dur="500"/>
                                        <p:tgtEl>
                                          <p:spTgt spid="20"/>
                                        </p:tgtEl>
                                      </p:cBhvr>
                                    </p:animEffect>
                                  </p:childTnLst>
                                </p:cTn>
                              </p:par>
                              <p:par>
                                <p:cTn id="60" presetID="10" presetClass="entr" presetSubtype="0" fill="hold" grpId="0" nodeType="withEffect">
                                  <p:stCondLst>
                                    <p:cond delay="0"/>
                                  </p:stCondLst>
                                  <p:childTnLst>
                                    <p:set>
                                      <p:cBhvr>
                                        <p:cTn id="61" dur="1" fill="hold">
                                          <p:stCondLst>
                                            <p:cond delay="0"/>
                                          </p:stCondLst>
                                        </p:cTn>
                                        <p:tgtEl>
                                          <p:spTgt spid="21"/>
                                        </p:tgtEl>
                                        <p:attrNameLst>
                                          <p:attrName>style.visibility</p:attrName>
                                        </p:attrNameLst>
                                      </p:cBhvr>
                                      <p:to>
                                        <p:strVal val="visible"/>
                                      </p:to>
                                    </p:set>
                                    <p:animEffect transition="in" filter="fade">
                                      <p:cBhvr>
                                        <p:cTn id="62" dur="500"/>
                                        <p:tgtEl>
                                          <p:spTgt spid="21"/>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grpId="0" nodeType="click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par>
                                <p:cTn id="71" presetID="10" presetClass="entr" presetSubtype="0" fill="hold" grpId="0" nodeType="withEffect">
                                  <p:stCondLst>
                                    <p:cond delay="0"/>
                                  </p:stCondLst>
                                  <p:childTnLst>
                                    <p:set>
                                      <p:cBhvr>
                                        <p:cTn id="72" dur="1" fill="hold">
                                          <p:stCondLst>
                                            <p:cond delay="0"/>
                                          </p:stCondLst>
                                        </p:cTn>
                                        <p:tgtEl>
                                          <p:spTgt spid="24"/>
                                        </p:tgtEl>
                                        <p:attrNameLst>
                                          <p:attrName>style.visibility</p:attrName>
                                        </p:attrNameLst>
                                      </p:cBhvr>
                                      <p:to>
                                        <p:strVal val="visible"/>
                                      </p:to>
                                    </p:set>
                                    <p:animEffect transition="in" filter="fade">
                                      <p:cBhvr>
                                        <p:cTn id="73" dur="500"/>
                                        <p:tgtEl>
                                          <p:spTgt spid="24"/>
                                        </p:tgtEl>
                                      </p:cBhvr>
                                    </p:animEffect>
                                  </p:childTnLst>
                                </p:cTn>
                              </p:par>
                              <p:par>
                                <p:cTn id="74" presetID="10" presetClass="entr" presetSubtype="0" fill="hold" grpId="0" nodeType="withEffect">
                                  <p:stCondLst>
                                    <p:cond delay="0"/>
                                  </p:stCondLst>
                                  <p:childTnLst>
                                    <p:set>
                                      <p:cBhvr>
                                        <p:cTn id="75" dur="1" fill="hold">
                                          <p:stCondLst>
                                            <p:cond delay="0"/>
                                          </p:stCondLst>
                                        </p:cTn>
                                        <p:tgtEl>
                                          <p:spTgt spid="25"/>
                                        </p:tgtEl>
                                        <p:attrNameLst>
                                          <p:attrName>style.visibility</p:attrName>
                                        </p:attrNameLst>
                                      </p:cBhvr>
                                      <p:to>
                                        <p:strVal val="visible"/>
                                      </p:to>
                                    </p:set>
                                    <p:animEffect transition="in" filter="fade">
                                      <p:cBhvr>
                                        <p:cTn id="76" dur="500"/>
                                        <p:tgtEl>
                                          <p:spTgt spid="25"/>
                                        </p:tgtEl>
                                      </p:cBhvr>
                                    </p:animEffect>
                                  </p:childTnLst>
                                </p:cTn>
                              </p:par>
                              <p:par>
                                <p:cTn id="77" presetID="10" presetClass="entr" presetSubtype="0" fill="hold" grpId="0" nodeType="withEffect">
                                  <p:stCondLst>
                                    <p:cond delay="0"/>
                                  </p:stCondLst>
                                  <p:childTnLst>
                                    <p:set>
                                      <p:cBhvr>
                                        <p:cTn id="78" dur="1" fill="hold">
                                          <p:stCondLst>
                                            <p:cond delay="0"/>
                                          </p:stCondLst>
                                        </p:cTn>
                                        <p:tgtEl>
                                          <p:spTgt spid="26"/>
                                        </p:tgtEl>
                                        <p:attrNameLst>
                                          <p:attrName>style.visibility</p:attrName>
                                        </p:attrNameLst>
                                      </p:cBhvr>
                                      <p:to>
                                        <p:strVal val="visible"/>
                                      </p:to>
                                    </p:set>
                                    <p:animEffect transition="in" filter="fade">
                                      <p:cBhvr>
                                        <p:cTn id="79" dur="500"/>
                                        <p:tgtEl>
                                          <p:spTgt spid="26"/>
                                        </p:tgtEl>
                                      </p:cBhvr>
                                    </p:animEffect>
                                  </p:childTnLst>
                                </p:cTn>
                              </p:par>
                              <p:par>
                                <p:cTn id="80" presetID="10" presetClass="entr" presetSubtype="0" fill="hold" grpId="0" nodeType="withEffect">
                                  <p:stCondLst>
                                    <p:cond delay="0"/>
                                  </p:stCondLst>
                                  <p:childTnLst>
                                    <p:set>
                                      <p:cBhvr>
                                        <p:cTn id="81" dur="1" fill="hold">
                                          <p:stCondLst>
                                            <p:cond delay="0"/>
                                          </p:stCondLst>
                                        </p:cTn>
                                        <p:tgtEl>
                                          <p:spTgt spid="27"/>
                                        </p:tgtEl>
                                        <p:attrNameLst>
                                          <p:attrName>style.visibility</p:attrName>
                                        </p:attrNameLst>
                                      </p:cBhvr>
                                      <p:to>
                                        <p:strVal val="visible"/>
                                      </p:to>
                                    </p:set>
                                    <p:animEffect transition="in" filter="fade">
                                      <p:cBhvr>
                                        <p:cTn id="82" dur="500"/>
                                        <p:tgtEl>
                                          <p:spTgt spid="27"/>
                                        </p:tgtEl>
                                      </p:cBhvr>
                                    </p:animEffect>
                                  </p:childTnLst>
                                </p:cTn>
                              </p:par>
                            </p:childTnLst>
                          </p:cTn>
                        </p:par>
                      </p:childTnLst>
                    </p:cTn>
                  </p:par>
                  <p:par>
                    <p:cTn id="83" fill="hold">
                      <p:stCondLst>
                        <p:cond delay="indefinite"/>
                      </p:stCondLst>
                      <p:childTnLst>
                        <p:par>
                          <p:cTn id="84" fill="hold">
                            <p:stCondLst>
                              <p:cond delay="0"/>
                            </p:stCondLst>
                            <p:childTnLst>
                              <p:par>
                                <p:cTn id="85" presetID="10" presetClass="entr" presetSubtype="0" fill="hold" grpId="0" nodeType="click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par>
                                <p:cTn id="88" presetID="10" presetClass="entr" presetSubtype="0" fill="hold" grpId="0" nodeType="withEffect">
                                  <p:stCondLst>
                                    <p:cond delay="0"/>
                                  </p:stCondLst>
                                  <p:childTnLst>
                                    <p:set>
                                      <p:cBhvr>
                                        <p:cTn id="89" dur="1" fill="hold">
                                          <p:stCondLst>
                                            <p:cond delay="0"/>
                                          </p:stCondLst>
                                        </p:cTn>
                                        <p:tgtEl>
                                          <p:spTgt spid="29"/>
                                        </p:tgtEl>
                                        <p:attrNameLst>
                                          <p:attrName>style.visibility</p:attrName>
                                        </p:attrNameLst>
                                      </p:cBhvr>
                                      <p:to>
                                        <p:strVal val="visible"/>
                                      </p:to>
                                    </p:set>
                                    <p:animEffect transition="in" filter="fade">
                                      <p:cBhvr>
                                        <p:cTn id="90" dur="500"/>
                                        <p:tgtEl>
                                          <p:spTgt spid="29"/>
                                        </p:tgtEl>
                                      </p:cBhvr>
                                    </p:animEffect>
                                  </p:childTnLst>
                                </p:cTn>
                              </p:par>
                              <p:par>
                                <p:cTn id="91" presetID="10" presetClass="entr" presetSubtype="0" fill="hold" grpId="0" nodeType="withEffect">
                                  <p:stCondLst>
                                    <p:cond delay="0"/>
                                  </p:stCondLst>
                                  <p:childTnLst>
                                    <p:set>
                                      <p:cBhvr>
                                        <p:cTn id="92" dur="1" fill="hold">
                                          <p:stCondLst>
                                            <p:cond delay="0"/>
                                          </p:stCondLst>
                                        </p:cTn>
                                        <p:tgtEl>
                                          <p:spTgt spid="30"/>
                                        </p:tgtEl>
                                        <p:attrNameLst>
                                          <p:attrName>style.visibility</p:attrName>
                                        </p:attrNameLst>
                                      </p:cBhvr>
                                      <p:to>
                                        <p:strVal val="visible"/>
                                      </p:to>
                                    </p:set>
                                    <p:animEffect transition="in" filter="fade">
                                      <p:cBhvr>
                                        <p:cTn id="93" dur="500"/>
                                        <p:tgtEl>
                                          <p:spTgt spid="30"/>
                                        </p:tgtEl>
                                      </p:cBhvr>
                                    </p:animEffect>
                                  </p:childTnLst>
                                </p:cTn>
                              </p:par>
                              <p:par>
                                <p:cTn id="94" presetID="10" presetClass="entr" presetSubtype="0" fill="hold" grpId="0" nodeType="withEffect">
                                  <p:stCondLst>
                                    <p:cond delay="0"/>
                                  </p:stCondLst>
                                  <p:childTnLst>
                                    <p:set>
                                      <p:cBhvr>
                                        <p:cTn id="95" dur="1" fill="hold">
                                          <p:stCondLst>
                                            <p:cond delay="0"/>
                                          </p:stCondLst>
                                        </p:cTn>
                                        <p:tgtEl>
                                          <p:spTgt spid="31"/>
                                        </p:tgtEl>
                                        <p:attrNameLst>
                                          <p:attrName>style.visibility</p:attrName>
                                        </p:attrNameLst>
                                      </p:cBhvr>
                                      <p:to>
                                        <p:strVal val="visible"/>
                                      </p:to>
                                    </p:set>
                                    <p:animEffect transition="in" filter="fade">
                                      <p:cBhvr>
                                        <p:cTn id="96" dur="500"/>
                                        <p:tgtEl>
                                          <p:spTgt spid="31"/>
                                        </p:tgtEl>
                                      </p:cBhvr>
                                    </p:animEffect>
                                  </p:childTnLst>
                                </p:cTn>
                              </p:par>
                              <p:par>
                                <p:cTn id="97" presetID="10" presetClass="entr" presetSubtype="0" fill="hold" grpId="0" nodeType="withEffect">
                                  <p:stCondLst>
                                    <p:cond delay="0"/>
                                  </p:stCondLst>
                                  <p:childTnLst>
                                    <p:set>
                                      <p:cBhvr>
                                        <p:cTn id="98" dur="1" fill="hold">
                                          <p:stCondLst>
                                            <p:cond delay="0"/>
                                          </p:stCondLst>
                                        </p:cTn>
                                        <p:tgtEl>
                                          <p:spTgt spid="32"/>
                                        </p:tgtEl>
                                        <p:attrNameLst>
                                          <p:attrName>style.visibility</p:attrName>
                                        </p:attrNameLst>
                                      </p:cBhvr>
                                      <p:to>
                                        <p:strVal val="visible"/>
                                      </p:to>
                                    </p:set>
                                    <p:animEffect transition="in" filter="fade">
                                      <p:cBhvr>
                                        <p:cTn id="99" dur="500"/>
                                        <p:tgtEl>
                                          <p:spTgt spid="32"/>
                                        </p:tgtEl>
                                      </p:cBhvr>
                                    </p:animEffect>
                                  </p:childTnLst>
                                </p:cTn>
                              </p:par>
                              <p:par>
                                <p:cTn id="100" presetID="10" presetClass="entr" presetSubtype="0" fill="hold" grpId="0" nodeType="withEffect">
                                  <p:stCondLst>
                                    <p:cond delay="0"/>
                                  </p:stCondLst>
                                  <p:childTnLst>
                                    <p:set>
                                      <p:cBhvr>
                                        <p:cTn id="101" dur="1" fill="hold">
                                          <p:stCondLst>
                                            <p:cond delay="0"/>
                                          </p:stCondLst>
                                        </p:cTn>
                                        <p:tgtEl>
                                          <p:spTgt spid="33"/>
                                        </p:tgtEl>
                                        <p:attrNameLst>
                                          <p:attrName>style.visibility</p:attrName>
                                        </p:attrNameLst>
                                      </p:cBhvr>
                                      <p:to>
                                        <p:strVal val="visible"/>
                                      </p:to>
                                    </p:set>
                                    <p:animEffect transition="in" filter="fade">
                                      <p:cBhvr>
                                        <p:cTn id="102" dur="500"/>
                                        <p:tgtEl>
                                          <p:spTgt spid="33"/>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grpId="0" nodeType="clickEffect">
                                  <p:stCondLst>
                                    <p:cond delay="0"/>
                                  </p:stCondLst>
                                  <p:childTnLst>
                                    <p:set>
                                      <p:cBhvr>
                                        <p:cTn id="106" dur="1" fill="hold">
                                          <p:stCondLst>
                                            <p:cond delay="0"/>
                                          </p:stCondLst>
                                        </p:cTn>
                                        <p:tgtEl>
                                          <p:spTgt spid="34"/>
                                        </p:tgtEl>
                                        <p:attrNameLst>
                                          <p:attrName>style.visibility</p:attrName>
                                        </p:attrNameLst>
                                      </p:cBhvr>
                                      <p:to>
                                        <p:strVal val="visible"/>
                                      </p:to>
                                    </p:set>
                                    <p:animEffect transition="in" filter="fade">
                                      <p:cBhvr>
                                        <p:cTn id="107" dur="500"/>
                                        <p:tgtEl>
                                          <p:spTgt spid="34"/>
                                        </p:tgtEl>
                                      </p:cBhvr>
                                    </p:animEffect>
                                  </p:childTnLst>
                                </p:cTn>
                              </p:par>
                              <p:par>
                                <p:cTn id="108" presetID="10" presetClass="entr" presetSubtype="0" fill="hold" grpId="0" nodeType="withEffect">
                                  <p:stCondLst>
                                    <p:cond delay="0"/>
                                  </p:stCondLst>
                                  <p:childTnLst>
                                    <p:set>
                                      <p:cBhvr>
                                        <p:cTn id="109" dur="1" fill="hold">
                                          <p:stCondLst>
                                            <p:cond delay="0"/>
                                          </p:stCondLst>
                                        </p:cTn>
                                        <p:tgtEl>
                                          <p:spTgt spid="35"/>
                                        </p:tgtEl>
                                        <p:attrNameLst>
                                          <p:attrName>style.visibility</p:attrName>
                                        </p:attrNameLst>
                                      </p:cBhvr>
                                      <p:to>
                                        <p:strVal val="visible"/>
                                      </p:to>
                                    </p:set>
                                    <p:animEffect transition="in" filter="fade">
                                      <p:cBhvr>
                                        <p:cTn id="110" dur="500"/>
                                        <p:tgtEl>
                                          <p:spTgt spid="35"/>
                                        </p:tgtEl>
                                      </p:cBhvr>
                                    </p:animEffect>
                                  </p:childTnLst>
                                </p:cTn>
                              </p:par>
                              <p:par>
                                <p:cTn id="111" presetID="10" presetClass="entr" presetSubtype="0" fill="hold" grpId="0" nodeType="withEffect">
                                  <p:stCondLst>
                                    <p:cond delay="0"/>
                                  </p:stCondLst>
                                  <p:childTnLst>
                                    <p:set>
                                      <p:cBhvr>
                                        <p:cTn id="112" dur="1" fill="hold">
                                          <p:stCondLst>
                                            <p:cond delay="0"/>
                                          </p:stCondLst>
                                        </p:cTn>
                                        <p:tgtEl>
                                          <p:spTgt spid="36"/>
                                        </p:tgtEl>
                                        <p:attrNameLst>
                                          <p:attrName>style.visibility</p:attrName>
                                        </p:attrNameLst>
                                      </p:cBhvr>
                                      <p:to>
                                        <p:strVal val="visible"/>
                                      </p:to>
                                    </p:set>
                                    <p:animEffect transition="in" filter="fade">
                                      <p:cBhvr>
                                        <p:cTn id="113" dur="500"/>
                                        <p:tgtEl>
                                          <p:spTgt spid="36"/>
                                        </p:tgtEl>
                                      </p:cBhvr>
                                    </p:animEffect>
                                  </p:childTnLst>
                                </p:cTn>
                              </p:par>
                              <p:par>
                                <p:cTn id="114" presetID="10" presetClass="entr" presetSubtype="0" fill="hold" grpId="0" nodeType="withEffect">
                                  <p:stCondLst>
                                    <p:cond delay="0"/>
                                  </p:stCondLst>
                                  <p:childTnLst>
                                    <p:set>
                                      <p:cBhvr>
                                        <p:cTn id="115" dur="1" fill="hold">
                                          <p:stCondLst>
                                            <p:cond delay="0"/>
                                          </p:stCondLst>
                                        </p:cTn>
                                        <p:tgtEl>
                                          <p:spTgt spid="37"/>
                                        </p:tgtEl>
                                        <p:attrNameLst>
                                          <p:attrName>style.visibility</p:attrName>
                                        </p:attrNameLst>
                                      </p:cBhvr>
                                      <p:to>
                                        <p:strVal val="visible"/>
                                      </p:to>
                                    </p:set>
                                    <p:animEffect transition="in" filter="fade">
                                      <p:cBhvr>
                                        <p:cTn id="116" dur="500"/>
                                        <p:tgtEl>
                                          <p:spTgt spid="37"/>
                                        </p:tgtEl>
                                      </p:cBhvr>
                                    </p:animEffect>
                                  </p:childTnLst>
                                </p:cTn>
                              </p:par>
                              <p:par>
                                <p:cTn id="117" presetID="10" presetClass="entr" presetSubtype="0" fill="hold" grpId="0" nodeType="withEffect">
                                  <p:stCondLst>
                                    <p:cond delay="0"/>
                                  </p:stCondLst>
                                  <p:childTnLst>
                                    <p:set>
                                      <p:cBhvr>
                                        <p:cTn id="118" dur="1" fill="hold">
                                          <p:stCondLst>
                                            <p:cond delay="0"/>
                                          </p:stCondLst>
                                        </p:cTn>
                                        <p:tgtEl>
                                          <p:spTgt spid="38"/>
                                        </p:tgtEl>
                                        <p:attrNameLst>
                                          <p:attrName>style.visibility</p:attrName>
                                        </p:attrNameLst>
                                      </p:cBhvr>
                                      <p:to>
                                        <p:strVal val="visible"/>
                                      </p:to>
                                    </p:set>
                                    <p:animEffect transition="in" filter="fade">
                                      <p:cBhvr>
                                        <p:cTn id="119" dur="500"/>
                                        <p:tgtEl>
                                          <p:spTgt spid="38"/>
                                        </p:tgtEl>
                                      </p:cBhvr>
                                    </p:animEffect>
                                  </p:childTnLst>
                                </p:cTn>
                              </p:par>
                              <p:par>
                                <p:cTn id="120" presetID="10" presetClass="entr" presetSubtype="0" fill="hold" grpId="0" nodeType="withEffect">
                                  <p:stCondLst>
                                    <p:cond delay="0"/>
                                  </p:stCondLst>
                                  <p:childTnLst>
                                    <p:set>
                                      <p:cBhvr>
                                        <p:cTn id="121" dur="1" fill="hold">
                                          <p:stCondLst>
                                            <p:cond delay="0"/>
                                          </p:stCondLst>
                                        </p:cTn>
                                        <p:tgtEl>
                                          <p:spTgt spid="39"/>
                                        </p:tgtEl>
                                        <p:attrNameLst>
                                          <p:attrName>style.visibility</p:attrName>
                                        </p:attrNameLst>
                                      </p:cBhvr>
                                      <p:to>
                                        <p:strVal val="visible"/>
                                      </p:to>
                                    </p:set>
                                    <p:animEffect transition="in" filter="fade">
                                      <p:cBhvr>
                                        <p:cTn id="122" dur="5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FCA5C0"/>
                </a:solidFill>
                <a:latin typeface="Calibri" pitchFamily="34" charset="0"/>
                <a:ea typeface="Calibri" pitchFamily="34" charset="-122"/>
                <a:cs typeface="Calibri" pitchFamily="34" charset="-120"/>
              </a:rPr>
              <a:t>THE DIFFERENTIATORS</a:t>
            </a:r>
            <a:endParaRPr lang="en-US" sz="1200" dirty="0"/>
          </a:p>
        </p:txBody>
      </p:sp>
      <p:sp>
        <p:nvSpPr>
          <p:cNvPr id="3" name="Text 1"/>
          <p:cNvSpPr/>
          <p:nvPr/>
        </p:nvSpPr>
        <p:spPr>
          <a:xfrm>
            <a:off x="502920" y="713232"/>
            <a:ext cx="11185855" cy="822960"/>
          </a:xfrm>
          <a:prstGeom prst="rect">
            <a:avLst/>
          </a:prstGeom>
          <a:noFill/>
          <a:ln/>
        </p:spPr>
        <p:txBody>
          <a:bodyPr wrap="square" lIns="0" tIns="0" rIns="0" bIns="0" rtlCol="0" anchor="ctr"/>
          <a:lstStyle/>
          <a:p>
            <a:pPr indent="0" marL="0">
              <a:buNone/>
            </a:pPr>
            <a:r>
              <a:rPr lang="en-US" sz="3000" b="1" dirty="0">
                <a:solidFill>
                  <a:srgbClr val="FFFFFF"/>
                </a:solidFill>
                <a:latin typeface="Georgia" pitchFamily="34" charset="0"/>
                <a:ea typeface="Georgia" pitchFamily="34" charset="-122"/>
                <a:cs typeface="Georgia" pitchFamily="34" charset="-120"/>
              </a:rPr>
              <a:t>What makes them lean in</a:t>
            </a:r>
            <a:endParaRPr lang="en-US" sz="3000" dirty="0"/>
          </a:p>
        </p:txBody>
      </p:sp>
      <p:sp>
        <p:nvSpPr>
          <p:cNvPr id="4" name="Shape 2"/>
          <p:cNvSpPr/>
          <p:nvPr/>
        </p:nvSpPr>
        <p:spPr>
          <a:xfrm>
            <a:off x="502920"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5" name="Shape 3"/>
          <p:cNvSpPr/>
          <p:nvPr/>
        </p:nvSpPr>
        <p:spPr>
          <a:xfrm>
            <a:off x="740664" y="2112264"/>
            <a:ext cx="585216" cy="585216"/>
          </a:xfrm>
          <a:prstGeom prst="roundRect">
            <a:avLst>
              <a:gd name="adj" fmla="val 20313"/>
            </a:avLst>
          </a:prstGeom>
          <a:solidFill>
            <a:srgbClr val="E11D48"/>
          </a:solidFill>
          <a:ln/>
        </p:spPr>
      </p:sp>
      <p:pic>
        <p:nvPicPr>
          <p:cNvPr id="6" name="Image 0" descr="icons/camera.png">    </p:cNvPr>
          <p:cNvPicPr>
            <a:picLocks noChangeAspect="1"/>
          </p:cNvPicPr>
          <p:nvPr/>
        </p:nvPicPr>
        <p:blipFill>
          <a:blip r:embed="rId2"/>
          <a:stretch>
            <a:fillRect/>
          </a:stretch>
        </p:blipFill>
        <p:spPr>
          <a:xfrm>
            <a:off x="896112" y="2267712"/>
            <a:ext cx="274320" cy="274320"/>
          </a:xfrm>
          <a:prstGeom prst="rect">
            <a:avLst/>
          </a:prstGeom>
        </p:spPr>
      </p:pic>
      <p:sp>
        <p:nvSpPr>
          <p:cNvPr id="7" name="Text 4"/>
          <p:cNvSpPr/>
          <p:nvPr/>
        </p:nvSpPr>
        <p:spPr>
          <a:xfrm>
            <a:off x="1453896"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See-it, shop-it</a:t>
            </a:r>
            <a:endParaRPr lang="en-US" sz="1550" dirty="0"/>
          </a:p>
        </p:txBody>
      </p:sp>
      <p:sp>
        <p:nvSpPr>
          <p:cNvPr id="8" name="Text 5"/>
          <p:cNvSpPr/>
          <p:nvPr/>
        </p:nvSpPr>
        <p:spPr>
          <a:xfrm>
            <a:off x="758952"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Show a real object to the camera — Gemini Vision prices it and orders it.</a:t>
            </a:r>
            <a:endParaRPr lang="en-US" sz="1200" dirty="0"/>
          </a:p>
        </p:txBody>
      </p:sp>
      <p:sp>
        <p:nvSpPr>
          <p:cNvPr id="9" name="Shape 6"/>
          <p:cNvSpPr/>
          <p:nvPr/>
        </p:nvSpPr>
        <p:spPr>
          <a:xfrm>
            <a:off x="4322978"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0" name="Shape 7"/>
          <p:cNvSpPr/>
          <p:nvPr/>
        </p:nvSpPr>
        <p:spPr>
          <a:xfrm>
            <a:off x="4560722" y="2112264"/>
            <a:ext cx="585216" cy="585216"/>
          </a:xfrm>
          <a:prstGeom prst="roundRect">
            <a:avLst>
              <a:gd name="adj" fmla="val 20313"/>
            </a:avLst>
          </a:prstGeom>
          <a:solidFill>
            <a:srgbClr val="E11D48"/>
          </a:solidFill>
          <a:ln/>
        </p:spPr>
      </p:sp>
      <p:pic>
        <p:nvPicPr>
          <p:cNvPr id="11" name="Image 1" descr="icons/sync.png">    </p:cNvPr>
          <p:cNvPicPr>
            <a:picLocks noChangeAspect="1"/>
          </p:cNvPicPr>
          <p:nvPr/>
        </p:nvPicPr>
        <p:blipFill>
          <a:blip r:embed="rId3"/>
          <a:stretch>
            <a:fillRect/>
          </a:stretch>
        </p:blipFill>
        <p:spPr>
          <a:xfrm>
            <a:off x="4716170" y="2267712"/>
            <a:ext cx="274320" cy="274320"/>
          </a:xfrm>
          <a:prstGeom prst="rect">
            <a:avLst/>
          </a:prstGeom>
        </p:spPr>
      </p:pic>
      <p:sp>
        <p:nvSpPr>
          <p:cNvPr id="12" name="Text 8"/>
          <p:cNvSpPr/>
          <p:nvPr/>
        </p:nvSpPr>
        <p:spPr>
          <a:xfrm>
            <a:off x="5273954"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Self-healing, live on stage</a:t>
            </a:r>
            <a:endParaRPr lang="en-US" sz="1550" dirty="0"/>
          </a:p>
        </p:txBody>
      </p:sp>
      <p:sp>
        <p:nvSpPr>
          <p:cNvPr id="13" name="Text 9"/>
          <p:cNvSpPr/>
          <p:nvPr/>
        </p:nvSpPr>
        <p:spPr>
          <a:xfrm>
            <a:off x="4579010"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Kill a dependency with a button; watch DETECT→DIAGNOSE→REMEDIATE→VERIFY recover it.</a:t>
            </a:r>
            <a:endParaRPr lang="en-US" sz="1200" dirty="0"/>
          </a:p>
        </p:txBody>
      </p:sp>
      <p:sp>
        <p:nvSpPr>
          <p:cNvPr id="14" name="Shape 10"/>
          <p:cNvSpPr/>
          <p:nvPr/>
        </p:nvSpPr>
        <p:spPr>
          <a:xfrm>
            <a:off x="8143037" y="1874520"/>
            <a:ext cx="3545738" cy="1874520"/>
          </a:xfrm>
          <a:prstGeom prst="roundRect">
            <a:avLst>
              <a:gd name="adj" fmla="val 4878"/>
            </a:avLst>
          </a:prstGeom>
          <a:solidFill>
            <a:srgbClr val="FFFFFF">
              <a:alpha val="10000"/>
            </a:srgbClr>
          </a:solidFill>
          <a:ln w="12700">
            <a:solidFill>
              <a:srgbClr val="FFFFFF"/>
            </a:solidFill>
            <a:prstDash val="solid"/>
          </a:ln>
        </p:spPr>
      </p:sp>
      <p:sp>
        <p:nvSpPr>
          <p:cNvPr id="15" name="Shape 11"/>
          <p:cNvSpPr/>
          <p:nvPr/>
        </p:nvSpPr>
        <p:spPr>
          <a:xfrm>
            <a:off x="8380781" y="2112264"/>
            <a:ext cx="585216" cy="585216"/>
          </a:xfrm>
          <a:prstGeom prst="roundRect">
            <a:avLst>
              <a:gd name="adj" fmla="val 20313"/>
            </a:avLst>
          </a:prstGeom>
          <a:solidFill>
            <a:srgbClr val="E11D48"/>
          </a:solidFill>
          <a:ln/>
        </p:spPr>
      </p:sp>
      <p:pic>
        <p:nvPicPr>
          <p:cNvPr id="16" name="Image 2" descr="icons/eye.png">    </p:cNvPr>
          <p:cNvPicPr>
            <a:picLocks noChangeAspect="1"/>
          </p:cNvPicPr>
          <p:nvPr/>
        </p:nvPicPr>
        <p:blipFill>
          <a:blip r:embed="rId4"/>
          <a:stretch>
            <a:fillRect/>
          </a:stretch>
        </p:blipFill>
        <p:spPr>
          <a:xfrm>
            <a:off x="8536229" y="2267712"/>
            <a:ext cx="274320" cy="274320"/>
          </a:xfrm>
          <a:prstGeom prst="rect">
            <a:avLst/>
          </a:prstGeom>
        </p:spPr>
      </p:pic>
      <p:sp>
        <p:nvSpPr>
          <p:cNvPr id="17" name="Text 12"/>
          <p:cNvSpPr/>
          <p:nvPr/>
        </p:nvSpPr>
        <p:spPr>
          <a:xfrm>
            <a:off x="9094013" y="213055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Radical transparency</a:t>
            </a:r>
            <a:endParaRPr lang="en-US" sz="1550" dirty="0"/>
          </a:p>
        </p:txBody>
      </p:sp>
      <p:sp>
        <p:nvSpPr>
          <p:cNvPr id="18" name="Text 13"/>
          <p:cNvSpPr/>
          <p:nvPr/>
        </p:nvSpPr>
        <p:spPr>
          <a:xfrm>
            <a:off x="8399069" y="282549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live agent pipeline — agent → skill → tool → memory — for every single turn.</a:t>
            </a:r>
            <a:endParaRPr lang="en-US" sz="1200" dirty="0"/>
          </a:p>
        </p:txBody>
      </p:sp>
      <p:sp>
        <p:nvSpPr>
          <p:cNvPr id="19" name="Shape 14"/>
          <p:cNvSpPr/>
          <p:nvPr/>
        </p:nvSpPr>
        <p:spPr>
          <a:xfrm>
            <a:off x="502920"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0" name="Shape 15"/>
          <p:cNvSpPr/>
          <p:nvPr/>
        </p:nvSpPr>
        <p:spPr>
          <a:xfrm>
            <a:off x="740664" y="4261104"/>
            <a:ext cx="585216" cy="585216"/>
          </a:xfrm>
          <a:prstGeom prst="roundRect">
            <a:avLst>
              <a:gd name="adj" fmla="val 20313"/>
            </a:avLst>
          </a:prstGeom>
          <a:solidFill>
            <a:srgbClr val="E11D48"/>
          </a:solidFill>
          <a:ln/>
        </p:spPr>
      </p:sp>
      <p:pic>
        <p:nvPicPr>
          <p:cNvPr id="21" name="Image 3" descr="icons/brain.png">    </p:cNvPr>
          <p:cNvPicPr>
            <a:picLocks noChangeAspect="1"/>
          </p:cNvPicPr>
          <p:nvPr/>
        </p:nvPicPr>
        <p:blipFill>
          <a:blip r:embed="rId5"/>
          <a:stretch>
            <a:fillRect/>
          </a:stretch>
        </p:blipFill>
        <p:spPr>
          <a:xfrm>
            <a:off x="896112" y="4416552"/>
            <a:ext cx="274320" cy="274320"/>
          </a:xfrm>
          <a:prstGeom prst="rect">
            <a:avLst/>
          </a:prstGeom>
        </p:spPr>
      </p:pic>
      <p:sp>
        <p:nvSpPr>
          <p:cNvPr id="22" name="Text 16"/>
          <p:cNvSpPr/>
          <p:nvPr/>
        </p:nvSpPr>
        <p:spPr>
          <a:xfrm>
            <a:off x="1453896"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Two agent styles, one model</a:t>
            </a:r>
            <a:endParaRPr lang="en-US" sz="1550" dirty="0"/>
          </a:p>
        </p:txBody>
      </p:sp>
      <p:sp>
        <p:nvSpPr>
          <p:cNvPr id="23" name="Text 17"/>
          <p:cNvSpPr/>
          <p:nvPr/>
        </p:nvSpPr>
        <p:spPr>
          <a:xfrm>
            <a:off x="758952"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Native function-calling for transactions; visible ReAct (you watch it plan) for advice.</a:t>
            </a:r>
            <a:endParaRPr lang="en-US" sz="1200" dirty="0"/>
          </a:p>
        </p:txBody>
      </p:sp>
      <p:sp>
        <p:nvSpPr>
          <p:cNvPr id="24" name="Shape 18"/>
          <p:cNvSpPr/>
          <p:nvPr/>
        </p:nvSpPr>
        <p:spPr>
          <a:xfrm>
            <a:off x="4322978"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25" name="Shape 19"/>
          <p:cNvSpPr/>
          <p:nvPr/>
        </p:nvSpPr>
        <p:spPr>
          <a:xfrm>
            <a:off x="4560722" y="4261104"/>
            <a:ext cx="585216" cy="585216"/>
          </a:xfrm>
          <a:prstGeom prst="roundRect">
            <a:avLst>
              <a:gd name="adj" fmla="val 20313"/>
            </a:avLst>
          </a:prstGeom>
          <a:solidFill>
            <a:srgbClr val="E11D48"/>
          </a:solidFill>
          <a:ln/>
        </p:spPr>
      </p:sp>
      <p:pic>
        <p:nvPicPr>
          <p:cNvPr id="26" name="Image 4" descr="icons/lock.png">    </p:cNvPr>
          <p:cNvPicPr>
            <a:picLocks noChangeAspect="1"/>
          </p:cNvPicPr>
          <p:nvPr/>
        </p:nvPicPr>
        <p:blipFill>
          <a:blip r:embed="rId6"/>
          <a:stretch>
            <a:fillRect/>
          </a:stretch>
        </p:blipFill>
        <p:spPr>
          <a:xfrm>
            <a:off x="4716170" y="4416552"/>
            <a:ext cx="274320" cy="274320"/>
          </a:xfrm>
          <a:prstGeom prst="rect">
            <a:avLst/>
          </a:prstGeom>
        </p:spPr>
      </p:pic>
      <p:sp>
        <p:nvSpPr>
          <p:cNvPr id="27" name="Text 20"/>
          <p:cNvSpPr/>
          <p:nvPr/>
        </p:nvSpPr>
        <p:spPr>
          <a:xfrm>
            <a:off x="5273954"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Safe by design</a:t>
            </a:r>
            <a:endParaRPr lang="en-US" sz="1550" dirty="0"/>
          </a:p>
        </p:txBody>
      </p:sp>
      <p:sp>
        <p:nvSpPr>
          <p:cNvPr id="28" name="Text 21"/>
          <p:cNvSpPr/>
          <p:nvPr/>
        </p:nvSpPr>
        <p:spPr>
          <a:xfrm>
            <a:off x="4579010"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The AI never executes payment — a deterministic, auditable gate does; confirm-before-charge.</a:t>
            </a:r>
            <a:endParaRPr lang="en-US" sz="1200" dirty="0"/>
          </a:p>
        </p:txBody>
      </p:sp>
      <p:sp>
        <p:nvSpPr>
          <p:cNvPr id="29" name="Shape 22"/>
          <p:cNvSpPr/>
          <p:nvPr/>
        </p:nvSpPr>
        <p:spPr>
          <a:xfrm>
            <a:off x="8143037" y="4023360"/>
            <a:ext cx="3545738" cy="1874520"/>
          </a:xfrm>
          <a:prstGeom prst="roundRect">
            <a:avLst>
              <a:gd name="adj" fmla="val 4878"/>
            </a:avLst>
          </a:prstGeom>
          <a:solidFill>
            <a:srgbClr val="FFFFFF">
              <a:alpha val="10000"/>
            </a:srgbClr>
          </a:solidFill>
          <a:ln w="12700">
            <a:solidFill>
              <a:srgbClr val="FFFFFF"/>
            </a:solidFill>
            <a:prstDash val="solid"/>
          </a:ln>
        </p:spPr>
      </p:sp>
      <p:sp>
        <p:nvSpPr>
          <p:cNvPr id="30" name="Shape 23"/>
          <p:cNvSpPr/>
          <p:nvPr/>
        </p:nvSpPr>
        <p:spPr>
          <a:xfrm>
            <a:off x="8380781" y="4261104"/>
            <a:ext cx="585216" cy="585216"/>
          </a:xfrm>
          <a:prstGeom prst="roundRect">
            <a:avLst>
              <a:gd name="adj" fmla="val 20313"/>
            </a:avLst>
          </a:prstGeom>
          <a:solidFill>
            <a:srgbClr val="E11D48"/>
          </a:solidFill>
          <a:ln/>
        </p:spPr>
      </p:sp>
      <p:pic>
        <p:nvPicPr>
          <p:cNvPr id="31" name="Image 5" descr="icons/bolt.png">    </p:cNvPr>
          <p:cNvPicPr>
            <a:picLocks noChangeAspect="1"/>
          </p:cNvPicPr>
          <p:nvPr/>
        </p:nvPicPr>
        <p:blipFill>
          <a:blip r:embed="rId7"/>
          <a:stretch>
            <a:fillRect/>
          </a:stretch>
        </p:blipFill>
        <p:spPr>
          <a:xfrm>
            <a:off x="8536229" y="4416552"/>
            <a:ext cx="274320" cy="274320"/>
          </a:xfrm>
          <a:prstGeom prst="rect">
            <a:avLst/>
          </a:prstGeom>
        </p:spPr>
      </p:pic>
      <p:sp>
        <p:nvSpPr>
          <p:cNvPr id="32" name="Text 24"/>
          <p:cNvSpPr/>
          <p:nvPr/>
        </p:nvSpPr>
        <p:spPr>
          <a:xfrm>
            <a:off x="9094013" y="4279392"/>
            <a:ext cx="2448458" cy="548640"/>
          </a:xfrm>
          <a:prstGeom prst="rect">
            <a:avLst/>
          </a:prstGeom>
          <a:noFill/>
          <a:ln/>
        </p:spPr>
        <p:txBody>
          <a:bodyPr wrap="square" lIns="0" tIns="0" rIns="0" bIns="0" rtlCol="0" anchor="ctr"/>
          <a:lstStyle/>
          <a:p>
            <a:pPr indent="0" marL="0">
              <a:buNone/>
            </a:pPr>
            <a:r>
              <a:rPr lang="en-US" sz="1550" b="1" dirty="0">
                <a:solidFill>
                  <a:srgbClr val="FFFFFF"/>
                </a:solidFill>
                <a:latin typeface="Calibri" pitchFamily="34" charset="0"/>
                <a:ea typeface="Calibri" pitchFamily="34" charset="-122"/>
                <a:cs typeface="Calibri" pitchFamily="34" charset="-120"/>
              </a:rPr>
              <a:t>Production-shaped</a:t>
            </a:r>
            <a:endParaRPr lang="en-US" sz="1550" dirty="0"/>
          </a:p>
        </p:txBody>
      </p:sp>
      <p:sp>
        <p:nvSpPr>
          <p:cNvPr id="33" name="Text 25"/>
          <p:cNvSpPr/>
          <p:nvPr/>
        </p:nvSpPr>
        <p:spPr>
          <a:xfrm>
            <a:off x="8399069" y="4974336"/>
            <a:ext cx="3051962" cy="777240"/>
          </a:xfrm>
          <a:prstGeom prst="rect">
            <a:avLst/>
          </a:prstGeom>
          <a:noFill/>
          <a:ln/>
        </p:spPr>
        <p:txBody>
          <a:bodyPr wrap="square" lIns="0" tIns="0" rIns="0" bIns="0" rtlCol="0" anchor="t"/>
          <a:lstStyle/>
          <a:p>
            <a:pPr indent="0" marL="0">
              <a:buNone/>
            </a:pPr>
            <a:r>
              <a:rPr lang="en-US" sz="1200" dirty="0">
                <a:solidFill>
                  <a:srgbClr val="D7D3EC"/>
                </a:solidFill>
                <a:latin typeface="Calibri" pitchFamily="34" charset="0"/>
                <a:ea typeface="Calibri" pitchFamily="34" charset="-122"/>
                <a:cs typeface="Calibri" pitchFamily="34" charset="-120"/>
              </a:rPr>
              <a:t>117 tests · CI/CD · self-healing · observable — on Google Cloud, free-tier-first.</a:t>
            </a:r>
            <a:endParaRPr lang="en-US" sz="12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RELIABILITY, SAFETY &amp; TRUST</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Production-grade trust — by design, not by hope</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E11D48"/>
          </a:solidFill>
          <a:ln/>
        </p:spPr>
      </p:sp>
      <p:pic>
        <p:nvPicPr>
          <p:cNvPr id="6" name="Image 0" descr="icons/ba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Never substitutes</a:t>
            </a:r>
            <a:endParaRPr lang="en-US" sz="140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If the exact item isn't found, it says so — it won't swap in a different product.</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che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Confirm before charge</a:t>
            </a:r>
            <a:endParaRPr lang="en-US" sz="140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Cart preview + “please confirm” on every path — text, voice, and camera alike.</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7C3AED"/>
          </a:solidFill>
          <a:ln/>
        </p:spPr>
      </p:sp>
      <p:pic>
        <p:nvPicPr>
          <p:cNvPr id="16" name="Image 2" descr="icons/sync.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Self-healing Guardian</a:t>
            </a:r>
            <a:endParaRPr lang="en-US" sz="140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Circuit breaker · retry · failover · heal-forward; chaos buttons prove it live.</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2563EB"/>
          </a:solidFill>
          <a:ln/>
        </p:spPr>
      </p:sp>
      <p:pic>
        <p:nvPicPr>
          <p:cNvPr id="21" name="Image 3" descr="icons/sitemap.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No agent loops</a:t>
            </a:r>
            <a:endParaRPr lang="en-US" sz="140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Agent-as-tool, no nested agents, single-pass turns, bounded retries, degrade-once.</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0D9488"/>
          </a:solidFill>
          <a:ln/>
        </p:spPr>
      </p:sp>
      <p:pic>
        <p:nvPicPr>
          <p:cNvPr id="26" name="Image 4" descr="icons/db.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Durable shared state</a:t>
            </a:r>
            <a:endParaRPr lang="en-US" sz="140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session store on Firestore — context survives scale-to-zero &amp; autoscaling.</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F59E0B"/>
          </a:solidFill>
          <a:ln/>
        </p:spPr>
      </p:sp>
      <p:pic>
        <p:nvPicPr>
          <p:cNvPr id="31" name="Image 5" descr="icons/eye.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400" b="1" dirty="0">
                <a:solidFill>
                  <a:srgbClr val="0F172A"/>
                </a:solidFill>
                <a:latin typeface="Calibri" pitchFamily="34" charset="0"/>
                <a:ea typeface="Calibri" pitchFamily="34" charset="-122"/>
                <a:cs typeface="Calibri" pitchFamily="34" charset="-120"/>
              </a:rPr>
              <a:t>Full observability</a:t>
            </a:r>
            <a:endParaRPr lang="en-US" sz="140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Live /dev pipeline, Cloud Trace spans, /metrics, /version — debug any turn.</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12</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SELF-IMPROVEMENT · THE NEXT LAYER OF SELF-HEALING</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Recursive self-improvement — the agent learns from failure</a:t>
            </a:r>
            <a:endParaRPr lang="en-US" sz="2800" dirty="0"/>
          </a:p>
        </p:txBody>
      </p:sp>
      <p:sp>
        <p:nvSpPr>
          <p:cNvPr id="4" name="Text 2"/>
          <p:cNvSpPr/>
          <p:nvPr/>
        </p:nvSpPr>
        <p:spPr>
          <a:xfrm>
            <a:off x="502920" y="1591056"/>
            <a:ext cx="11185855" cy="411480"/>
          </a:xfrm>
          <a:prstGeom prst="rect">
            <a:avLst/>
          </a:prstGeom>
          <a:noFill/>
          <a:ln/>
        </p:spPr>
        <p:txBody>
          <a:bodyPr wrap="square" lIns="0" tIns="0" rIns="0" bIns="0" rtlCol="0" anchor="ctr"/>
          <a:lstStyle/>
          <a:p>
            <a:pPr indent="0" marL="0">
              <a:buNone/>
            </a:pPr>
            <a:r>
              <a:rPr lang="en-US" sz="1350" dirty="0">
                <a:solidFill>
                  <a:srgbClr val="5B6577"/>
                </a:solidFill>
                <a:latin typeface="Calibri" pitchFamily="34" charset="0"/>
                <a:ea typeface="Calibri" pitchFamily="34" charset="-122"/>
                <a:cs typeface="Calibri" pitchFamily="34" charset="-120"/>
              </a:rPr>
              <a:t>Guardian heals the infrastructure. </a:t>
            </a:r>
            <a:pPr indent="0" marL="0">
              <a:buNone/>
            </a:pPr>
            <a:r>
              <a:rPr lang="en-US" sz="1350" b="1" dirty="0">
                <a:solidFill>
                  <a:srgbClr val="0F172A"/>
                </a:solidFill>
                <a:latin typeface="Calibri" pitchFamily="34" charset="0"/>
                <a:ea typeface="Calibri" pitchFamily="34" charset="-122"/>
                <a:cs typeface="Calibri" pitchFamily="34" charset="-120"/>
              </a:rPr>
              <a:t>The CriticAgent heals the behaviour</a:t>
            </a:r>
            <a:pPr indent="0" marL="0">
              <a:buNone/>
            </a:pPr>
            <a:r>
              <a:rPr lang="en-US" sz="1350" dirty="0">
                <a:solidFill>
                  <a:srgbClr val="5B6577"/>
                </a:solidFill>
                <a:latin typeface="Calibri" pitchFamily="34" charset="0"/>
                <a:ea typeface="Calibri" pitchFamily="34" charset="-122"/>
                <a:cs typeface="Calibri" pitchFamily="34" charset="-120"/>
              </a:rPr>
              <a:t> — a closed learning loop, no retraining, no redeploy.</a:t>
            </a:r>
            <a:endParaRPr lang="en-US" sz="1350" dirty="0"/>
          </a:p>
        </p:txBody>
      </p:sp>
      <p:sp>
        <p:nvSpPr>
          <p:cNvPr id="5" name="Shape 3"/>
          <p:cNvSpPr/>
          <p:nvPr/>
        </p:nvSpPr>
        <p:spPr>
          <a:xfrm>
            <a:off x="50292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6" name="Shape 4"/>
          <p:cNvSpPr/>
          <p:nvPr/>
        </p:nvSpPr>
        <p:spPr>
          <a:xfrm>
            <a:off x="502920" y="2240280"/>
            <a:ext cx="2017715" cy="109728"/>
          </a:xfrm>
          <a:prstGeom prst="rect">
            <a:avLst/>
          </a:prstGeom>
          <a:solidFill>
            <a:srgbClr val="E11D48"/>
          </a:solidFill>
          <a:ln/>
        </p:spPr>
      </p:sp>
      <p:sp>
        <p:nvSpPr>
          <p:cNvPr id="7" name="Shape 5"/>
          <p:cNvSpPr/>
          <p:nvPr/>
        </p:nvSpPr>
        <p:spPr>
          <a:xfrm>
            <a:off x="1283178" y="2551176"/>
            <a:ext cx="457200" cy="457200"/>
          </a:xfrm>
          <a:prstGeom prst="ellipse">
            <a:avLst/>
          </a:prstGeom>
          <a:solidFill>
            <a:srgbClr val="E11D48"/>
          </a:solidFill>
          <a:ln/>
        </p:spPr>
      </p:sp>
      <p:pic>
        <p:nvPicPr>
          <p:cNvPr id="8" name="Image 0" descr="icons/ban.png">    </p:cNvPr>
          <p:cNvPicPr>
            <a:picLocks noChangeAspect="1"/>
          </p:cNvPicPr>
          <p:nvPr/>
        </p:nvPicPr>
        <p:blipFill>
          <a:blip r:embed="rId1"/>
          <a:stretch>
            <a:fillRect/>
          </a:stretch>
        </p:blipFill>
        <p:spPr>
          <a:xfrm>
            <a:off x="1392906" y="2660904"/>
            <a:ext cx="237744" cy="237744"/>
          </a:xfrm>
          <a:prstGeom prst="rect">
            <a:avLst/>
          </a:prstGeom>
        </p:spPr>
      </p:pic>
      <p:sp>
        <p:nvSpPr>
          <p:cNvPr id="9" name="Text 6"/>
          <p:cNvSpPr/>
          <p:nvPr/>
        </p:nvSpPr>
        <p:spPr>
          <a:xfrm>
            <a:off x="61264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1. DETECT</a:t>
            </a:r>
            <a:endParaRPr lang="en-US" sz="1400" dirty="0"/>
          </a:p>
        </p:txBody>
      </p:sp>
      <p:sp>
        <p:nvSpPr>
          <p:cNvPr id="10" name="Text 7"/>
          <p:cNvSpPr/>
          <p:nvPr/>
        </p:nvSpPr>
        <p:spPr>
          <a:xfrm>
            <a:off x="64922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 low-CSAT conversation</a:t>
            </a:r>
            <a:endParaRPr lang="en-US" sz="1100" dirty="0"/>
          </a:p>
        </p:txBody>
      </p:sp>
      <p:sp>
        <p:nvSpPr>
          <p:cNvPr id="11" name="Text 8"/>
          <p:cNvSpPr/>
          <p:nvPr/>
        </p:nvSpPr>
        <p:spPr>
          <a:xfrm>
            <a:off x="612648" y="4114800"/>
            <a:ext cx="1798259" cy="365760"/>
          </a:xfrm>
          <a:prstGeom prst="rect">
            <a:avLst/>
          </a:prstGeom>
          <a:noFill/>
          <a:ln/>
        </p:spPr>
        <p:txBody>
          <a:bodyPr wrap="square" lIns="0" tIns="0" rIns="0" bIns="0" rtlCol="0" anchor="t"/>
          <a:lstStyle/>
          <a:p>
            <a:pPr algn="ctr" indent="0" marL="0">
              <a:buNone/>
            </a:pPr>
            <a:r>
              <a:rPr lang="en-US" sz="950" i="1" dirty="0">
                <a:solidFill>
                  <a:srgbClr val="E11D48"/>
                </a:solidFill>
                <a:latin typeface="Calibri" pitchFamily="34" charset="0"/>
                <a:ea typeface="Calibri" pitchFamily="34" charset="-122"/>
                <a:cs typeface="Calibri" pitchFamily="34" charset="-120"/>
              </a:rPr>
              <a:t>CCAI Insights</a:t>
            </a:r>
            <a:endParaRPr lang="en-US" sz="950" dirty="0"/>
          </a:p>
        </p:txBody>
      </p:sp>
      <p:pic>
        <p:nvPicPr>
          <p:cNvPr id="12" name="Image 1" descr="icons/arrow.png">    </p:cNvPr>
          <p:cNvPicPr>
            <a:picLocks noChangeAspect="1"/>
          </p:cNvPicPr>
          <p:nvPr/>
        </p:nvPicPr>
        <p:blipFill>
          <a:blip r:embed="rId2"/>
          <a:stretch>
            <a:fillRect/>
          </a:stretch>
        </p:blipFill>
        <p:spPr>
          <a:xfrm>
            <a:off x="2538923" y="2697480"/>
            <a:ext cx="237744" cy="237744"/>
          </a:xfrm>
          <a:prstGeom prst="rect">
            <a:avLst/>
          </a:prstGeom>
        </p:spPr>
      </p:pic>
      <p:sp>
        <p:nvSpPr>
          <p:cNvPr id="13" name="Shape 9"/>
          <p:cNvSpPr/>
          <p:nvPr/>
        </p:nvSpPr>
        <p:spPr>
          <a:xfrm>
            <a:off x="2794955"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Shape 10"/>
          <p:cNvSpPr/>
          <p:nvPr/>
        </p:nvSpPr>
        <p:spPr>
          <a:xfrm>
            <a:off x="2794955" y="2240280"/>
            <a:ext cx="2017715" cy="109728"/>
          </a:xfrm>
          <a:prstGeom prst="rect">
            <a:avLst/>
          </a:prstGeom>
          <a:solidFill>
            <a:srgbClr val="7C3AED"/>
          </a:solidFill>
          <a:ln/>
        </p:spPr>
      </p:sp>
      <p:sp>
        <p:nvSpPr>
          <p:cNvPr id="15" name="Shape 11"/>
          <p:cNvSpPr/>
          <p:nvPr/>
        </p:nvSpPr>
        <p:spPr>
          <a:xfrm>
            <a:off x="3575213" y="2551176"/>
            <a:ext cx="457200" cy="457200"/>
          </a:xfrm>
          <a:prstGeom prst="ellipse">
            <a:avLst/>
          </a:prstGeom>
          <a:solidFill>
            <a:srgbClr val="7C3AED"/>
          </a:solidFill>
          <a:ln/>
        </p:spPr>
      </p:sp>
      <p:pic>
        <p:nvPicPr>
          <p:cNvPr id="16" name="Image 2" descr="icons/brain.png">    </p:cNvPr>
          <p:cNvPicPr>
            <a:picLocks noChangeAspect="1"/>
          </p:cNvPicPr>
          <p:nvPr/>
        </p:nvPicPr>
        <p:blipFill>
          <a:blip r:embed="rId3"/>
          <a:stretch>
            <a:fillRect/>
          </a:stretch>
        </p:blipFill>
        <p:spPr>
          <a:xfrm>
            <a:off x="3684941" y="2660904"/>
            <a:ext cx="237744" cy="237744"/>
          </a:xfrm>
          <a:prstGeom prst="rect">
            <a:avLst/>
          </a:prstGeom>
        </p:spPr>
      </p:pic>
      <p:sp>
        <p:nvSpPr>
          <p:cNvPr id="17" name="Text 12"/>
          <p:cNvSpPr/>
          <p:nvPr/>
        </p:nvSpPr>
        <p:spPr>
          <a:xfrm>
            <a:off x="2904683"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2. JUDGE</a:t>
            </a:r>
            <a:endParaRPr lang="en-US" sz="1400" dirty="0"/>
          </a:p>
        </p:txBody>
      </p:sp>
      <p:sp>
        <p:nvSpPr>
          <p:cNvPr id="18" name="Text 13"/>
          <p:cNvSpPr/>
          <p:nvPr/>
        </p:nvSpPr>
        <p:spPr>
          <a:xfrm>
            <a:off x="2941259"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Gemini-as-judge: root cause + corrective lesson</a:t>
            </a:r>
            <a:endParaRPr lang="en-US" sz="1100" dirty="0"/>
          </a:p>
        </p:txBody>
      </p:sp>
      <p:sp>
        <p:nvSpPr>
          <p:cNvPr id="19" name="Text 14"/>
          <p:cNvSpPr/>
          <p:nvPr/>
        </p:nvSpPr>
        <p:spPr>
          <a:xfrm>
            <a:off x="2904683" y="4114800"/>
            <a:ext cx="1798259" cy="365760"/>
          </a:xfrm>
          <a:prstGeom prst="rect">
            <a:avLst/>
          </a:prstGeom>
          <a:noFill/>
          <a:ln/>
        </p:spPr>
        <p:txBody>
          <a:bodyPr wrap="square" lIns="0" tIns="0" rIns="0" bIns="0" rtlCol="0" anchor="t"/>
          <a:lstStyle/>
          <a:p>
            <a:pPr algn="ctr" indent="0" marL="0">
              <a:buNone/>
            </a:pPr>
            <a:r>
              <a:rPr lang="en-US" sz="950" i="1" dirty="0">
                <a:solidFill>
                  <a:srgbClr val="7C3AED"/>
                </a:solidFill>
                <a:latin typeface="Calibri" pitchFamily="34" charset="0"/>
                <a:ea typeface="Calibri" pitchFamily="34" charset="-122"/>
                <a:cs typeface="Calibri" pitchFamily="34" charset="-120"/>
              </a:rPr>
              <a:t>Gemini 2.5 · Vertex</a:t>
            </a:r>
            <a:endParaRPr lang="en-US" sz="950" dirty="0"/>
          </a:p>
        </p:txBody>
      </p:sp>
      <p:pic>
        <p:nvPicPr>
          <p:cNvPr id="20" name="Image 3" descr="icons/arrow.png">    </p:cNvPr>
          <p:cNvPicPr>
            <a:picLocks noChangeAspect="1"/>
          </p:cNvPicPr>
          <p:nvPr/>
        </p:nvPicPr>
        <p:blipFill>
          <a:blip r:embed="rId4"/>
          <a:stretch>
            <a:fillRect/>
          </a:stretch>
        </p:blipFill>
        <p:spPr>
          <a:xfrm>
            <a:off x="4830958" y="2697480"/>
            <a:ext cx="237744" cy="237744"/>
          </a:xfrm>
          <a:prstGeom prst="rect">
            <a:avLst/>
          </a:prstGeom>
        </p:spPr>
      </p:pic>
      <p:sp>
        <p:nvSpPr>
          <p:cNvPr id="21" name="Shape 15"/>
          <p:cNvSpPr/>
          <p:nvPr/>
        </p:nvSpPr>
        <p:spPr>
          <a:xfrm>
            <a:off x="508699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2" name="Shape 16"/>
          <p:cNvSpPr/>
          <p:nvPr/>
        </p:nvSpPr>
        <p:spPr>
          <a:xfrm>
            <a:off x="5086990" y="2240280"/>
            <a:ext cx="2017715" cy="109728"/>
          </a:xfrm>
          <a:prstGeom prst="rect">
            <a:avLst/>
          </a:prstGeom>
          <a:solidFill>
            <a:srgbClr val="0D9488"/>
          </a:solidFill>
          <a:ln/>
        </p:spPr>
      </p:sp>
      <p:sp>
        <p:nvSpPr>
          <p:cNvPr id="23" name="Shape 17"/>
          <p:cNvSpPr/>
          <p:nvPr/>
        </p:nvSpPr>
        <p:spPr>
          <a:xfrm>
            <a:off x="5867248" y="2551176"/>
            <a:ext cx="457200" cy="457200"/>
          </a:xfrm>
          <a:prstGeom prst="ellipse">
            <a:avLst/>
          </a:prstGeom>
          <a:solidFill>
            <a:srgbClr val="0D9488"/>
          </a:solidFill>
          <a:ln/>
        </p:spPr>
      </p:sp>
      <p:pic>
        <p:nvPicPr>
          <p:cNvPr id="24" name="Image 4" descr="icons/db.png">    </p:cNvPr>
          <p:cNvPicPr>
            <a:picLocks noChangeAspect="1"/>
          </p:cNvPicPr>
          <p:nvPr/>
        </p:nvPicPr>
        <p:blipFill>
          <a:blip r:embed="rId5"/>
          <a:stretch>
            <a:fillRect/>
          </a:stretch>
        </p:blipFill>
        <p:spPr>
          <a:xfrm>
            <a:off x="5976976" y="2660904"/>
            <a:ext cx="237744" cy="237744"/>
          </a:xfrm>
          <a:prstGeom prst="rect">
            <a:avLst/>
          </a:prstGeom>
        </p:spPr>
      </p:pic>
      <p:sp>
        <p:nvSpPr>
          <p:cNvPr id="25" name="Text 18"/>
          <p:cNvSpPr/>
          <p:nvPr/>
        </p:nvSpPr>
        <p:spPr>
          <a:xfrm>
            <a:off x="519671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3. STORE</a:t>
            </a:r>
            <a:endParaRPr lang="en-US" sz="1400" dirty="0"/>
          </a:p>
        </p:txBody>
      </p:sp>
      <p:sp>
        <p:nvSpPr>
          <p:cNvPr id="26" name="Text 19"/>
          <p:cNvSpPr/>
          <p:nvPr/>
        </p:nvSpPr>
        <p:spPr>
          <a:xfrm>
            <a:off x="523329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confidence-gated lesson (≥ 0.70)</a:t>
            </a:r>
            <a:endParaRPr lang="en-US" sz="1100" dirty="0"/>
          </a:p>
        </p:txBody>
      </p:sp>
      <p:sp>
        <p:nvSpPr>
          <p:cNvPr id="27" name="Text 20"/>
          <p:cNvSpPr/>
          <p:nvPr/>
        </p:nvSpPr>
        <p:spPr>
          <a:xfrm>
            <a:off x="5196718" y="4114800"/>
            <a:ext cx="1798259" cy="365760"/>
          </a:xfrm>
          <a:prstGeom prst="rect">
            <a:avLst/>
          </a:prstGeom>
          <a:noFill/>
          <a:ln/>
        </p:spPr>
        <p:txBody>
          <a:bodyPr wrap="square" lIns="0" tIns="0" rIns="0" bIns="0" rtlCol="0" anchor="t"/>
          <a:lstStyle/>
          <a:p>
            <a:pPr algn="ctr" indent="0" marL="0">
              <a:buNone/>
            </a:pPr>
            <a:r>
              <a:rPr lang="en-US" sz="950" i="1" dirty="0">
                <a:solidFill>
                  <a:srgbClr val="0D9488"/>
                </a:solidFill>
                <a:latin typeface="Calibri" pitchFamily="34" charset="0"/>
                <a:ea typeface="Calibri" pitchFamily="34" charset="-122"/>
                <a:cs typeface="Calibri" pitchFamily="34" charset="-120"/>
              </a:rPr>
              <a:t>Vertex Vector Search + AlloyDB</a:t>
            </a:r>
            <a:endParaRPr lang="en-US" sz="950" dirty="0"/>
          </a:p>
        </p:txBody>
      </p:sp>
      <p:pic>
        <p:nvPicPr>
          <p:cNvPr id="28" name="Image 5" descr="icons/arrow.png">    </p:cNvPr>
          <p:cNvPicPr>
            <a:picLocks noChangeAspect="1"/>
          </p:cNvPicPr>
          <p:nvPr/>
        </p:nvPicPr>
        <p:blipFill>
          <a:blip r:embed="rId6"/>
          <a:stretch>
            <a:fillRect/>
          </a:stretch>
        </p:blipFill>
        <p:spPr>
          <a:xfrm>
            <a:off x="7122993" y="2697480"/>
            <a:ext cx="237744" cy="237744"/>
          </a:xfrm>
          <a:prstGeom prst="rect">
            <a:avLst/>
          </a:prstGeom>
        </p:spPr>
      </p:pic>
      <p:sp>
        <p:nvSpPr>
          <p:cNvPr id="29" name="Shape 21"/>
          <p:cNvSpPr/>
          <p:nvPr/>
        </p:nvSpPr>
        <p:spPr>
          <a:xfrm>
            <a:off x="7379025"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2"/>
          <p:cNvSpPr/>
          <p:nvPr/>
        </p:nvSpPr>
        <p:spPr>
          <a:xfrm>
            <a:off x="7379025" y="2240280"/>
            <a:ext cx="2017715" cy="109728"/>
          </a:xfrm>
          <a:prstGeom prst="rect">
            <a:avLst/>
          </a:prstGeom>
          <a:solidFill>
            <a:srgbClr val="F59E0B"/>
          </a:solidFill>
          <a:ln/>
        </p:spPr>
      </p:sp>
      <p:sp>
        <p:nvSpPr>
          <p:cNvPr id="31" name="Shape 23"/>
          <p:cNvSpPr/>
          <p:nvPr/>
        </p:nvSpPr>
        <p:spPr>
          <a:xfrm>
            <a:off x="8159283" y="2551176"/>
            <a:ext cx="457200" cy="457200"/>
          </a:xfrm>
          <a:prstGeom prst="ellipse">
            <a:avLst/>
          </a:prstGeom>
          <a:solidFill>
            <a:srgbClr val="F59E0B"/>
          </a:solidFill>
          <a:ln/>
        </p:spPr>
      </p:sp>
      <p:pic>
        <p:nvPicPr>
          <p:cNvPr id="32" name="Image 6" descr="icons/eye.png">    </p:cNvPr>
          <p:cNvPicPr>
            <a:picLocks noChangeAspect="1"/>
          </p:cNvPicPr>
          <p:nvPr/>
        </p:nvPicPr>
        <p:blipFill>
          <a:blip r:embed="rId7"/>
          <a:stretch>
            <a:fillRect/>
          </a:stretch>
        </p:blipFill>
        <p:spPr>
          <a:xfrm>
            <a:off x="8269011" y="2660904"/>
            <a:ext cx="237744" cy="237744"/>
          </a:xfrm>
          <a:prstGeom prst="rect">
            <a:avLst/>
          </a:prstGeom>
        </p:spPr>
      </p:pic>
      <p:sp>
        <p:nvSpPr>
          <p:cNvPr id="33" name="Text 24"/>
          <p:cNvSpPr/>
          <p:nvPr/>
        </p:nvSpPr>
        <p:spPr>
          <a:xfrm>
            <a:off x="7488753"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4. RETRIEVE</a:t>
            </a:r>
            <a:endParaRPr lang="en-US" sz="1400" dirty="0"/>
          </a:p>
        </p:txBody>
      </p:sp>
      <p:sp>
        <p:nvSpPr>
          <p:cNvPr id="34" name="Text 25"/>
          <p:cNvSpPr/>
          <p:nvPr/>
        </p:nvSpPr>
        <p:spPr>
          <a:xfrm>
            <a:off x="7525329"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lesson_retrieve before the next answer</a:t>
            </a:r>
            <a:endParaRPr lang="en-US" sz="1100" dirty="0"/>
          </a:p>
        </p:txBody>
      </p:sp>
      <p:sp>
        <p:nvSpPr>
          <p:cNvPr id="35" name="Text 26"/>
          <p:cNvSpPr/>
          <p:nvPr/>
        </p:nvSpPr>
        <p:spPr>
          <a:xfrm>
            <a:off x="7488753" y="4114800"/>
            <a:ext cx="1798259" cy="365760"/>
          </a:xfrm>
          <a:prstGeom prst="rect">
            <a:avLst/>
          </a:prstGeom>
          <a:noFill/>
          <a:ln/>
        </p:spPr>
        <p:txBody>
          <a:bodyPr wrap="square" lIns="0" tIns="0" rIns="0" bIns="0" rtlCol="0" anchor="t"/>
          <a:lstStyle/>
          <a:p>
            <a:pPr algn="ctr" indent="0" marL="0">
              <a:buNone/>
            </a:pPr>
            <a:r>
              <a:rPr lang="en-US" sz="950" i="1" dirty="0">
                <a:solidFill>
                  <a:srgbClr val="F59E0B"/>
                </a:solidFill>
                <a:latin typeface="Calibri" pitchFamily="34" charset="0"/>
                <a:ea typeface="Calibri" pitchFamily="34" charset="-122"/>
                <a:cs typeface="Calibri" pitchFamily="34" charset="-120"/>
              </a:rPr>
              <a:t>RAG (top-k)</a:t>
            </a:r>
            <a:endParaRPr lang="en-US" sz="950" dirty="0"/>
          </a:p>
        </p:txBody>
      </p:sp>
      <p:pic>
        <p:nvPicPr>
          <p:cNvPr id="36" name="Image 7" descr="icons/arrow.png">    </p:cNvPr>
          <p:cNvPicPr>
            <a:picLocks noChangeAspect="1"/>
          </p:cNvPicPr>
          <p:nvPr/>
        </p:nvPicPr>
        <p:blipFill>
          <a:blip r:embed="rId8"/>
          <a:stretch>
            <a:fillRect/>
          </a:stretch>
        </p:blipFill>
        <p:spPr>
          <a:xfrm>
            <a:off x="9415028" y="2697480"/>
            <a:ext cx="237744" cy="237744"/>
          </a:xfrm>
          <a:prstGeom prst="rect">
            <a:avLst/>
          </a:prstGeom>
        </p:spPr>
      </p:pic>
      <p:sp>
        <p:nvSpPr>
          <p:cNvPr id="37" name="Shape 27"/>
          <p:cNvSpPr/>
          <p:nvPr/>
        </p:nvSpPr>
        <p:spPr>
          <a:xfrm>
            <a:off x="9671060" y="2240280"/>
            <a:ext cx="2017715" cy="2331720"/>
          </a:xfrm>
          <a:prstGeom prst="roundRect">
            <a:avLst>
              <a:gd name="adj" fmla="val 4079"/>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8" name="Shape 28"/>
          <p:cNvSpPr/>
          <p:nvPr/>
        </p:nvSpPr>
        <p:spPr>
          <a:xfrm>
            <a:off x="9671060" y="2240280"/>
            <a:ext cx="2017715" cy="109728"/>
          </a:xfrm>
          <a:prstGeom prst="rect">
            <a:avLst/>
          </a:prstGeom>
          <a:solidFill>
            <a:srgbClr val="16A34A"/>
          </a:solidFill>
          <a:ln/>
        </p:spPr>
      </p:sp>
      <p:sp>
        <p:nvSpPr>
          <p:cNvPr id="39" name="Shape 29"/>
          <p:cNvSpPr/>
          <p:nvPr/>
        </p:nvSpPr>
        <p:spPr>
          <a:xfrm>
            <a:off x="10451318" y="2551176"/>
            <a:ext cx="457200" cy="457200"/>
          </a:xfrm>
          <a:prstGeom prst="ellipse">
            <a:avLst/>
          </a:prstGeom>
          <a:solidFill>
            <a:srgbClr val="16A34A"/>
          </a:solidFill>
          <a:ln/>
        </p:spPr>
      </p:sp>
      <p:pic>
        <p:nvPicPr>
          <p:cNvPr id="40" name="Image 8" descr="icons/check.png">    </p:cNvPr>
          <p:cNvPicPr>
            <a:picLocks noChangeAspect="1"/>
          </p:cNvPicPr>
          <p:nvPr/>
        </p:nvPicPr>
        <p:blipFill>
          <a:blip r:embed="rId9"/>
          <a:stretch>
            <a:fillRect/>
          </a:stretch>
        </p:blipFill>
        <p:spPr>
          <a:xfrm>
            <a:off x="10561046" y="2660904"/>
            <a:ext cx="237744" cy="237744"/>
          </a:xfrm>
          <a:prstGeom prst="rect">
            <a:avLst/>
          </a:prstGeom>
        </p:spPr>
      </p:pic>
      <p:sp>
        <p:nvSpPr>
          <p:cNvPr id="41" name="Text 30"/>
          <p:cNvSpPr/>
          <p:nvPr/>
        </p:nvSpPr>
        <p:spPr>
          <a:xfrm>
            <a:off x="9780788" y="3118104"/>
            <a:ext cx="1798259" cy="310896"/>
          </a:xfrm>
          <a:prstGeom prst="rect">
            <a:avLst/>
          </a:prstGeom>
          <a:noFill/>
          <a:ln/>
        </p:spPr>
        <p:txBody>
          <a:bodyPr wrap="square" lIns="0" tIns="0" rIns="0" bIns="0" rtlCol="0" anchor="ctr"/>
          <a:lstStyle/>
          <a:p>
            <a:pPr algn="ctr" indent="0" marL="0">
              <a:buNone/>
            </a:pPr>
            <a:r>
              <a:rPr lang="en-US" sz="1400" b="1" dirty="0">
                <a:solidFill>
                  <a:srgbClr val="0F172A"/>
                </a:solidFill>
                <a:latin typeface="Calibri" pitchFamily="34" charset="0"/>
                <a:ea typeface="Calibri" pitchFamily="34" charset="-122"/>
                <a:cs typeface="Calibri" pitchFamily="34" charset="-120"/>
              </a:rPr>
              <a:t>5. IMPROVE</a:t>
            </a:r>
            <a:endParaRPr lang="en-US" sz="1400" dirty="0"/>
          </a:p>
        </p:txBody>
      </p:sp>
      <p:sp>
        <p:nvSpPr>
          <p:cNvPr id="42" name="Text 31"/>
          <p:cNvSpPr/>
          <p:nvPr/>
        </p:nvSpPr>
        <p:spPr>
          <a:xfrm>
            <a:off x="9817364" y="3447288"/>
            <a:ext cx="1725107" cy="731520"/>
          </a:xfrm>
          <a:prstGeom prst="rect">
            <a:avLst/>
          </a:prstGeom>
          <a:noFill/>
          <a:ln/>
        </p:spPr>
        <p:txBody>
          <a:bodyPr wrap="square" lIns="0" tIns="0" rIns="0" bIns="0" rtlCol="0" anchor="t"/>
          <a:lstStyle/>
          <a:p>
            <a:pPr algn="ctr" indent="0" marL="0">
              <a:buNone/>
            </a:pPr>
            <a:r>
              <a:rPr lang="en-US" sz="1100" dirty="0">
                <a:solidFill>
                  <a:srgbClr val="5B6577"/>
                </a:solidFill>
                <a:latin typeface="Calibri" pitchFamily="34" charset="0"/>
                <a:ea typeface="Calibri" pitchFamily="34" charset="-122"/>
                <a:cs typeface="Calibri" pitchFamily="34" charset="-120"/>
              </a:rPr>
              <a:t>the next reply applies the lesson</a:t>
            </a:r>
            <a:endParaRPr lang="en-US" sz="1100" dirty="0"/>
          </a:p>
        </p:txBody>
      </p:sp>
      <p:sp>
        <p:nvSpPr>
          <p:cNvPr id="43" name="Text 32"/>
          <p:cNvSpPr/>
          <p:nvPr/>
        </p:nvSpPr>
        <p:spPr>
          <a:xfrm>
            <a:off x="9780788" y="4114800"/>
            <a:ext cx="1798259" cy="365760"/>
          </a:xfrm>
          <a:prstGeom prst="rect">
            <a:avLst/>
          </a:prstGeom>
          <a:noFill/>
          <a:ln/>
        </p:spPr>
        <p:txBody>
          <a:bodyPr wrap="square" lIns="0" tIns="0" rIns="0" bIns="0" rtlCol="0" anchor="t"/>
          <a:lstStyle/>
          <a:p>
            <a:pPr algn="ctr" indent="0" marL="0">
              <a:buNone/>
            </a:pPr>
            <a:r>
              <a:rPr lang="en-US" sz="950" i="1" dirty="0">
                <a:solidFill>
                  <a:srgbClr val="16A34A"/>
                </a:solidFill>
                <a:latin typeface="Calibri" pitchFamily="34" charset="0"/>
                <a:ea typeface="Calibri" pitchFamily="34" charset="-122"/>
                <a:cs typeface="Calibri" pitchFamily="34" charset="-120"/>
              </a:rPr>
              <a:t>no retrain · no redeploy</a:t>
            </a:r>
            <a:endParaRPr lang="en-US" sz="950" dirty="0"/>
          </a:p>
        </p:txBody>
      </p:sp>
      <p:sp>
        <p:nvSpPr>
          <p:cNvPr id="44" name="Shape 33"/>
          <p:cNvSpPr/>
          <p:nvPr/>
        </p:nvSpPr>
        <p:spPr>
          <a:xfrm>
            <a:off x="502920" y="4846320"/>
            <a:ext cx="11185855" cy="658368"/>
          </a:xfrm>
          <a:prstGeom prst="roundRect">
            <a:avLst>
              <a:gd name="adj" fmla="val 12500"/>
            </a:avLst>
          </a:prstGeom>
          <a:solidFill>
            <a:srgbClr val="0A0E1F"/>
          </a:solidFill>
          <a:ln/>
        </p:spPr>
      </p:sp>
      <p:pic>
        <p:nvPicPr>
          <p:cNvPr id="45" name="Image 9" descr="icons/sync.png">    </p:cNvPr>
          <p:cNvPicPr>
            <a:picLocks noChangeAspect="1"/>
          </p:cNvPicPr>
          <p:nvPr/>
        </p:nvPicPr>
        <p:blipFill>
          <a:blip r:embed="rId10"/>
          <a:stretch>
            <a:fillRect/>
          </a:stretch>
        </p:blipFill>
        <p:spPr>
          <a:xfrm>
            <a:off x="758952" y="5029200"/>
            <a:ext cx="310896" cy="310896"/>
          </a:xfrm>
          <a:prstGeom prst="rect">
            <a:avLst/>
          </a:prstGeom>
        </p:spPr>
      </p:pic>
      <p:sp>
        <p:nvSpPr>
          <p:cNvPr id="46" name="Text 34"/>
          <p:cNvSpPr/>
          <p:nvPr/>
        </p:nvSpPr>
        <p:spPr>
          <a:xfrm>
            <a:off x="1234440" y="4846320"/>
            <a:ext cx="10271455" cy="658368"/>
          </a:xfrm>
          <a:prstGeom prst="rect">
            <a:avLst/>
          </a:prstGeom>
          <a:noFill/>
          <a:ln/>
        </p:spPr>
        <p:txBody>
          <a:bodyPr wrap="square" lIns="0" tIns="0" rIns="0" bIns="0" rtlCol="0" anchor="ctr"/>
          <a:lstStyle/>
          <a:p>
            <a:pPr indent="0" marL="0">
              <a:buNone/>
            </a:pPr>
            <a:r>
              <a:rPr lang="en-US" sz="1150" b="1" spc="100" kern="0" dirty="0">
                <a:solidFill>
                  <a:srgbClr val="FCA5C0"/>
                </a:solidFill>
                <a:latin typeface="Calibri" pitchFamily="34" charset="0"/>
                <a:ea typeface="Calibri" pitchFamily="34" charset="-122"/>
                <a:cs typeface="Calibri" pitchFamily="34" charset="-120"/>
              </a:rPr>
              <a:t>↺ RECURSION   </a:t>
            </a:r>
            <a:pPr indent="0" marL="0">
              <a:buNone/>
            </a:pPr>
            <a:r>
              <a:rPr lang="en-US" sz="1150" dirty="0">
                <a:solidFill>
                  <a:srgbClr val="D7D3EC"/>
                </a:solidFill>
                <a:latin typeface="Calibri" pitchFamily="34" charset="0"/>
                <a:ea typeface="Calibri" pitchFamily="34" charset="-122"/>
                <a:cs typeface="Calibri" pitchFamily="34" charset="-120"/>
              </a:rPr>
              <a:t>lessons feed every future answer · the cycle runs as a Cloud Run Job every 15 min (Cloud Scheduler) · isolated &amp; additive — a no-op when no lesson matches</a:t>
            </a:r>
            <a:endParaRPr lang="en-US" sz="1150" dirty="0"/>
          </a:p>
        </p:txBody>
      </p:sp>
      <p:sp>
        <p:nvSpPr>
          <p:cNvPr id="47" name="Text 35"/>
          <p:cNvSpPr/>
          <p:nvPr/>
        </p:nvSpPr>
        <p:spPr>
          <a:xfrm>
            <a:off x="502920" y="5623560"/>
            <a:ext cx="11185855" cy="457200"/>
          </a:xfrm>
          <a:prstGeom prst="rect">
            <a:avLst/>
          </a:prstGeom>
          <a:noFill/>
          <a:ln/>
        </p:spPr>
        <p:txBody>
          <a:bodyPr wrap="square" lIns="0" tIns="0" rIns="0" bIns="0" rtlCol="0" anchor="ctr"/>
          <a:lstStyle/>
          <a:p>
            <a:pPr indent="0" marL="0">
              <a:buNone/>
            </a:pPr>
            <a:r>
              <a:rPr lang="en-US" sz="1100" b="1" i="1" dirty="0">
                <a:solidFill>
                  <a:srgbClr val="0F172A"/>
                </a:solidFill>
                <a:latin typeface="Calibri" pitchFamily="34" charset="0"/>
                <a:ea typeface="Calibri" pitchFamily="34" charset="-122"/>
                <a:cs typeface="Calibri" pitchFamily="34" charset="-120"/>
              </a:rPr>
              <a:t>Demo:  </a:t>
            </a:r>
            <a:pPr indent="0" marL="0">
              <a:buNone/>
            </a:pPr>
            <a:r>
              <a:rPr lang="en-US" sz="1100" i="1" dirty="0">
                <a:solidFill>
                  <a:srgbClr val="5B6577"/>
                </a:solidFill>
                <a:latin typeface="Calibri" pitchFamily="34" charset="0"/>
                <a:ea typeface="Calibri" pitchFamily="34" charset="-122"/>
                <a:cs typeface="Calibri" pitchFamily="34" charset="-120"/>
              </a:rPr>
              <a:t>ask “do you have laptops?” → flat refusal → 👎 Teach GOOPHER → ask again → it names real in-stock items &amp; asks a clarifying question (watch 🔎 DETECT → 🧠 JUDGE → 💡 LESSON in /dev).</a:t>
            </a:r>
            <a:endParaRPr lang="en-US" sz="1100" dirty="0"/>
          </a:p>
        </p:txBody>
      </p:sp>
      <p:sp>
        <p:nvSpPr>
          <p:cNvPr id="48" name="Text 3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49" name="Text 3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13</a:t>
            </a:r>
            <a:endParaRPr lang="en-US" sz="9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E11D48"/>
                </a:solidFill>
                <a:latin typeface="Calibri" pitchFamily="34" charset="0"/>
                <a:ea typeface="Calibri" pitchFamily="34" charset="-122"/>
                <a:cs typeface="Calibri" pitchFamily="34" charset="-120"/>
              </a:rPr>
              <a:t>BUSINESS &amp; STRATEGIC VALUE — FOR THE VP OF STRATEGY</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technical win to measurable business value</a:t>
            </a:r>
            <a:endParaRPr lang="en-US" sz="2800" dirty="0"/>
          </a:p>
        </p:txBody>
      </p:sp>
      <p:sp>
        <p:nvSpPr>
          <p:cNvPr id="4" name="Shape 2"/>
          <p:cNvSpPr/>
          <p:nvPr/>
        </p:nvSpPr>
        <p:spPr>
          <a:xfrm>
            <a:off x="502920"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Text 3"/>
          <p:cNvSpPr/>
          <p:nvPr/>
        </p:nvSpPr>
        <p:spPr>
          <a:xfrm>
            <a:off x="594360" y="1965960"/>
            <a:ext cx="2432304" cy="777240"/>
          </a:xfrm>
          <a:prstGeom prst="rect">
            <a:avLst/>
          </a:prstGeom>
          <a:noFill/>
          <a:ln/>
        </p:spPr>
        <p:txBody>
          <a:bodyPr wrap="square" lIns="0" tIns="0" rIns="0" bIns="0" rtlCol="0" anchor="ctr"/>
          <a:lstStyle/>
          <a:p>
            <a:pPr algn="ctr" indent="0" marL="0">
              <a:buNone/>
            </a:pPr>
            <a:r>
              <a:rPr lang="en-US" sz="4000" b="1" dirty="0">
                <a:solidFill>
                  <a:srgbClr val="7C3AED"/>
                </a:solidFill>
                <a:latin typeface="Georgia" pitchFamily="34" charset="0"/>
                <a:ea typeface="Georgia" pitchFamily="34" charset="-122"/>
                <a:cs typeface="Georgia" pitchFamily="34" charset="-120"/>
              </a:rPr>
              <a:t>24/7</a:t>
            </a:r>
            <a:endParaRPr lang="en-US" sz="4000" dirty="0"/>
          </a:p>
        </p:txBody>
      </p:sp>
      <p:sp>
        <p:nvSpPr>
          <p:cNvPr id="6" name="Text 4"/>
          <p:cNvSpPr/>
          <p:nvPr/>
        </p:nvSpPr>
        <p:spPr>
          <a:xfrm>
            <a:off x="667512"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Self-service order mgmt &amp; support — every channel, every language</a:t>
            </a:r>
            <a:endParaRPr lang="en-US" sz="1150" dirty="0"/>
          </a:p>
        </p:txBody>
      </p:sp>
      <p:sp>
        <p:nvSpPr>
          <p:cNvPr id="7" name="Shape 5"/>
          <p:cNvSpPr/>
          <p:nvPr/>
        </p:nvSpPr>
        <p:spPr>
          <a:xfrm>
            <a:off x="3300984"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8" name="Text 6"/>
          <p:cNvSpPr/>
          <p:nvPr/>
        </p:nvSpPr>
        <p:spPr>
          <a:xfrm>
            <a:off x="3392424" y="1965960"/>
            <a:ext cx="2432304" cy="777240"/>
          </a:xfrm>
          <a:prstGeom prst="rect">
            <a:avLst/>
          </a:prstGeom>
          <a:noFill/>
          <a:ln/>
        </p:spPr>
        <p:txBody>
          <a:bodyPr wrap="square" lIns="0" tIns="0" rIns="0" bIns="0" rtlCol="0" anchor="ctr"/>
          <a:lstStyle/>
          <a:p>
            <a:pPr algn="ctr" indent="0" marL="0">
              <a:buNone/>
            </a:pPr>
            <a:r>
              <a:rPr lang="en-US" sz="4000" b="1" dirty="0">
                <a:solidFill>
                  <a:srgbClr val="0D9488"/>
                </a:solidFill>
                <a:latin typeface="Georgia" pitchFamily="34" charset="0"/>
                <a:ea typeface="Georgia" pitchFamily="34" charset="-122"/>
                <a:cs typeface="Georgia" pitchFamily="34" charset="-120"/>
              </a:rPr>
              <a:t>60–80%</a:t>
            </a:r>
            <a:endParaRPr lang="en-US" sz="4000" dirty="0"/>
          </a:p>
        </p:txBody>
      </p:sp>
      <p:sp>
        <p:nvSpPr>
          <p:cNvPr id="9" name="Text 7"/>
          <p:cNvSpPr/>
          <p:nvPr/>
        </p:nvSpPr>
        <p:spPr>
          <a:xfrm>
            <a:off x="3465576"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Typical self-service deflection of routine contacts (industry benchmark)</a:t>
            </a:r>
            <a:endParaRPr lang="en-US" sz="1150" dirty="0"/>
          </a:p>
        </p:txBody>
      </p:sp>
      <p:sp>
        <p:nvSpPr>
          <p:cNvPr id="10" name="Shape 8"/>
          <p:cNvSpPr/>
          <p:nvPr/>
        </p:nvSpPr>
        <p:spPr>
          <a:xfrm>
            <a:off x="6099048" y="1783080"/>
            <a:ext cx="2615184"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1" name="Text 9"/>
          <p:cNvSpPr/>
          <p:nvPr/>
        </p:nvSpPr>
        <p:spPr>
          <a:xfrm>
            <a:off x="6190488" y="1965960"/>
            <a:ext cx="2432304" cy="777240"/>
          </a:xfrm>
          <a:prstGeom prst="rect">
            <a:avLst/>
          </a:prstGeom>
          <a:noFill/>
          <a:ln/>
        </p:spPr>
        <p:txBody>
          <a:bodyPr wrap="square" lIns="0" tIns="0" rIns="0" bIns="0" rtlCol="0" anchor="ctr"/>
          <a:lstStyle/>
          <a:p>
            <a:pPr algn="ctr" indent="0" marL="0">
              <a:buNone/>
            </a:pPr>
            <a:r>
              <a:rPr lang="en-US" sz="4000" b="1" dirty="0">
                <a:solidFill>
                  <a:srgbClr val="F59E0B"/>
                </a:solidFill>
                <a:latin typeface="Georgia" pitchFamily="34" charset="0"/>
                <a:ea typeface="Georgia" pitchFamily="34" charset="-122"/>
                <a:cs typeface="Georgia" pitchFamily="34" charset="-120"/>
              </a:rPr>
              <a:t>~$0</a:t>
            </a:r>
            <a:endParaRPr lang="en-US" sz="4000" dirty="0"/>
          </a:p>
        </p:txBody>
      </p:sp>
      <p:sp>
        <p:nvSpPr>
          <p:cNvPr id="12" name="Text 10"/>
          <p:cNvSpPr/>
          <p:nvPr/>
        </p:nvSpPr>
        <p:spPr>
          <a:xfrm>
            <a:off x="6263640" y="2734056"/>
            <a:ext cx="2286000"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Idle cost — Cloud Run scales to zero between conversations</a:t>
            </a:r>
            <a:endParaRPr lang="en-US" sz="1150" dirty="0"/>
          </a:p>
        </p:txBody>
      </p:sp>
      <p:sp>
        <p:nvSpPr>
          <p:cNvPr id="13" name="Shape 11"/>
          <p:cNvSpPr/>
          <p:nvPr/>
        </p:nvSpPr>
        <p:spPr>
          <a:xfrm>
            <a:off x="8897112" y="1783080"/>
            <a:ext cx="2791663" cy="1554480"/>
          </a:xfrm>
          <a:prstGeom prst="roundRect">
            <a:avLst>
              <a:gd name="adj" fmla="val 5294"/>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4" name="Text 12"/>
          <p:cNvSpPr/>
          <p:nvPr/>
        </p:nvSpPr>
        <p:spPr>
          <a:xfrm>
            <a:off x="8988552" y="1965960"/>
            <a:ext cx="2608783" cy="777240"/>
          </a:xfrm>
          <a:prstGeom prst="rect">
            <a:avLst/>
          </a:prstGeom>
          <a:noFill/>
          <a:ln/>
        </p:spPr>
        <p:txBody>
          <a:bodyPr wrap="square" lIns="0" tIns="0" rIns="0" bIns="0" rtlCol="0" anchor="ctr"/>
          <a:lstStyle/>
          <a:p>
            <a:pPr algn="ctr" indent="0" marL="0">
              <a:buNone/>
            </a:pPr>
            <a:r>
              <a:rPr lang="en-US" sz="4000" b="1" dirty="0">
                <a:solidFill>
                  <a:srgbClr val="E11D48"/>
                </a:solidFill>
                <a:latin typeface="Georgia" pitchFamily="34" charset="0"/>
                <a:ea typeface="Georgia" pitchFamily="34" charset="-122"/>
                <a:cs typeface="Georgia" pitchFamily="34" charset="-120"/>
              </a:rPr>
              <a:t>1 agent</a:t>
            </a:r>
            <a:endParaRPr lang="en-US" sz="4000" dirty="0"/>
          </a:p>
        </p:txBody>
      </p:sp>
      <p:sp>
        <p:nvSpPr>
          <p:cNvPr id="15" name="Text 13"/>
          <p:cNvSpPr/>
          <p:nvPr/>
        </p:nvSpPr>
        <p:spPr>
          <a:xfrm>
            <a:off x="9061704" y="2734056"/>
            <a:ext cx="2462479" cy="548640"/>
          </a:xfrm>
          <a:prstGeom prst="rect">
            <a:avLst/>
          </a:prstGeom>
          <a:noFill/>
          <a:ln/>
        </p:spPr>
        <p:txBody>
          <a:bodyPr wrap="square" lIns="0" tIns="0" rIns="0" bIns="0" rtlCol="0" anchor="t"/>
          <a:lstStyle/>
          <a:p>
            <a:pPr algn="ctr" indent="0" marL="0">
              <a:buNone/>
            </a:pPr>
            <a:r>
              <a:rPr lang="en-US" sz="1150" dirty="0">
                <a:solidFill>
                  <a:srgbClr val="5B6577"/>
                </a:solidFill>
                <a:latin typeface="Calibri" pitchFamily="34" charset="0"/>
                <a:ea typeface="Calibri" pitchFamily="34" charset="-122"/>
                <a:cs typeface="Calibri" pitchFamily="34" charset="-120"/>
              </a:rPr>
              <a:t>Replaces search + support + checkout hand-offs</a:t>
            </a:r>
            <a:endParaRPr lang="en-US" sz="1150" dirty="0"/>
          </a:p>
        </p:txBody>
      </p:sp>
      <p:sp>
        <p:nvSpPr>
          <p:cNvPr id="16" name="Shape 14"/>
          <p:cNvSpPr/>
          <p:nvPr/>
        </p:nvSpPr>
        <p:spPr>
          <a:xfrm>
            <a:off x="502920" y="3657600"/>
            <a:ext cx="5318608" cy="1234440"/>
          </a:xfrm>
          <a:prstGeom prst="roundRect">
            <a:avLst>
              <a:gd name="adj" fmla="val 5926"/>
            </a:avLst>
          </a:prstGeom>
          <a:solidFill>
            <a:srgbClr val="F5F6FB"/>
          </a:solidFill>
          <a:ln w="12700">
            <a:solidFill>
              <a:srgbClr val="E6E8F0"/>
            </a:solidFill>
            <a:prstDash val="solid"/>
          </a:ln>
        </p:spPr>
      </p:sp>
      <p:sp>
        <p:nvSpPr>
          <p:cNvPr id="17" name="Shape 15"/>
          <p:cNvSpPr/>
          <p:nvPr/>
        </p:nvSpPr>
        <p:spPr>
          <a:xfrm>
            <a:off x="704088" y="3986784"/>
            <a:ext cx="548640" cy="548640"/>
          </a:xfrm>
          <a:prstGeom prst="roundRect">
            <a:avLst>
              <a:gd name="adj" fmla="val 20000"/>
            </a:avLst>
          </a:prstGeom>
          <a:solidFill>
            <a:srgbClr val="E11D48"/>
          </a:solidFill>
          <a:ln/>
        </p:spPr>
      </p:sp>
      <p:pic>
        <p:nvPicPr>
          <p:cNvPr id="18" name="Image 0" descr="icons/chart.png">    </p:cNvPr>
          <p:cNvPicPr>
            <a:picLocks noChangeAspect="1"/>
          </p:cNvPicPr>
          <p:nvPr/>
        </p:nvPicPr>
        <p:blipFill>
          <a:blip r:embed="rId1"/>
          <a:stretch>
            <a:fillRect/>
          </a:stretch>
        </p:blipFill>
        <p:spPr>
          <a:xfrm>
            <a:off x="841248" y="4123944"/>
            <a:ext cx="274320" cy="274320"/>
          </a:xfrm>
          <a:prstGeom prst="rect">
            <a:avLst/>
          </a:prstGeom>
        </p:spPr>
      </p:pic>
      <p:sp>
        <p:nvSpPr>
          <p:cNvPr id="19" name="Text 16"/>
          <p:cNvSpPr/>
          <p:nvPr/>
        </p:nvSpPr>
        <p:spPr>
          <a:xfrm>
            <a:off x="1417320"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Higher conversion &amp; AOV</a:t>
            </a:r>
            <a:endParaRPr lang="en-US" sz="1450" dirty="0"/>
          </a:p>
        </p:txBody>
      </p:sp>
      <p:sp>
        <p:nvSpPr>
          <p:cNvPr id="20" name="Text 17"/>
          <p:cNvSpPr/>
          <p:nvPr/>
        </p:nvSpPr>
        <p:spPr>
          <a:xfrm>
            <a:off x="1417320"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Natural discovery + “see-it-shop-it” + recommendations turn questions into orders.</a:t>
            </a:r>
            <a:endParaRPr lang="en-US" sz="1200" dirty="0"/>
          </a:p>
        </p:txBody>
      </p:sp>
      <p:sp>
        <p:nvSpPr>
          <p:cNvPr id="21" name="Shape 18"/>
          <p:cNvSpPr/>
          <p:nvPr/>
        </p:nvSpPr>
        <p:spPr>
          <a:xfrm>
            <a:off x="6370168" y="3657600"/>
            <a:ext cx="5318608" cy="1234440"/>
          </a:xfrm>
          <a:prstGeom prst="roundRect">
            <a:avLst>
              <a:gd name="adj" fmla="val 5926"/>
            </a:avLst>
          </a:prstGeom>
          <a:solidFill>
            <a:srgbClr val="F5F6FB"/>
          </a:solidFill>
          <a:ln w="12700">
            <a:solidFill>
              <a:srgbClr val="E6E8F0"/>
            </a:solidFill>
            <a:prstDash val="solid"/>
          </a:ln>
        </p:spPr>
      </p:sp>
      <p:sp>
        <p:nvSpPr>
          <p:cNvPr id="22" name="Shape 19"/>
          <p:cNvSpPr/>
          <p:nvPr/>
        </p:nvSpPr>
        <p:spPr>
          <a:xfrm>
            <a:off x="6571336" y="3986784"/>
            <a:ext cx="548640" cy="548640"/>
          </a:xfrm>
          <a:prstGeom prst="roundRect">
            <a:avLst>
              <a:gd name="adj" fmla="val 20000"/>
            </a:avLst>
          </a:prstGeom>
          <a:solidFill>
            <a:srgbClr val="E11D48"/>
          </a:solidFill>
          <a:ln/>
        </p:spPr>
      </p:sp>
      <p:pic>
        <p:nvPicPr>
          <p:cNvPr id="23" name="Image 1" descr="icons/globe.png">    </p:cNvPr>
          <p:cNvPicPr>
            <a:picLocks noChangeAspect="1"/>
          </p:cNvPicPr>
          <p:nvPr/>
        </p:nvPicPr>
        <p:blipFill>
          <a:blip r:embed="rId2"/>
          <a:stretch>
            <a:fillRect/>
          </a:stretch>
        </p:blipFill>
        <p:spPr>
          <a:xfrm>
            <a:off x="6708496" y="4123944"/>
            <a:ext cx="274320" cy="274320"/>
          </a:xfrm>
          <a:prstGeom prst="rect">
            <a:avLst/>
          </a:prstGeom>
        </p:spPr>
      </p:pic>
      <p:sp>
        <p:nvSpPr>
          <p:cNvPr id="24" name="Text 20"/>
          <p:cNvSpPr/>
          <p:nvPr/>
        </p:nvSpPr>
        <p:spPr>
          <a:xfrm>
            <a:off x="7284568" y="3840480"/>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Instant global reach</a:t>
            </a:r>
            <a:endParaRPr lang="en-US" sz="1450" dirty="0"/>
          </a:p>
        </p:txBody>
      </p:sp>
      <p:sp>
        <p:nvSpPr>
          <p:cNvPr id="25" name="Text 21"/>
          <p:cNvSpPr/>
          <p:nvPr/>
        </p:nvSpPr>
        <p:spPr>
          <a:xfrm>
            <a:off x="7284568" y="4206240"/>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One agent serves every language &amp; channel — no per-market chatbot rebuilds.</a:t>
            </a:r>
            <a:endParaRPr lang="en-US" sz="1200" dirty="0"/>
          </a:p>
        </p:txBody>
      </p:sp>
      <p:sp>
        <p:nvSpPr>
          <p:cNvPr id="26" name="Shape 22"/>
          <p:cNvSpPr/>
          <p:nvPr/>
        </p:nvSpPr>
        <p:spPr>
          <a:xfrm>
            <a:off x="502920" y="5093208"/>
            <a:ext cx="5318608" cy="1234440"/>
          </a:xfrm>
          <a:prstGeom prst="roundRect">
            <a:avLst>
              <a:gd name="adj" fmla="val 5926"/>
            </a:avLst>
          </a:prstGeom>
          <a:solidFill>
            <a:srgbClr val="F5F6FB"/>
          </a:solidFill>
          <a:ln w="12700">
            <a:solidFill>
              <a:srgbClr val="E6E8F0"/>
            </a:solidFill>
            <a:prstDash val="solid"/>
          </a:ln>
        </p:spPr>
      </p:sp>
      <p:sp>
        <p:nvSpPr>
          <p:cNvPr id="27" name="Shape 23"/>
          <p:cNvSpPr/>
          <p:nvPr/>
        </p:nvSpPr>
        <p:spPr>
          <a:xfrm>
            <a:off x="704088" y="5422392"/>
            <a:ext cx="548640" cy="548640"/>
          </a:xfrm>
          <a:prstGeom prst="roundRect">
            <a:avLst>
              <a:gd name="adj" fmla="val 20000"/>
            </a:avLst>
          </a:prstGeom>
          <a:solidFill>
            <a:srgbClr val="E11D48"/>
          </a:solidFill>
          <a:ln/>
        </p:spPr>
      </p:sp>
      <p:pic>
        <p:nvPicPr>
          <p:cNvPr id="28" name="Image 2" descr="icons/bolt.png">    </p:cNvPr>
          <p:cNvPicPr>
            <a:picLocks noChangeAspect="1"/>
          </p:cNvPicPr>
          <p:nvPr/>
        </p:nvPicPr>
        <p:blipFill>
          <a:blip r:embed="rId3"/>
          <a:stretch>
            <a:fillRect/>
          </a:stretch>
        </p:blipFill>
        <p:spPr>
          <a:xfrm>
            <a:off x="841248" y="5559552"/>
            <a:ext cx="274320" cy="274320"/>
          </a:xfrm>
          <a:prstGeom prst="rect">
            <a:avLst/>
          </a:prstGeom>
        </p:spPr>
      </p:pic>
      <p:sp>
        <p:nvSpPr>
          <p:cNvPr id="29" name="Text 24"/>
          <p:cNvSpPr/>
          <p:nvPr/>
        </p:nvSpPr>
        <p:spPr>
          <a:xfrm>
            <a:off x="1417320"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Lower cost to serve</a:t>
            </a:r>
            <a:endParaRPr lang="en-US" sz="1450" dirty="0"/>
          </a:p>
        </p:txBody>
      </p:sp>
      <p:sp>
        <p:nvSpPr>
          <p:cNvPr id="30" name="Text 25"/>
          <p:cNvSpPr/>
          <p:nvPr/>
        </p:nvSpPr>
        <p:spPr>
          <a:xfrm>
            <a:off x="1417320"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Deflect routine contacts; serverless + free-tier-first keeps run-cost low.</a:t>
            </a:r>
            <a:endParaRPr lang="en-US" sz="1200" dirty="0"/>
          </a:p>
        </p:txBody>
      </p:sp>
      <p:sp>
        <p:nvSpPr>
          <p:cNvPr id="31" name="Shape 26"/>
          <p:cNvSpPr/>
          <p:nvPr/>
        </p:nvSpPr>
        <p:spPr>
          <a:xfrm>
            <a:off x="6370168" y="5093208"/>
            <a:ext cx="5318608" cy="1234440"/>
          </a:xfrm>
          <a:prstGeom prst="roundRect">
            <a:avLst>
              <a:gd name="adj" fmla="val 5926"/>
            </a:avLst>
          </a:prstGeom>
          <a:solidFill>
            <a:srgbClr val="F5F6FB"/>
          </a:solidFill>
          <a:ln w="12700">
            <a:solidFill>
              <a:srgbClr val="E6E8F0"/>
            </a:solidFill>
            <a:prstDash val="solid"/>
          </a:ln>
        </p:spPr>
      </p:sp>
      <p:sp>
        <p:nvSpPr>
          <p:cNvPr id="32" name="Shape 27"/>
          <p:cNvSpPr/>
          <p:nvPr/>
        </p:nvSpPr>
        <p:spPr>
          <a:xfrm>
            <a:off x="6571336" y="5422392"/>
            <a:ext cx="548640" cy="548640"/>
          </a:xfrm>
          <a:prstGeom prst="roundRect">
            <a:avLst>
              <a:gd name="adj" fmla="val 20000"/>
            </a:avLst>
          </a:prstGeom>
          <a:solidFill>
            <a:srgbClr val="E11D48"/>
          </a:solidFill>
          <a:ln/>
        </p:spPr>
      </p:sp>
      <p:pic>
        <p:nvPicPr>
          <p:cNvPr id="33" name="Image 3" descr="icons/shield.png">    </p:cNvPr>
          <p:cNvPicPr>
            <a:picLocks noChangeAspect="1"/>
          </p:cNvPicPr>
          <p:nvPr/>
        </p:nvPicPr>
        <p:blipFill>
          <a:blip r:embed="rId4"/>
          <a:stretch>
            <a:fillRect/>
          </a:stretch>
        </p:blipFill>
        <p:spPr>
          <a:xfrm>
            <a:off x="6708496" y="5559552"/>
            <a:ext cx="274320" cy="274320"/>
          </a:xfrm>
          <a:prstGeom prst="rect">
            <a:avLst/>
          </a:prstGeom>
        </p:spPr>
      </p:pic>
      <p:sp>
        <p:nvSpPr>
          <p:cNvPr id="34" name="Text 28"/>
          <p:cNvSpPr/>
          <p:nvPr/>
        </p:nvSpPr>
        <p:spPr>
          <a:xfrm>
            <a:off x="7284568" y="5276088"/>
            <a:ext cx="4221328" cy="365760"/>
          </a:xfrm>
          <a:prstGeom prst="rect">
            <a:avLst/>
          </a:prstGeom>
          <a:noFill/>
          <a:ln/>
        </p:spPr>
        <p:txBody>
          <a:bodyPr wrap="square" lIns="0" tIns="0" rIns="0" bIns="0" rtlCol="0" anchor="ctr"/>
          <a:lstStyle/>
          <a:p>
            <a:pPr indent="0" marL="0">
              <a:buNone/>
            </a:pPr>
            <a:r>
              <a:rPr lang="en-US" sz="1450" b="1" dirty="0">
                <a:solidFill>
                  <a:srgbClr val="0F172A"/>
                </a:solidFill>
                <a:latin typeface="Calibri" pitchFamily="34" charset="0"/>
                <a:ea typeface="Calibri" pitchFamily="34" charset="-122"/>
                <a:cs typeface="Calibri" pitchFamily="34" charset="-120"/>
              </a:rPr>
              <a:t>Brand-safe automation</a:t>
            </a:r>
            <a:endParaRPr lang="en-US" sz="1450" dirty="0"/>
          </a:p>
        </p:txBody>
      </p:sp>
      <p:sp>
        <p:nvSpPr>
          <p:cNvPr id="35" name="Text 29"/>
          <p:cNvSpPr/>
          <p:nvPr/>
        </p:nvSpPr>
        <p:spPr>
          <a:xfrm>
            <a:off x="7284568" y="5641848"/>
            <a:ext cx="4221328" cy="603504"/>
          </a:xfrm>
          <a:prstGeom prst="rect">
            <a:avLst/>
          </a:prstGeom>
          <a:noFill/>
          <a:ln/>
        </p:spPr>
        <p:txBody>
          <a:bodyPr wrap="square" lIns="0" tIns="0" rIns="0" bIns="0" rtlCol="0" anchor="t"/>
          <a:lstStyle/>
          <a:p>
            <a:pPr indent="0" marL="0">
              <a:buNone/>
            </a:pPr>
            <a:r>
              <a:rPr lang="en-US" sz="1200" dirty="0">
                <a:solidFill>
                  <a:srgbClr val="5B6577"/>
                </a:solidFill>
                <a:latin typeface="Calibri" pitchFamily="34" charset="0"/>
                <a:ea typeface="Calibri" pitchFamily="34" charset="-122"/>
                <a:cs typeface="Calibri" pitchFamily="34" charset="-120"/>
              </a:rPr>
              <a:t>No substitutions, confirm-before-charge, self-healing — automation you can trust on revenue.</a:t>
            </a:r>
            <a:endParaRPr lang="en-US" sz="1200" dirty="0"/>
          </a:p>
        </p:txBody>
      </p:sp>
      <p:sp>
        <p:nvSpPr>
          <p:cNvPr id="36" name="Text 30"/>
          <p:cNvSpPr/>
          <p:nvPr/>
        </p:nvSpPr>
        <p:spPr>
          <a:xfrm>
            <a:off x="502920" y="6272784"/>
            <a:ext cx="11185855" cy="228600"/>
          </a:xfrm>
          <a:prstGeom prst="rect">
            <a:avLst/>
          </a:prstGeom>
          <a:noFill/>
          <a:ln/>
        </p:spPr>
        <p:txBody>
          <a:bodyPr wrap="square" lIns="0" tIns="0" rIns="0" bIns="0" rtlCol="0" anchor="ctr"/>
          <a:lstStyle/>
          <a:p>
            <a:pPr indent="0" marL="0">
              <a:buNone/>
            </a:pPr>
            <a:r>
              <a:rPr lang="en-US" sz="900" i="1" dirty="0">
                <a:solidFill>
                  <a:srgbClr val="8A94A6"/>
                </a:solidFill>
                <a:latin typeface="Calibri" pitchFamily="34" charset="0"/>
                <a:ea typeface="Calibri" pitchFamily="34" charset="-122"/>
                <a:cs typeface="Calibri" pitchFamily="34" charset="-120"/>
              </a:rPr>
              <a:t>Benchmarks are illustrative industry ranges, not client results.</a:t>
            </a:r>
            <a:endParaRPr lang="en-US" sz="900" dirty="0"/>
          </a:p>
        </p:txBody>
      </p:sp>
      <p:sp>
        <p:nvSpPr>
          <p:cNvPr id="37" name="Text 31"/>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8" name="Text 32"/>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14</a:t>
            </a:r>
            <a:endParaRPr lang="en-US" sz="900" dirty="0"/>
          </a:p>
        </p:txBody>
      </p:sp>
    </p:spTree>
  </p:cSld>
  <p:clrMapOvr>
    <a:masterClrMapping/>
  </p:clrMapOvr>
  <p:transition spd="med">
    <p:fade/>
  </p:transition>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2563EB"/>
                </a:solidFill>
                <a:latin typeface="Calibri" pitchFamily="34" charset="0"/>
                <a:ea typeface="Calibri" pitchFamily="34" charset="-122"/>
                <a:cs typeface="Calibri" pitchFamily="34" charset="-120"/>
              </a:rPr>
              <a:t>WHY GOOGLE CLOUD IS THE RIGHT PLATFORM</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The architecture maps cleanly to Google Cloud strengths</a:t>
            </a:r>
            <a:endParaRPr lang="en-US" sz="2800" dirty="0"/>
          </a:p>
        </p:txBody>
      </p:sp>
      <p:sp>
        <p:nvSpPr>
          <p:cNvPr id="4" name="Shape 2"/>
          <p:cNvSpPr/>
          <p:nvPr/>
        </p:nvSpPr>
        <p:spPr>
          <a:xfrm>
            <a:off x="502920"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robot.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Vertex AI · Gemini 2.5 Flash</a:t>
            </a:r>
            <a:endParaRPr lang="en-US" sz="1350" dirty="0"/>
          </a:p>
        </p:txBody>
      </p:sp>
      <p:sp>
        <p:nvSpPr>
          <p:cNvPr id="8" name="Text 5"/>
          <p:cNvSpPr/>
          <p:nvPr/>
        </p:nvSpPr>
        <p:spPr>
          <a:xfrm>
            <a:off x="758952"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One natively-multimodal model — text, reasoning &amp; vision in a managed, secure, high-quota service.</a:t>
            </a:r>
            <a:endParaRPr lang="en-US" sz="1200" dirty="0"/>
          </a:p>
        </p:txBody>
      </p:sp>
      <p:sp>
        <p:nvSpPr>
          <p:cNvPr id="9" name="Shape 6"/>
          <p:cNvSpPr/>
          <p:nvPr/>
        </p:nvSpPr>
        <p:spPr>
          <a:xfrm>
            <a:off x="4322978"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2563EB"/>
          </a:solidFill>
          <a:ln/>
        </p:spPr>
      </p:sp>
      <p:pic>
        <p:nvPicPr>
          <p:cNvPr id="11" name="Image 1" descr="icons/sitemap.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Agent Development Kit (ADK)</a:t>
            </a:r>
            <a:endParaRPr lang="en-US" sz="1350" dirty="0"/>
          </a:p>
        </p:txBody>
      </p:sp>
      <p:sp>
        <p:nvSpPr>
          <p:cNvPr id="13" name="Text 9"/>
          <p:cNvSpPr/>
          <p:nvPr/>
        </p:nvSpPr>
        <p:spPr>
          <a:xfrm>
            <a:off x="4579010"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First-class multi-agent orchestration, tools &amp; tracing — less glue code, more capability.</a:t>
            </a:r>
            <a:endParaRPr lang="en-US" sz="1200" dirty="0"/>
          </a:p>
        </p:txBody>
      </p:sp>
      <p:sp>
        <p:nvSpPr>
          <p:cNvPr id="14" name="Shape 10"/>
          <p:cNvSpPr/>
          <p:nvPr/>
        </p:nvSpPr>
        <p:spPr>
          <a:xfrm>
            <a:off x="8143037" y="178308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F59E0B"/>
          </a:solidFill>
          <a:ln/>
        </p:spPr>
      </p:sp>
      <p:pic>
        <p:nvPicPr>
          <p:cNvPr id="16" name="Image 2" descr="icons/bolt.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Run</a:t>
            </a:r>
            <a:endParaRPr lang="en-US" sz="1350" dirty="0"/>
          </a:p>
        </p:txBody>
      </p:sp>
      <p:sp>
        <p:nvSpPr>
          <p:cNvPr id="18" name="Text 13"/>
          <p:cNvSpPr/>
          <p:nvPr/>
        </p:nvSpPr>
        <p:spPr>
          <a:xfrm>
            <a:off x="8399069" y="267919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Serverless, scales to zero, container-native — pay only for live conversations.</a:t>
            </a:r>
            <a:endParaRPr lang="en-US" sz="1200" dirty="0"/>
          </a:p>
        </p:txBody>
      </p:sp>
      <p:sp>
        <p:nvSpPr>
          <p:cNvPr id="19" name="Shape 14"/>
          <p:cNvSpPr/>
          <p:nvPr/>
        </p:nvSpPr>
        <p:spPr>
          <a:xfrm>
            <a:off x="502920"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14216"/>
            <a:ext cx="566928" cy="566928"/>
          </a:xfrm>
          <a:prstGeom prst="roundRect">
            <a:avLst>
              <a:gd name="adj" fmla="val 19355"/>
            </a:avLst>
          </a:prstGeom>
          <a:solidFill>
            <a:srgbClr val="0D9488"/>
          </a:solidFill>
          <a:ln/>
        </p:spPr>
      </p:sp>
      <p:pic>
        <p:nvPicPr>
          <p:cNvPr id="21" name="Image 3" descr="icons/db.png">    </p:cNvPr>
          <p:cNvPicPr>
            <a:picLocks noChangeAspect="1"/>
          </p:cNvPicPr>
          <p:nvPr/>
        </p:nvPicPr>
        <p:blipFill>
          <a:blip r:embed="rId4"/>
          <a:stretch>
            <a:fillRect/>
          </a:stretch>
        </p:blipFill>
        <p:spPr>
          <a:xfrm>
            <a:off x="877824" y="4151376"/>
            <a:ext cx="292608" cy="292608"/>
          </a:xfrm>
          <a:prstGeom prst="rect">
            <a:avLst/>
          </a:prstGeom>
        </p:spPr>
      </p:pic>
      <p:sp>
        <p:nvSpPr>
          <p:cNvPr id="22" name="Text 16"/>
          <p:cNvSpPr/>
          <p:nvPr/>
        </p:nvSpPr>
        <p:spPr>
          <a:xfrm>
            <a:off x="1490472"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Firestore</a:t>
            </a:r>
            <a:endParaRPr lang="en-US" sz="1350" dirty="0"/>
          </a:p>
        </p:txBody>
      </p:sp>
      <p:sp>
        <p:nvSpPr>
          <p:cNvPr id="23" name="Text 17"/>
          <p:cNvSpPr/>
          <p:nvPr/>
        </p:nvSpPr>
        <p:spPr>
          <a:xfrm>
            <a:off x="758952"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Durable, shared session state across instances — context survives autoscaling.</a:t>
            </a:r>
            <a:endParaRPr lang="en-US" sz="1200" dirty="0"/>
          </a:p>
        </p:txBody>
      </p:sp>
      <p:sp>
        <p:nvSpPr>
          <p:cNvPr id="24" name="Shape 18"/>
          <p:cNvSpPr/>
          <p:nvPr/>
        </p:nvSpPr>
        <p:spPr>
          <a:xfrm>
            <a:off x="4322978"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14216"/>
            <a:ext cx="566928" cy="566928"/>
          </a:xfrm>
          <a:prstGeom prst="roundRect">
            <a:avLst>
              <a:gd name="adj" fmla="val 19355"/>
            </a:avLst>
          </a:prstGeom>
          <a:solidFill>
            <a:srgbClr val="E11D48"/>
          </a:solidFill>
          <a:ln/>
        </p:spPr>
      </p:sp>
      <p:pic>
        <p:nvPicPr>
          <p:cNvPr id="26" name="Image 4" descr="icons/eye.png">    </p:cNvPr>
          <p:cNvPicPr>
            <a:picLocks noChangeAspect="1"/>
          </p:cNvPicPr>
          <p:nvPr/>
        </p:nvPicPr>
        <p:blipFill>
          <a:blip r:embed="rId5"/>
          <a:stretch>
            <a:fillRect/>
          </a:stretch>
        </p:blipFill>
        <p:spPr>
          <a:xfrm>
            <a:off x="4697882" y="4151376"/>
            <a:ext cx="292608" cy="292608"/>
          </a:xfrm>
          <a:prstGeom prst="rect">
            <a:avLst/>
          </a:prstGeom>
        </p:spPr>
      </p:pic>
      <p:sp>
        <p:nvSpPr>
          <p:cNvPr id="27" name="Text 20"/>
          <p:cNvSpPr/>
          <p:nvPr/>
        </p:nvSpPr>
        <p:spPr>
          <a:xfrm>
            <a:off x="5310530"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Cloud Trace &amp; Logging</a:t>
            </a:r>
            <a:endParaRPr lang="en-US" sz="1350" dirty="0"/>
          </a:p>
        </p:txBody>
      </p:sp>
      <p:sp>
        <p:nvSpPr>
          <p:cNvPr id="28" name="Text 21"/>
          <p:cNvSpPr/>
          <p:nvPr/>
        </p:nvSpPr>
        <p:spPr>
          <a:xfrm>
            <a:off x="4579010"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Every agent/tool is a span — pinpoint the failing node in a multi-agent turn.</a:t>
            </a:r>
            <a:endParaRPr lang="en-US" sz="1200" dirty="0"/>
          </a:p>
        </p:txBody>
      </p:sp>
      <p:sp>
        <p:nvSpPr>
          <p:cNvPr id="29" name="Shape 22"/>
          <p:cNvSpPr/>
          <p:nvPr/>
        </p:nvSpPr>
        <p:spPr>
          <a:xfrm>
            <a:off x="8143037" y="3794760"/>
            <a:ext cx="3545738" cy="1783080"/>
          </a:xfrm>
          <a:prstGeom prst="roundRect">
            <a:avLst>
              <a:gd name="adj" fmla="val 461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14216"/>
            <a:ext cx="566928" cy="566928"/>
          </a:xfrm>
          <a:prstGeom prst="roundRect">
            <a:avLst>
              <a:gd name="adj" fmla="val 19355"/>
            </a:avLst>
          </a:prstGeom>
          <a:solidFill>
            <a:srgbClr val="0D9488"/>
          </a:solidFill>
          <a:ln/>
        </p:spPr>
      </p:sp>
      <p:pic>
        <p:nvPicPr>
          <p:cNvPr id="31" name="Image 5" descr="icons/plug.png">    </p:cNvPr>
          <p:cNvPicPr>
            <a:picLocks noChangeAspect="1"/>
          </p:cNvPicPr>
          <p:nvPr/>
        </p:nvPicPr>
        <p:blipFill>
          <a:blip r:embed="rId6"/>
          <a:stretch>
            <a:fillRect/>
          </a:stretch>
        </p:blipFill>
        <p:spPr>
          <a:xfrm>
            <a:off x="8517941" y="4151376"/>
            <a:ext cx="292608" cy="292608"/>
          </a:xfrm>
          <a:prstGeom prst="rect">
            <a:avLst/>
          </a:prstGeom>
        </p:spPr>
      </p:pic>
      <p:sp>
        <p:nvSpPr>
          <p:cNvPr id="32" name="Text 24"/>
          <p:cNvSpPr/>
          <p:nvPr/>
        </p:nvSpPr>
        <p:spPr>
          <a:xfrm>
            <a:off x="9130589" y="3995928"/>
            <a:ext cx="2357018" cy="603504"/>
          </a:xfrm>
          <a:prstGeom prst="rect">
            <a:avLst/>
          </a:prstGeom>
          <a:noFill/>
          <a:ln/>
        </p:spPr>
        <p:txBody>
          <a:bodyPr wrap="square" lIns="0" tIns="0" rIns="0" bIns="0" rtlCol="0" anchor="ctr"/>
          <a:lstStyle/>
          <a:p>
            <a:pPr indent="0" marL="0">
              <a:buNone/>
            </a:pPr>
            <a:r>
              <a:rPr lang="en-US" sz="1350" b="1" dirty="0">
                <a:solidFill>
                  <a:srgbClr val="0F172A"/>
                </a:solidFill>
                <a:latin typeface="Calibri" pitchFamily="34" charset="0"/>
                <a:ea typeface="Calibri" pitchFamily="34" charset="-122"/>
                <a:cs typeface="Calibri" pitchFamily="34" charset="-120"/>
              </a:rPr>
              <a:t>Extensible to CCAI / Translation</a:t>
            </a:r>
            <a:endParaRPr lang="en-US" sz="1350" dirty="0"/>
          </a:p>
        </p:txBody>
      </p:sp>
      <p:sp>
        <p:nvSpPr>
          <p:cNvPr id="33" name="Text 25"/>
          <p:cNvSpPr/>
          <p:nvPr/>
        </p:nvSpPr>
        <p:spPr>
          <a:xfrm>
            <a:off x="8399069" y="4690872"/>
            <a:ext cx="3088538" cy="740664"/>
          </a:xfrm>
          <a:prstGeom prst="rect">
            <a:avLst/>
          </a:prstGeom>
          <a:noFill/>
          <a:ln/>
        </p:spPr>
        <p:txBody>
          <a:bodyPr wrap="square" lIns="0" tIns="0" rIns="0" bIns="0" rtlCol="0" anchor="t"/>
          <a:lstStyle/>
          <a:p>
            <a:pPr marL="152400" indent="-152400">
              <a:spcAft>
                <a:spcPts val="500"/>
              </a:spcAft>
              <a:buSzPct val="100000"/>
              <a:buChar char="•"/>
            </a:pPr>
            <a:r>
              <a:rPr lang="en-US" sz="1200" dirty="0">
                <a:solidFill>
                  <a:srgbClr val="5B6577"/>
                </a:solidFill>
                <a:latin typeface="Calibri" pitchFamily="34" charset="0"/>
                <a:ea typeface="Calibri" pitchFamily="34" charset="-122"/>
                <a:cs typeface="Calibri" pitchFamily="34" charset="-120"/>
              </a:rPr>
              <a:t>Clear path to true telephony, agent-assist, and long-tail languages.</a:t>
            </a:r>
            <a:endParaRPr lang="en-US" sz="120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15</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7C3AED"/>
                </a:solidFill>
                <a:latin typeface="Calibri" pitchFamily="34" charset="0"/>
                <a:ea typeface="Calibri" pitchFamily="34" charset="-122"/>
                <a:cs typeface="Calibri" pitchFamily="34" charset="-120"/>
              </a:rPr>
              <a:t>WHAT I'D CARRY INTO THE NEXT BUILD</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Key learnings</a:t>
            </a:r>
            <a:endParaRPr lang="en-US" sz="2800" dirty="0"/>
          </a:p>
        </p:txBody>
      </p:sp>
      <p:sp>
        <p:nvSpPr>
          <p:cNvPr id="4" name="Shape 2"/>
          <p:cNvSpPr/>
          <p:nvPr/>
        </p:nvSpPr>
        <p:spPr>
          <a:xfrm>
            <a:off x="502920"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740664" y="2002536"/>
            <a:ext cx="566928" cy="566928"/>
          </a:xfrm>
          <a:prstGeom prst="roundRect">
            <a:avLst>
              <a:gd name="adj" fmla="val 19355"/>
            </a:avLst>
          </a:prstGeom>
          <a:solidFill>
            <a:srgbClr val="7C3AED"/>
          </a:solidFill>
          <a:ln/>
        </p:spPr>
      </p:sp>
      <p:pic>
        <p:nvPicPr>
          <p:cNvPr id="6" name="Image 0" descr="icons/brain.png">    </p:cNvPr>
          <p:cNvPicPr>
            <a:picLocks noChangeAspect="1"/>
          </p:cNvPicPr>
          <p:nvPr/>
        </p:nvPicPr>
        <p:blipFill>
          <a:blip r:embed="rId1"/>
          <a:stretch>
            <a:fillRect/>
          </a:stretch>
        </p:blipFill>
        <p:spPr>
          <a:xfrm>
            <a:off x="877824" y="2139696"/>
            <a:ext cx="292608" cy="292608"/>
          </a:xfrm>
          <a:prstGeom prst="rect">
            <a:avLst/>
          </a:prstGeom>
        </p:spPr>
      </p:pic>
      <p:sp>
        <p:nvSpPr>
          <p:cNvPr id="7" name="Text 4"/>
          <p:cNvSpPr/>
          <p:nvPr/>
        </p:nvSpPr>
        <p:spPr>
          <a:xfrm>
            <a:off x="1490472"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“ReAct” is a paradigm, not a class</a:t>
            </a:r>
            <a:endParaRPr lang="en-US" sz="1300" dirty="0"/>
          </a:p>
        </p:txBody>
      </p:sp>
      <p:sp>
        <p:nvSpPr>
          <p:cNvPr id="8" name="Text 5"/>
          <p:cNvSpPr/>
          <p:nvPr/>
        </p:nvSpPr>
        <p:spPr>
          <a:xfrm>
            <a:off x="758952"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Native function-calling IS ReAct — done better; reach for a text-scratchpad planner only when you want a visible plan.</a:t>
            </a:r>
            <a:endParaRPr lang="en-US" sz="1150" dirty="0"/>
          </a:p>
        </p:txBody>
      </p:sp>
      <p:sp>
        <p:nvSpPr>
          <p:cNvPr id="9" name="Shape 6"/>
          <p:cNvSpPr/>
          <p:nvPr/>
        </p:nvSpPr>
        <p:spPr>
          <a:xfrm>
            <a:off x="4322978"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0" name="Shape 7"/>
          <p:cNvSpPr/>
          <p:nvPr/>
        </p:nvSpPr>
        <p:spPr>
          <a:xfrm>
            <a:off x="4560722" y="2002536"/>
            <a:ext cx="566928" cy="566928"/>
          </a:xfrm>
          <a:prstGeom prst="roundRect">
            <a:avLst>
              <a:gd name="adj" fmla="val 19355"/>
            </a:avLst>
          </a:prstGeom>
          <a:solidFill>
            <a:srgbClr val="0D9488"/>
          </a:solidFill>
          <a:ln/>
        </p:spPr>
      </p:sp>
      <p:pic>
        <p:nvPicPr>
          <p:cNvPr id="11" name="Image 1" descr="icons/lock.png">    </p:cNvPr>
          <p:cNvPicPr>
            <a:picLocks noChangeAspect="1"/>
          </p:cNvPicPr>
          <p:nvPr/>
        </p:nvPicPr>
        <p:blipFill>
          <a:blip r:embed="rId2"/>
          <a:stretch>
            <a:fillRect/>
          </a:stretch>
        </p:blipFill>
        <p:spPr>
          <a:xfrm>
            <a:off x="4697882" y="2139696"/>
            <a:ext cx="292608" cy="292608"/>
          </a:xfrm>
          <a:prstGeom prst="rect">
            <a:avLst/>
          </a:prstGeom>
        </p:spPr>
      </p:pic>
      <p:sp>
        <p:nvSpPr>
          <p:cNvPr id="12" name="Text 8"/>
          <p:cNvSpPr/>
          <p:nvPr/>
        </p:nvSpPr>
        <p:spPr>
          <a:xfrm>
            <a:off x="5310530"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LLM orchestrates; code transacts</a:t>
            </a:r>
            <a:endParaRPr lang="en-US" sz="1300" dirty="0"/>
          </a:p>
        </p:txBody>
      </p:sp>
      <p:sp>
        <p:nvSpPr>
          <p:cNvPr id="13" name="Text 9"/>
          <p:cNvSpPr/>
          <p:nvPr/>
        </p:nvSpPr>
        <p:spPr>
          <a:xfrm>
            <a:off x="4579010"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Route money-affecting / irreversible actions through deterministic, auditable handlers — never the model.</a:t>
            </a:r>
            <a:endParaRPr lang="en-US" sz="1150" dirty="0"/>
          </a:p>
        </p:txBody>
      </p:sp>
      <p:sp>
        <p:nvSpPr>
          <p:cNvPr id="14" name="Shape 10"/>
          <p:cNvSpPr/>
          <p:nvPr/>
        </p:nvSpPr>
        <p:spPr>
          <a:xfrm>
            <a:off x="8143037" y="1783080"/>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5" name="Shape 11"/>
          <p:cNvSpPr/>
          <p:nvPr/>
        </p:nvSpPr>
        <p:spPr>
          <a:xfrm>
            <a:off x="8380781" y="2002536"/>
            <a:ext cx="566928" cy="566928"/>
          </a:xfrm>
          <a:prstGeom prst="roundRect">
            <a:avLst>
              <a:gd name="adj" fmla="val 19355"/>
            </a:avLst>
          </a:prstGeom>
          <a:solidFill>
            <a:srgbClr val="2563EB"/>
          </a:solidFill>
          <a:ln/>
        </p:spPr>
      </p:sp>
      <p:pic>
        <p:nvPicPr>
          <p:cNvPr id="16" name="Image 2" descr="icons/sitemap.png">    </p:cNvPr>
          <p:cNvPicPr>
            <a:picLocks noChangeAspect="1"/>
          </p:cNvPicPr>
          <p:nvPr/>
        </p:nvPicPr>
        <p:blipFill>
          <a:blip r:embed="rId3"/>
          <a:stretch>
            <a:fillRect/>
          </a:stretch>
        </p:blipFill>
        <p:spPr>
          <a:xfrm>
            <a:off x="8517941" y="2139696"/>
            <a:ext cx="292608" cy="292608"/>
          </a:xfrm>
          <a:prstGeom prst="rect">
            <a:avLst/>
          </a:prstGeom>
        </p:spPr>
      </p:pic>
      <p:sp>
        <p:nvSpPr>
          <p:cNvPr id="17" name="Text 12"/>
          <p:cNvSpPr/>
          <p:nvPr/>
        </p:nvSpPr>
        <p:spPr>
          <a:xfrm>
            <a:off x="9130589" y="1984248"/>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Loop safety is graph shape, not prompts</a:t>
            </a:r>
            <a:endParaRPr lang="en-US" sz="1300" dirty="0"/>
          </a:p>
        </p:txBody>
      </p:sp>
      <p:sp>
        <p:nvSpPr>
          <p:cNvPr id="18" name="Text 13"/>
          <p:cNvSpPr/>
          <p:nvPr/>
        </p:nvSpPr>
        <p:spPr>
          <a:xfrm>
            <a:off x="8399069" y="2679192"/>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Agent-as-tool (no transfer-back), workers with no nested agents, single-pass turns — cycles can't exist by construction.</a:t>
            </a:r>
            <a:endParaRPr lang="en-US" sz="1150" dirty="0"/>
          </a:p>
        </p:txBody>
      </p:sp>
      <p:sp>
        <p:nvSpPr>
          <p:cNvPr id="19" name="Shape 14"/>
          <p:cNvSpPr/>
          <p:nvPr/>
        </p:nvSpPr>
        <p:spPr>
          <a:xfrm>
            <a:off x="502920"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0" name="Shape 15"/>
          <p:cNvSpPr/>
          <p:nvPr/>
        </p:nvSpPr>
        <p:spPr>
          <a:xfrm>
            <a:off x="740664" y="4041648"/>
            <a:ext cx="566928" cy="566928"/>
          </a:xfrm>
          <a:prstGeom prst="roundRect">
            <a:avLst>
              <a:gd name="adj" fmla="val 19355"/>
            </a:avLst>
          </a:prstGeom>
          <a:solidFill>
            <a:srgbClr val="E11D48"/>
          </a:solidFill>
          <a:ln/>
        </p:spPr>
      </p:sp>
      <p:pic>
        <p:nvPicPr>
          <p:cNvPr id="21" name="Image 3" descr="icons/sync.png">    </p:cNvPr>
          <p:cNvPicPr>
            <a:picLocks noChangeAspect="1"/>
          </p:cNvPicPr>
          <p:nvPr/>
        </p:nvPicPr>
        <p:blipFill>
          <a:blip r:embed="rId4"/>
          <a:stretch>
            <a:fillRect/>
          </a:stretch>
        </p:blipFill>
        <p:spPr>
          <a:xfrm>
            <a:off x="877824" y="4178808"/>
            <a:ext cx="292608" cy="292608"/>
          </a:xfrm>
          <a:prstGeom prst="rect">
            <a:avLst/>
          </a:prstGeom>
        </p:spPr>
      </p:pic>
      <p:sp>
        <p:nvSpPr>
          <p:cNvPr id="22" name="Text 16"/>
          <p:cNvSpPr/>
          <p:nvPr/>
        </p:nvSpPr>
        <p:spPr>
          <a:xfrm>
            <a:off x="1490472"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A model quirk that bit once bites again</a:t>
            </a:r>
            <a:endParaRPr lang="en-US" sz="1300" dirty="0"/>
          </a:p>
        </p:txBody>
      </p:sp>
      <p:sp>
        <p:nvSpPr>
          <p:cNvPr id="23" name="Text 17"/>
          <p:cNvSpPr/>
          <p:nvPr/>
        </p:nvSpPr>
        <p:spPr>
          <a:xfrm>
            <a:off x="758952"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Encode the remedy as a reusable pattern (thinking_budget=0 fixed both vision and the ReAct advisor).</a:t>
            </a:r>
            <a:endParaRPr lang="en-US" sz="1150" dirty="0"/>
          </a:p>
        </p:txBody>
      </p:sp>
      <p:sp>
        <p:nvSpPr>
          <p:cNvPr id="24" name="Shape 18"/>
          <p:cNvSpPr/>
          <p:nvPr/>
        </p:nvSpPr>
        <p:spPr>
          <a:xfrm>
            <a:off x="4322978"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5" name="Shape 19"/>
          <p:cNvSpPr/>
          <p:nvPr/>
        </p:nvSpPr>
        <p:spPr>
          <a:xfrm>
            <a:off x="4560722" y="4041648"/>
            <a:ext cx="566928" cy="566928"/>
          </a:xfrm>
          <a:prstGeom prst="roundRect">
            <a:avLst>
              <a:gd name="adj" fmla="val 19355"/>
            </a:avLst>
          </a:prstGeom>
          <a:solidFill>
            <a:srgbClr val="16A34A"/>
          </a:solidFill>
          <a:ln/>
        </p:spPr>
      </p:sp>
      <p:pic>
        <p:nvPicPr>
          <p:cNvPr id="26" name="Image 4" descr="icons/check.png">    </p:cNvPr>
          <p:cNvPicPr>
            <a:picLocks noChangeAspect="1"/>
          </p:cNvPicPr>
          <p:nvPr/>
        </p:nvPicPr>
        <p:blipFill>
          <a:blip r:embed="rId5"/>
          <a:stretch>
            <a:fillRect/>
          </a:stretch>
        </p:blipFill>
        <p:spPr>
          <a:xfrm>
            <a:off x="4697882" y="4178808"/>
            <a:ext cx="292608" cy="292608"/>
          </a:xfrm>
          <a:prstGeom prst="rect">
            <a:avLst/>
          </a:prstGeom>
        </p:spPr>
      </p:pic>
      <p:sp>
        <p:nvSpPr>
          <p:cNvPr id="27" name="Text 20"/>
          <p:cNvSpPr/>
          <p:nvPr/>
        </p:nvSpPr>
        <p:spPr>
          <a:xfrm>
            <a:off x="5310530"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Test the path production runs</a:t>
            </a:r>
            <a:endParaRPr lang="en-US" sz="1300" dirty="0"/>
          </a:p>
        </p:txBody>
      </p:sp>
      <p:sp>
        <p:nvSpPr>
          <p:cNvPr id="28" name="Text 21"/>
          <p:cNvSpPr/>
          <p:nvPr/>
        </p:nvSpPr>
        <p:spPr>
          <a:xfrm>
            <a:off x="4579010"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A cloud-only ADK bug hid behind a green local suite — a CI-sim of the prod fallback is what gave confidence.</a:t>
            </a:r>
            <a:endParaRPr lang="en-US" sz="1150" dirty="0"/>
          </a:p>
        </p:txBody>
      </p:sp>
      <p:sp>
        <p:nvSpPr>
          <p:cNvPr id="29" name="Shape 22"/>
          <p:cNvSpPr/>
          <p:nvPr/>
        </p:nvSpPr>
        <p:spPr>
          <a:xfrm>
            <a:off x="8143037" y="3822192"/>
            <a:ext cx="3545738" cy="1810512"/>
          </a:xfrm>
          <a:prstGeom prst="roundRect">
            <a:avLst>
              <a:gd name="adj" fmla="val 4545"/>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30" name="Shape 23"/>
          <p:cNvSpPr/>
          <p:nvPr/>
        </p:nvSpPr>
        <p:spPr>
          <a:xfrm>
            <a:off x="8380781" y="4041648"/>
            <a:ext cx="566928" cy="566928"/>
          </a:xfrm>
          <a:prstGeom prst="roundRect">
            <a:avLst>
              <a:gd name="adj" fmla="val 19355"/>
            </a:avLst>
          </a:prstGeom>
          <a:solidFill>
            <a:srgbClr val="0D9488"/>
          </a:solidFill>
          <a:ln/>
        </p:spPr>
      </p:sp>
      <p:pic>
        <p:nvPicPr>
          <p:cNvPr id="31" name="Image 5" descr="icons/db.png">    </p:cNvPr>
          <p:cNvPicPr>
            <a:picLocks noChangeAspect="1"/>
          </p:cNvPicPr>
          <p:nvPr/>
        </p:nvPicPr>
        <p:blipFill>
          <a:blip r:embed="rId6"/>
          <a:stretch>
            <a:fillRect/>
          </a:stretch>
        </p:blipFill>
        <p:spPr>
          <a:xfrm>
            <a:off x="8517941" y="4178808"/>
            <a:ext cx="292608" cy="292608"/>
          </a:xfrm>
          <a:prstGeom prst="rect">
            <a:avLst/>
          </a:prstGeom>
        </p:spPr>
      </p:pic>
      <p:sp>
        <p:nvSpPr>
          <p:cNvPr id="32" name="Text 24"/>
          <p:cNvSpPr/>
          <p:nvPr/>
        </p:nvSpPr>
        <p:spPr>
          <a:xfrm>
            <a:off x="9130589" y="4023360"/>
            <a:ext cx="2357018" cy="603504"/>
          </a:xfrm>
          <a:prstGeom prst="rect">
            <a:avLst/>
          </a:prstGeom>
          <a:noFill/>
          <a:ln/>
        </p:spPr>
        <p:txBody>
          <a:bodyPr wrap="square" lIns="0" tIns="0" rIns="0" bIns="0" rtlCol="0" anchor="ctr"/>
          <a:lstStyle/>
          <a:p>
            <a:pPr indent="0" marL="0">
              <a:buNone/>
            </a:pPr>
            <a:r>
              <a:rPr lang="en-US" sz="1300" b="1" dirty="0">
                <a:solidFill>
                  <a:srgbClr val="0F172A"/>
                </a:solidFill>
                <a:latin typeface="Calibri" pitchFamily="34" charset="0"/>
                <a:ea typeface="Calibri" pitchFamily="34" charset="-122"/>
                <a:cs typeface="Calibri" pitchFamily="34" charset="-120"/>
              </a:rPr>
              <a:t>Centralize state; keep agents stateless</a:t>
            </a:r>
            <a:endParaRPr lang="en-US" sz="1300" dirty="0"/>
          </a:p>
        </p:txBody>
      </p:sp>
      <p:sp>
        <p:nvSpPr>
          <p:cNvPr id="33" name="Text 25"/>
          <p:cNvSpPr/>
          <p:nvPr/>
        </p:nvSpPr>
        <p:spPr>
          <a:xfrm>
            <a:off x="8399069" y="4718304"/>
            <a:ext cx="3088538" cy="768096"/>
          </a:xfrm>
          <a:prstGeom prst="rect">
            <a:avLst/>
          </a:prstGeom>
          <a:noFill/>
          <a:ln/>
        </p:spPr>
        <p:txBody>
          <a:bodyPr wrap="square" lIns="0" tIns="0" rIns="0" bIns="0" rtlCol="0" anchor="t"/>
          <a:lstStyle/>
          <a:p>
            <a:pPr marL="152400" indent="-152400">
              <a:spcAft>
                <a:spcPts val="500"/>
              </a:spcAft>
              <a:buSzPct val="100000"/>
              <a:buChar char="•"/>
            </a:pPr>
            <a:r>
              <a:rPr lang="en-US" sz="1150" dirty="0">
                <a:solidFill>
                  <a:srgbClr val="5B6577"/>
                </a:solidFill>
                <a:latin typeface="Calibri" pitchFamily="34" charset="0"/>
                <a:ea typeface="Calibri" pitchFamily="34" charset="-122"/>
                <a:cs typeface="Calibri" pitchFamily="34" charset="-120"/>
              </a:rPr>
              <a:t>One durable session store by session_id; let read-only agents pull memory from tools, not their own state.</a:t>
            </a:r>
            <a:endParaRPr lang="en-US" sz="1150" dirty="0"/>
          </a:p>
        </p:txBody>
      </p:sp>
      <p:sp>
        <p:nvSpPr>
          <p:cNvPr id="34" name="Text 26"/>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5" name="Text 27"/>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16</a:t>
            </a:r>
            <a:endParaRPr lang="en-US" sz="900" dirty="0"/>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grpId="0" nodeType="clickEffect">
                                  <p:stCondLst>
                                    <p:cond delay="0"/>
                                  </p:stCondLst>
                                  <p:childTnLst>
                                    <p:set>
                                      <p:cBhvr>
                                        <p:cTn id="6" dur="1" fill="hold">
                                          <p:stCondLst>
                                            <p:cond delay="0"/>
                                          </p:stCondLst>
                                        </p:cTn>
                                        <p:tgtEl>
                                          <p:spTgt spid="4"/>
                                        </p:tgtEl>
                                        <p:attrNameLst>
                                          <p:attrName>style.visibility</p:attrName>
                                        </p:attrNameLst>
                                      </p:cBhvr>
                                      <p:to>
                                        <p:strVal val="visible"/>
                                      </p:to>
                                    </p:set>
                                    <p:animEffect transition="in" filter="fade">
                                      <p:cBhvr>
                                        <p:cTn id="7" dur="500"/>
                                        <p:tgtEl>
                                          <p:spTgt spid="4"/>
                                        </p:tgtEl>
                                      </p:cBhvr>
                                    </p:animEffect>
                                  </p:childTnLst>
                                </p:cTn>
                              </p:par>
                              <p:par>
                                <p:cTn id="8" presetID="10" presetClass="entr" presetSubtype="0" fill="hold" grpId="0" nodeType="withEffect">
                                  <p:stCondLst>
                                    <p:cond delay="0"/>
                                  </p:stCondLst>
                                  <p:childTnLst>
                                    <p:set>
                                      <p:cBhvr>
                                        <p:cTn id="9" dur="1" fill="hold">
                                          <p:stCondLst>
                                            <p:cond delay="0"/>
                                          </p:stCondLst>
                                        </p:cTn>
                                        <p:tgtEl>
                                          <p:spTgt spid="5"/>
                                        </p:tgtEl>
                                        <p:attrNameLst>
                                          <p:attrName>style.visibility</p:attrName>
                                        </p:attrNameLst>
                                      </p:cBhvr>
                                      <p:to>
                                        <p:strVal val="visible"/>
                                      </p:to>
                                    </p:set>
                                    <p:animEffect transition="in" filter="fade">
                                      <p:cBhvr>
                                        <p:cTn id="10" dur="500"/>
                                        <p:tgtEl>
                                          <p:spTgt spid="5"/>
                                        </p:tgtEl>
                                      </p:cBhvr>
                                    </p:animEffect>
                                  </p:childTnLst>
                                </p:cTn>
                              </p:par>
                              <p:par>
                                <p:cTn id="11" presetID="10" presetClass="entr" presetSubtype="0" fill="hold" grpId="0" nodeType="with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par>
                                <p:cTn id="14" presetID="10" presetClass="entr" presetSubtype="0" fill="hold" grpId="0" nodeType="withEffect">
                                  <p:stCondLst>
                                    <p:cond delay="0"/>
                                  </p:stCondLst>
                                  <p:childTnLst>
                                    <p:set>
                                      <p:cBhvr>
                                        <p:cTn id="15" dur="1" fill="hold">
                                          <p:stCondLst>
                                            <p:cond delay="0"/>
                                          </p:stCondLst>
                                        </p:cTn>
                                        <p:tgtEl>
                                          <p:spTgt spid="7"/>
                                        </p:tgtEl>
                                        <p:attrNameLst>
                                          <p:attrName>style.visibility</p:attrName>
                                        </p:attrNameLst>
                                      </p:cBhvr>
                                      <p:to>
                                        <p:strVal val="visible"/>
                                      </p:to>
                                    </p:set>
                                    <p:animEffect transition="in" filter="fade">
                                      <p:cBhvr>
                                        <p:cTn id="16" dur="500"/>
                                        <p:tgtEl>
                                          <p:spTgt spid="7"/>
                                        </p:tgtEl>
                                      </p:cBhvr>
                                    </p:animEffect>
                                  </p:childTnLst>
                                </p:cTn>
                              </p:par>
                              <p:par>
                                <p:cTn id="17" presetID="10" presetClass="entr" presetSubtype="0" fill="hold" grpId="0" nodeType="withEffect">
                                  <p:stCondLst>
                                    <p:cond delay="0"/>
                                  </p:stCondLst>
                                  <p:childTnLst>
                                    <p:set>
                                      <p:cBhvr>
                                        <p:cTn id="18" dur="1" fill="hold">
                                          <p:stCondLst>
                                            <p:cond delay="0"/>
                                          </p:stCondLst>
                                        </p:cTn>
                                        <p:tgtEl>
                                          <p:spTgt spid="8"/>
                                        </p:tgtEl>
                                        <p:attrNameLst>
                                          <p:attrName>style.visibility</p:attrName>
                                        </p:attrNameLst>
                                      </p:cBhvr>
                                      <p:to>
                                        <p:strVal val="visible"/>
                                      </p:to>
                                    </p:set>
                                    <p:animEffect transition="in" filter="fade">
                                      <p:cBhvr>
                                        <p:cTn id="19" dur="500"/>
                                        <p:tgtEl>
                                          <p:spTgt spid="8"/>
                                        </p:tgtEl>
                                      </p:cBhvr>
                                    </p:animEffect>
                                  </p:childTnLst>
                                </p:cTn>
                              </p:par>
                            </p:childTnLst>
                          </p:cTn>
                        </p:par>
                      </p:childTnLst>
                    </p:cTn>
                  </p:par>
                  <p:par>
                    <p:cTn id="20" fill="hold">
                      <p:stCondLst>
                        <p:cond delay="indefinite"/>
                      </p:stCondLst>
                      <p:childTnLst>
                        <p:par>
                          <p:cTn id="21" fill="hold">
                            <p:stCondLst>
                              <p:cond delay="0"/>
                            </p:stCondLst>
                            <p:childTnLst>
                              <p:par>
                                <p:cTn id="22" presetID="10" presetClass="entr" presetSubtype="0" fill="hold" grpId="0" nodeType="clickEffect">
                                  <p:stCondLst>
                                    <p:cond delay="0"/>
                                  </p:stCondLst>
                                  <p:childTnLst>
                                    <p:set>
                                      <p:cBhvr>
                                        <p:cTn id="23" dur="1" fill="hold">
                                          <p:stCondLst>
                                            <p:cond delay="0"/>
                                          </p:stCondLst>
                                        </p:cTn>
                                        <p:tgtEl>
                                          <p:spTgt spid="9"/>
                                        </p:tgtEl>
                                        <p:attrNameLst>
                                          <p:attrName>style.visibility</p:attrName>
                                        </p:attrNameLst>
                                      </p:cBhvr>
                                      <p:to>
                                        <p:strVal val="visible"/>
                                      </p:to>
                                    </p:set>
                                    <p:animEffect transition="in" filter="fade">
                                      <p:cBhvr>
                                        <p:cTn id="24" dur="500"/>
                                        <p:tgtEl>
                                          <p:spTgt spid="9"/>
                                        </p:tgtEl>
                                      </p:cBhvr>
                                    </p:animEffect>
                                  </p:childTnLst>
                                </p:cTn>
                              </p:par>
                              <p:par>
                                <p:cTn id="25" presetID="10" presetClass="entr" presetSubtype="0" fill="hold" grpId="0" nodeType="withEffect">
                                  <p:stCondLst>
                                    <p:cond delay="0"/>
                                  </p:stCondLst>
                                  <p:childTnLst>
                                    <p:set>
                                      <p:cBhvr>
                                        <p:cTn id="26" dur="1" fill="hold">
                                          <p:stCondLst>
                                            <p:cond delay="0"/>
                                          </p:stCondLst>
                                        </p:cTn>
                                        <p:tgtEl>
                                          <p:spTgt spid="10"/>
                                        </p:tgtEl>
                                        <p:attrNameLst>
                                          <p:attrName>style.visibility</p:attrName>
                                        </p:attrNameLst>
                                      </p:cBhvr>
                                      <p:to>
                                        <p:strVal val="visible"/>
                                      </p:to>
                                    </p:set>
                                    <p:animEffect transition="in" filter="fade">
                                      <p:cBhvr>
                                        <p:cTn id="27" dur="500"/>
                                        <p:tgtEl>
                                          <p:spTgt spid="10"/>
                                        </p:tgtEl>
                                      </p:cBhvr>
                                    </p:animEffect>
                                  </p:childTnLst>
                                </p:cTn>
                              </p:par>
                              <p:par>
                                <p:cTn id="28" presetID="10" presetClass="entr" presetSubtype="0" fill="hold" grpId="0" nodeType="withEffect">
                                  <p:stCondLst>
                                    <p:cond delay="0"/>
                                  </p:stCondLst>
                                  <p:childTnLst>
                                    <p:set>
                                      <p:cBhvr>
                                        <p:cTn id="29" dur="1" fill="hold">
                                          <p:stCondLst>
                                            <p:cond delay="0"/>
                                          </p:stCondLst>
                                        </p:cTn>
                                        <p:tgtEl>
                                          <p:spTgt spid="11"/>
                                        </p:tgtEl>
                                        <p:attrNameLst>
                                          <p:attrName>style.visibility</p:attrName>
                                        </p:attrNameLst>
                                      </p:cBhvr>
                                      <p:to>
                                        <p:strVal val="visible"/>
                                      </p:to>
                                    </p:set>
                                    <p:animEffect transition="in" filter="fade">
                                      <p:cBhvr>
                                        <p:cTn id="30" dur="500"/>
                                        <p:tgtEl>
                                          <p:spTgt spid="11"/>
                                        </p:tgtEl>
                                      </p:cBhvr>
                                    </p:animEffect>
                                  </p:childTnLst>
                                </p:cTn>
                              </p:par>
                              <p:par>
                                <p:cTn id="31" presetID="10" presetClass="entr" presetSubtype="0" fill="hold" grpId="0" nodeType="withEffect">
                                  <p:stCondLst>
                                    <p:cond delay="0"/>
                                  </p:stCondLst>
                                  <p:childTnLst>
                                    <p:set>
                                      <p:cBhvr>
                                        <p:cTn id="32" dur="1" fill="hold">
                                          <p:stCondLst>
                                            <p:cond delay="0"/>
                                          </p:stCondLst>
                                        </p:cTn>
                                        <p:tgtEl>
                                          <p:spTgt spid="12"/>
                                        </p:tgtEl>
                                        <p:attrNameLst>
                                          <p:attrName>style.visibility</p:attrName>
                                        </p:attrNameLst>
                                      </p:cBhvr>
                                      <p:to>
                                        <p:strVal val="visible"/>
                                      </p:to>
                                    </p:set>
                                    <p:animEffect transition="in" filter="fade">
                                      <p:cBhvr>
                                        <p:cTn id="33" dur="500"/>
                                        <p:tgtEl>
                                          <p:spTgt spid="12"/>
                                        </p:tgtEl>
                                      </p:cBhvr>
                                    </p:animEffect>
                                  </p:childTnLst>
                                </p:cTn>
                              </p:par>
                              <p:par>
                                <p:cTn id="34" presetID="10" presetClass="entr" presetSubtype="0" fill="hold" grpId="0" nodeType="withEffect">
                                  <p:stCondLst>
                                    <p:cond delay="0"/>
                                  </p:stCondLst>
                                  <p:childTnLst>
                                    <p:set>
                                      <p:cBhvr>
                                        <p:cTn id="35" dur="1" fill="hold">
                                          <p:stCondLst>
                                            <p:cond delay="0"/>
                                          </p:stCondLst>
                                        </p:cTn>
                                        <p:tgtEl>
                                          <p:spTgt spid="13"/>
                                        </p:tgtEl>
                                        <p:attrNameLst>
                                          <p:attrName>style.visibility</p:attrName>
                                        </p:attrNameLst>
                                      </p:cBhvr>
                                      <p:to>
                                        <p:strVal val="visible"/>
                                      </p:to>
                                    </p:set>
                                    <p:animEffect transition="in" filter="fade">
                                      <p:cBhvr>
                                        <p:cTn id="36" dur="500"/>
                                        <p:tgtEl>
                                          <p:spTgt spid="13"/>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grpId="0" nodeType="clickEffect">
                                  <p:stCondLst>
                                    <p:cond delay="0"/>
                                  </p:stCondLst>
                                  <p:childTnLst>
                                    <p:set>
                                      <p:cBhvr>
                                        <p:cTn id="40" dur="1" fill="hold">
                                          <p:stCondLst>
                                            <p:cond delay="0"/>
                                          </p:stCondLst>
                                        </p:cTn>
                                        <p:tgtEl>
                                          <p:spTgt spid="14"/>
                                        </p:tgtEl>
                                        <p:attrNameLst>
                                          <p:attrName>style.visibility</p:attrName>
                                        </p:attrNameLst>
                                      </p:cBhvr>
                                      <p:to>
                                        <p:strVal val="visible"/>
                                      </p:to>
                                    </p:set>
                                    <p:animEffect transition="in" filter="fade">
                                      <p:cBhvr>
                                        <p:cTn id="41" dur="500"/>
                                        <p:tgtEl>
                                          <p:spTgt spid="14"/>
                                        </p:tgtEl>
                                      </p:cBhvr>
                                    </p:animEffect>
                                  </p:childTnLst>
                                </p:cTn>
                              </p:par>
                              <p:par>
                                <p:cTn id="42" presetID="10" presetClass="entr" presetSubtype="0" fill="hold" grpId="0" nodeType="withEffect">
                                  <p:stCondLst>
                                    <p:cond delay="0"/>
                                  </p:stCondLst>
                                  <p:childTnLst>
                                    <p:set>
                                      <p:cBhvr>
                                        <p:cTn id="43" dur="1" fill="hold">
                                          <p:stCondLst>
                                            <p:cond delay="0"/>
                                          </p:stCondLst>
                                        </p:cTn>
                                        <p:tgtEl>
                                          <p:spTgt spid="15"/>
                                        </p:tgtEl>
                                        <p:attrNameLst>
                                          <p:attrName>style.visibility</p:attrName>
                                        </p:attrNameLst>
                                      </p:cBhvr>
                                      <p:to>
                                        <p:strVal val="visible"/>
                                      </p:to>
                                    </p:set>
                                    <p:animEffect transition="in" filter="fade">
                                      <p:cBhvr>
                                        <p:cTn id="44" dur="500"/>
                                        <p:tgtEl>
                                          <p:spTgt spid="15"/>
                                        </p:tgtEl>
                                      </p:cBhvr>
                                    </p:animEffect>
                                  </p:childTnLst>
                                </p:cTn>
                              </p:par>
                              <p:par>
                                <p:cTn id="45" presetID="10" presetClass="entr" presetSubtype="0" fill="hold" grpId="0" nodeType="withEffect">
                                  <p:stCondLst>
                                    <p:cond delay="0"/>
                                  </p:stCondLst>
                                  <p:childTnLst>
                                    <p:set>
                                      <p:cBhvr>
                                        <p:cTn id="46" dur="1" fill="hold">
                                          <p:stCondLst>
                                            <p:cond delay="0"/>
                                          </p:stCondLst>
                                        </p:cTn>
                                        <p:tgtEl>
                                          <p:spTgt spid="16"/>
                                        </p:tgtEl>
                                        <p:attrNameLst>
                                          <p:attrName>style.visibility</p:attrName>
                                        </p:attrNameLst>
                                      </p:cBhvr>
                                      <p:to>
                                        <p:strVal val="visible"/>
                                      </p:to>
                                    </p:set>
                                    <p:animEffect transition="in" filter="fade">
                                      <p:cBhvr>
                                        <p:cTn id="47" dur="500"/>
                                        <p:tgtEl>
                                          <p:spTgt spid="16"/>
                                        </p:tgtEl>
                                      </p:cBhvr>
                                    </p:animEffect>
                                  </p:childTnLst>
                                </p:cTn>
                              </p:par>
                              <p:par>
                                <p:cTn id="48" presetID="10" presetClass="entr" presetSubtype="0" fill="hold" grpId="0" nodeType="withEffect">
                                  <p:stCondLst>
                                    <p:cond delay="0"/>
                                  </p:stCondLst>
                                  <p:childTnLst>
                                    <p:set>
                                      <p:cBhvr>
                                        <p:cTn id="49" dur="1" fill="hold">
                                          <p:stCondLst>
                                            <p:cond delay="0"/>
                                          </p:stCondLst>
                                        </p:cTn>
                                        <p:tgtEl>
                                          <p:spTgt spid="17"/>
                                        </p:tgtEl>
                                        <p:attrNameLst>
                                          <p:attrName>style.visibility</p:attrName>
                                        </p:attrNameLst>
                                      </p:cBhvr>
                                      <p:to>
                                        <p:strVal val="visible"/>
                                      </p:to>
                                    </p:set>
                                    <p:animEffect transition="in" filter="fade">
                                      <p:cBhvr>
                                        <p:cTn id="50" dur="500"/>
                                        <p:tgtEl>
                                          <p:spTgt spid="17"/>
                                        </p:tgtEl>
                                      </p:cBhvr>
                                    </p:animEffect>
                                  </p:childTnLst>
                                </p:cTn>
                              </p:par>
                              <p:par>
                                <p:cTn id="51" presetID="10" presetClass="entr" presetSubtype="0" fill="hold" grpId="0" nodeType="withEffect">
                                  <p:stCondLst>
                                    <p:cond delay="0"/>
                                  </p:stCondLst>
                                  <p:childTnLst>
                                    <p:set>
                                      <p:cBhvr>
                                        <p:cTn id="52" dur="1" fill="hold">
                                          <p:stCondLst>
                                            <p:cond delay="0"/>
                                          </p:stCondLst>
                                        </p:cTn>
                                        <p:tgtEl>
                                          <p:spTgt spid="18"/>
                                        </p:tgtEl>
                                        <p:attrNameLst>
                                          <p:attrName>style.visibility</p:attrName>
                                        </p:attrNameLst>
                                      </p:cBhvr>
                                      <p:to>
                                        <p:strVal val="visible"/>
                                      </p:to>
                                    </p:set>
                                    <p:animEffect transition="in" filter="fade">
                                      <p:cBhvr>
                                        <p:cTn id="53" dur="500"/>
                                        <p:tgtEl>
                                          <p:spTgt spid="18"/>
                                        </p:tgtEl>
                                      </p:cBhvr>
                                    </p:animEffect>
                                  </p:childTnLst>
                                </p:cTn>
                              </p:par>
                            </p:childTnLst>
                          </p:cTn>
                        </p:par>
                      </p:childTnLst>
                    </p:cTn>
                  </p:par>
                  <p:par>
                    <p:cTn id="54" fill="hold">
                      <p:stCondLst>
                        <p:cond delay="indefinite"/>
                      </p:stCondLst>
                      <p:childTnLst>
                        <p:par>
                          <p:cTn id="55" fill="hold">
                            <p:stCondLst>
                              <p:cond delay="0"/>
                            </p:stCondLst>
                            <p:childTnLst>
                              <p:par>
                                <p:cTn id="56" presetID="10" presetClass="entr" presetSubtype="0" fill="hold" grpId="0" nodeType="clickEffect">
                                  <p:stCondLst>
                                    <p:cond delay="0"/>
                                  </p:stCondLst>
                                  <p:childTnLst>
                                    <p:set>
                                      <p:cBhvr>
                                        <p:cTn id="57" dur="1" fill="hold">
                                          <p:stCondLst>
                                            <p:cond delay="0"/>
                                          </p:stCondLst>
                                        </p:cTn>
                                        <p:tgtEl>
                                          <p:spTgt spid="19"/>
                                        </p:tgtEl>
                                        <p:attrNameLst>
                                          <p:attrName>style.visibility</p:attrName>
                                        </p:attrNameLst>
                                      </p:cBhvr>
                                      <p:to>
                                        <p:strVal val="visible"/>
                                      </p:to>
                                    </p:set>
                                    <p:animEffect transition="in" filter="fade">
                                      <p:cBhvr>
                                        <p:cTn id="58" dur="500"/>
                                        <p:tgtEl>
                                          <p:spTgt spid="19"/>
                                        </p:tgtEl>
                                      </p:cBhvr>
                                    </p:animEffect>
                                  </p:childTnLst>
                                </p:cTn>
                              </p:par>
                              <p:par>
                                <p:cTn id="59" presetID="10" presetClass="entr" presetSubtype="0" fill="hold" grpId="0" nodeType="withEffect">
                                  <p:stCondLst>
                                    <p:cond delay="0"/>
                                  </p:stCondLst>
                                  <p:childTnLst>
                                    <p:set>
                                      <p:cBhvr>
                                        <p:cTn id="60" dur="1" fill="hold">
                                          <p:stCondLst>
                                            <p:cond delay="0"/>
                                          </p:stCondLst>
                                        </p:cTn>
                                        <p:tgtEl>
                                          <p:spTgt spid="20"/>
                                        </p:tgtEl>
                                        <p:attrNameLst>
                                          <p:attrName>style.visibility</p:attrName>
                                        </p:attrNameLst>
                                      </p:cBhvr>
                                      <p:to>
                                        <p:strVal val="visible"/>
                                      </p:to>
                                    </p:set>
                                    <p:animEffect transition="in" filter="fade">
                                      <p:cBhvr>
                                        <p:cTn id="61" dur="500"/>
                                        <p:tgtEl>
                                          <p:spTgt spid="20"/>
                                        </p:tgtEl>
                                      </p:cBhvr>
                                    </p:animEffect>
                                  </p:childTnLst>
                                </p:cTn>
                              </p:par>
                              <p:par>
                                <p:cTn id="62" presetID="10" presetClass="entr" presetSubtype="0" fill="hold" grpId="0" nodeType="withEffect">
                                  <p:stCondLst>
                                    <p:cond delay="0"/>
                                  </p:stCondLst>
                                  <p:childTnLst>
                                    <p:set>
                                      <p:cBhvr>
                                        <p:cTn id="63" dur="1" fill="hold">
                                          <p:stCondLst>
                                            <p:cond delay="0"/>
                                          </p:stCondLst>
                                        </p:cTn>
                                        <p:tgtEl>
                                          <p:spTgt spid="21"/>
                                        </p:tgtEl>
                                        <p:attrNameLst>
                                          <p:attrName>style.visibility</p:attrName>
                                        </p:attrNameLst>
                                      </p:cBhvr>
                                      <p:to>
                                        <p:strVal val="visible"/>
                                      </p:to>
                                    </p:set>
                                    <p:animEffect transition="in" filter="fade">
                                      <p:cBhvr>
                                        <p:cTn id="64" dur="500"/>
                                        <p:tgtEl>
                                          <p:spTgt spid="21"/>
                                        </p:tgtEl>
                                      </p:cBhvr>
                                    </p:animEffect>
                                  </p:childTnLst>
                                </p:cTn>
                              </p:par>
                              <p:par>
                                <p:cTn id="65" presetID="10" presetClass="entr" presetSubtype="0" fill="hold" grpId="0" nodeType="withEffect">
                                  <p:stCondLst>
                                    <p:cond delay="0"/>
                                  </p:stCondLst>
                                  <p:childTnLst>
                                    <p:set>
                                      <p:cBhvr>
                                        <p:cTn id="66" dur="1" fill="hold">
                                          <p:stCondLst>
                                            <p:cond delay="0"/>
                                          </p:stCondLst>
                                        </p:cTn>
                                        <p:tgtEl>
                                          <p:spTgt spid="22"/>
                                        </p:tgtEl>
                                        <p:attrNameLst>
                                          <p:attrName>style.visibility</p:attrName>
                                        </p:attrNameLst>
                                      </p:cBhvr>
                                      <p:to>
                                        <p:strVal val="visible"/>
                                      </p:to>
                                    </p:set>
                                    <p:animEffect transition="in" filter="fade">
                                      <p:cBhvr>
                                        <p:cTn id="67" dur="500"/>
                                        <p:tgtEl>
                                          <p:spTgt spid="22"/>
                                        </p:tgtEl>
                                      </p:cBhvr>
                                    </p:animEffect>
                                  </p:childTnLst>
                                </p:cTn>
                              </p:par>
                              <p:par>
                                <p:cTn id="68" presetID="10" presetClass="entr" presetSubtype="0" fill="hold" grpId="0" nodeType="withEffect">
                                  <p:stCondLst>
                                    <p:cond delay="0"/>
                                  </p:stCondLst>
                                  <p:childTnLst>
                                    <p:set>
                                      <p:cBhvr>
                                        <p:cTn id="69" dur="1" fill="hold">
                                          <p:stCondLst>
                                            <p:cond delay="0"/>
                                          </p:stCondLst>
                                        </p:cTn>
                                        <p:tgtEl>
                                          <p:spTgt spid="23"/>
                                        </p:tgtEl>
                                        <p:attrNameLst>
                                          <p:attrName>style.visibility</p:attrName>
                                        </p:attrNameLst>
                                      </p:cBhvr>
                                      <p:to>
                                        <p:strVal val="visible"/>
                                      </p:to>
                                    </p:set>
                                    <p:animEffect transition="in" filter="fade">
                                      <p:cBhvr>
                                        <p:cTn id="70" dur="500"/>
                                        <p:tgtEl>
                                          <p:spTgt spid="23"/>
                                        </p:tgtEl>
                                      </p:cBhvr>
                                    </p:animEffect>
                                  </p:childTnLst>
                                </p:cTn>
                              </p:par>
                            </p:childTnLst>
                          </p:cTn>
                        </p:par>
                      </p:childTnLst>
                    </p:cTn>
                  </p:par>
                  <p:par>
                    <p:cTn id="71" fill="hold">
                      <p:stCondLst>
                        <p:cond delay="indefinite"/>
                      </p:stCondLst>
                      <p:childTnLst>
                        <p:par>
                          <p:cTn id="72" fill="hold">
                            <p:stCondLst>
                              <p:cond delay="0"/>
                            </p:stCondLst>
                            <p:childTnLst>
                              <p:par>
                                <p:cTn id="73" presetID="10" presetClass="entr" presetSubtype="0" fill="hold" grpId="0" nodeType="clickEffect">
                                  <p:stCondLst>
                                    <p:cond delay="0"/>
                                  </p:stCondLst>
                                  <p:childTnLst>
                                    <p:set>
                                      <p:cBhvr>
                                        <p:cTn id="74" dur="1" fill="hold">
                                          <p:stCondLst>
                                            <p:cond delay="0"/>
                                          </p:stCondLst>
                                        </p:cTn>
                                        <p:tgtEl>
                                          <p:spTgt spid="24"/>
                                        </p:tgtEl>
                                        <p:attrNameLst>
                                          <p:attrName>style.visibility</p:attrName>
                                        </p:attrNameLst>
                                      </p:cBhvr>
                                      <p:to>
                                        <p:strVal val="visible"/>
                                      </p:to>
                                    </p:set>
                                    <p:animEffect transition="in" filter="fade">
                                      <p:cBhvr>
                                        <p:cTn id="75" dur="500"/>
                                        <p:tgtEl>
                                          <p:spTgt spid="24"/>
                                        </p:tgtEl>
                                      </p:cBhvr>
                                    </p:animEffect>
                                  </p:childTnLst>
                                </p:cTn>
                              </p:par>
                              <p:par>
                                <p:cTn id="76" presetID="10" presetClass="entr" presetSubtype="0" fill="hold" grpId="0" nodeType="withEffect">
                                  <p:stCondLst>
                                    <p:cond delay="0"/>
                                  </p:stCondLst>
                                  <p:childTnLst>
                                    <p:set>
                                      <p:cBhvr>
                                        <p:cTn id="77" dur="1" fill="hold">
                                          <p:stCondLst>
                                            <p:cond delay="0"/>
                                          </p:stCondLst>
                                        </p:cTn>
                                        <p:tgtEl>
                                          <p:spTgt spid="25"/>
                                        </p:tgtEl>
                                        <p:attrNameLst>
                                          <p:attrName>style.visibility</p:attrName>
                                        </p:attrNameLst>
                                      </p:cBhvr>
                                      <p:to>
                                        <p:strVal val="visible"/>
                                      </p:to>
                                    </p:set>
                                    <p:animEffect transition="in" filter="fade">
                                      <p:cBhvr>
                                        <p:cTn id="78" dur="500"/>
                                        <p:tgtEl>
                                          <p:spTgt spid="25"/>
                                        </p:tgtEl>
                                      </p:cBhvr>
                                    </p:animEffect>
                                  </p:childTnLst>
                                </p:cTn>
                              </p:par>
                              <p:par>
                                <p:cTn id="79" presetID="10" presetClass="entr" presetSubtype="0" fill="hold" grpId="0" nodeType="withEffect">
                                  <p:stCondLst>
                                    <p:cond delay="0"/>
                                  </p:stCondLst>
                                  <p:childTnLst>
                                    <p:set>
                                      <p:cBhvr>
                                        <p:cTn id="80" dur="1" fill="hold">
                                          <p:stCondLst>
                                            <p:cond delay="0"/>
                                          </p:stCondLst>
                                        </p:cTn>
                                        <p:tgtEl>
                                          <p:spTgt spid="26"/>
                                        </p:tgtEl>
                                        <p:attrNameLst>
                                          <p:attrName>style.visibility</p:attrName>
                                        </p:attrNameLst>
                                      </p:cBhvr>
                                      <p:to>
                                        <p:strVal val="visible"/>
                                      </p:to>
                                    </p:set>
                                    <p:animEffect transition="in" filter="fade">
                                      <p:cBhvr>
                                        <p:cTn id="81" dur="500"/>
                                        <p:tgtEl>
                                          <p:spTgt spid="26"/>
                                        </p:tgtEl>
                                      </p:cBhvr>
                                    </p:animEffect>
                                  </p:childTnLst>
                                </p:cTn>
                              </p:par>
                              <p:par>
                                <p:cTn id="82" presetID="10" presetClass="entr" presetSubtype="0" fill="hold" grpId="0" nodeType="withEffect">
                                  <p:stCondLst>
                                    <p:cond delay="0"/>
                                  </p:stCondLst>
                                  <p:childTnLst>
                                    <p:set>
                                      <p:cBhvr>
                                        <p:cTn id="83" dur="1" fill="hold">
                                          <p:stCondLst>
                                            <p:cond delay="0"/>
                                          </p:stCondLst>
                                        </p:cTn>
                                        <p:tgtEl>
                                          <p:spTgt spid="27"/>
                                        </p:tgtEl>
                                        <p:attrNameLst>
                                          <p:attrName>style.visibility</p:attrName>
                                        </p:attrNameLst>
                                      </p:cBhvr>
                                      <p:to>
                                        <p:strVal val="visible"/>
                                      </p:to>
                                    </p:set>
                                    <p:animEffect transition="in" filter="fade">
                                      <p:cBhvr>
                                        <p:cTn id="84" dur="500"/>
                                        <p:tgtEl>
                                          <p:spTgt spid="27"/>
                                        </p:tgtEl>
                                      </p:cBhvr>
                                    </p:animEffect>
                                  </p:childTnLst>
                                </p:cTn>
                              </p:par>
                              <p:par>
                                <p:cTn id="85" presetID="10" presetClass="entr" presetSubtype="0" fill="hold" grpId="0" nodeType="withEffect">
                                  <p:stCondLst>
                                    <p:cond delay="0"/>
                                  </p:stCondLst>
                                  <p:childTnLst>
                                    <p:set>
                                      <p:cBhvr>
                                        <p:cTn id="86" dur="1" fill="hold">
                                          <p:stCondLst>
                                            <p:cond delay="0"/>
                                          </p:stCondLst>
                                        </p:cTn>
                                        <p:tgtEl>
                                          <p:spTgt spid="28"/>
                                        </p:tgtEl>
                                        <p:attrNameLst>
                                          <p:attrName>style.visibility</p:attrName>
                                        </p:attrNameLst>
                                      </p:cBhvr>
                                      <p:to>
                                        <p:strVal val="visible"/>
                                      </p:to>
                                    </p:set>
                                    <p:animEffect transition="in" filter="fade">
                                      <p:cBhvr>
                                        <p:cTn id="87" dur="500"/>
                                        <p:tgtEl>
                                          <p:spTgt spid="28"/>
                                        </p:tgtEl>
                                      </p:cBhvr>
                                    </p:animEffect>
                                  </p:childTnLst>
                                </p:cTn>
                              </p:par>
                            </p:childTnLst>
                          </p:cTn>
                        </p:par>
                      </p:childTnLst>
                    </p:cTn>
                  </p:par>
                  <p:par>
                    <p:cTn id="88" fill="hold">
                      <p:stCondLst>
                        <p:cond delay="indefinite"/>
                      </p:stCondLst>
                      <p:childTnLst>
                        <p:par>
                          <p:cTn id="89" fill="hold">
                            <p:stCondLst>
                              <p:cond delay="0"/>
                            </p:stCondLst>
                            <p:childTnLst>
                              <p:par>
                                <p:cTn id="90" presetID="10" presetClass="entr" presetSubtype="0" fill="hold" grpId="0" nodeType="clickEffect">
                                  <p:stCondLst>
                                    <p:cond delay="0"/>
                                  </p:stCondLst>
                                  <p:childTnLst>
                                    <p:set>
                                      <p:cBhvr>
                                        <p:cTn id="91" dur="1" fill="hold">
                                          <p:stCondLst>
                                            <p:cond delay="0"/>
                                          </p:stCondLst>
                                        </p:cTn>
                                        <p:tgtEl>
                                          <p:spTgt spid="29"/>
                                        </p:tgtEl>
                                        <p:attrNameLst>
                                          <p:attrName>style.visibility</p:attrName>
                                        </p:attrNameLst>
                                      </p:cBhvr>
                                      <p:to>
                                        <p:strVal val="visible"/>
                                      </p:to>
                                    </p:set>
                                    <p:animEffect transition="in" filter="fade">
                                      <p:cBhvr>
                                        <p:cTn id="92" dur="500"/>
                                        <p:tgtEl>
                                          <p:spTgt spid="29"/>
                                        </p:tgtEl>
                                      </p:cBhvr>
                                    </p:animEffect>
                                  </p:childTnLst>
                                </p:cTn>
                              </p:par>
                              <p:par>
                                <p:cTn id="93" presetID="10" presetClass="entr" presetSubtype="0" fill="hold" grpId="0" nodeType="withEffect">
                                  <p:stCondLst>
                                    <p:cond delay="0"/>
                                  </p:stCondLst>
                                  <p:childTnLst>
                                    <p:set>
                                      <p:cBhvr>
                                        <p:cTn id="94" dur="1" fill="hold">
                                          <p:stCondLst>
                                            <p:cond delay="0"/>
                                          </p:stCondLst>
                                        </p:cTn>
                                        <p:tgtEl>
                                          <p:spTgt spid="30"/>
                                        </p:tgtEl>
                                        <p:attrNameLst>
                                          <p:attrName>style.visibility</p:attrName>
                                        </p:attrNameLst>
                                      </p:cBhvr>
                                      <p:to>
                                        <p:strVal val="visible"/>
                                      </p:to>
                                    </p:set>
                                    <p:animEffect transition="in" filter="fade">
                                      <p:cBhvr>
                                        <p:cTn id="95" dur="500"/>
                                        <p:tgtEl>
                                          <p:spTgt spid="30"/>
                                        </p:tgtEl>
                                      </p:cBhvr>
                                    </p:animEffect>
                                  </p:childTnLst>
                                </p:cTn>
                              </p:par>
                              <p:par>
                                <p:cTn id="96" presetID="10" presetClass="entr" presetSubtype="0" fill="hold" grpId="0" nodeType="withEffect">
                                  <p:stCondLst>
                                    <p:cond delay="0"/>
                                  </p:stCondLst>
                                  <p:childTnLst>
                                    <p:set>
                                      <p:cBhvr>
                                        <p:cTn id="97" dur="1" fill="hold">
                                          <p:stCondLst>
                                            <p:cond delay="0"/>
                                          </p:stCondLst>
                                        </p:cTn>
                                        <p:tgtEl>
                                          <p:spTgt spid="31"/>
                                        </p:tgtEl>
                                        <p:attrNameLst>
                                          <p:attrName>style.visibility</p:attrName>
                                        </p:attrNameLst>
                                      </p:cBhvr>
                                      <p:to>
                                        <p:strVal val="visible"/>
                                      </p:to>
                                    </p:set>
                                    <p:animEffect transition="in" filter="fade">
                                      <p:cBhvr>
                                        <p:cTn id="98" dur="500"/>
                                        <p:tgtEl>
                                          <p:spTgt spid="31"/>
                                        </p:tgtEl>
                                      </p:cBhvr>
                                    </p:animEffect>
                                  </p:childTnLst>
                                </p:cTn>
                              </p:par>
                              <p:par>
                                <p:cTn id="99" presetID="10" presetClass="entr" presetSubtype="0" fill="hold" grpId="0" nodeType="withEffect">
                                  <p:stCondLst>
                                    <p:cond delay="0"/>
                                  </p:stCondLst>
                                  <p:childTnLst>
                                    <p:set>
                                      <p:cBhvr>
                                        <p:cTn id="100" dur="1" fill="hold">
                                          <p:stCondLst>
                                            <p:cond delay="0"/>
                                          </p:stCondLst>
                                        </p:cTn>
                                        <p:tgtEl>
                                          <p:spTgt spid="32"/>
                                        </p:tgtEl>
                                        <p:attrNameLst>
                                          <p:attrName>style.visibility</p:attrName>
                                        </p:attrNameLst>
                                      </p:cBhvr>
                                      <p:to>
                                        <p:strVal val="visible"/>
                                      </p:to>
                                    </p:set>
                                    <p:animEffect transition="in" filter="fade">
                                      <p:cBhvr>
                                        <p:cTn id="101" dur="500"/>
                                        <p:tgtEl>
                                          <p:spTgt spid="32"/>
                                        </p:tgtEl>
                                      </p:cBhvr>
                                    </p:animEffect>
                                  </p:childTnLst>
                                </p:cTn>
                              </p:par>
                              <p:par>
                                <p:cTn id="102" presetID="10" presetClass="entr" presetSubtype="0" fill="hold" grpId="0" nodeType="withEffect">
                                  <p:stCondLst>
                                    <p:cond delay="0"/>
                                  </p:stCondLst>
                                  <p:childTnLst>
                                    <p:set>
                                      <p:cBhvr>
                                        <p:cTn id="103" dur="1" fill="hold">
                                          <p:stCondLst>
                                            <p:cond delay="0"/>
                                          </p:stCondLst>
                                        </p:cTn>
                                        <p:tgtEl>
                                          <p:spTgt spid="33"/>
                                        </p:tgtEl>
                                        <p:attrNameLst>
                                          <p:attrName>style.visibility</p:attrName>
                                        </p:attrNameLst>
                                      </p:cBhvr>
                                      <p:to>
                                        <p:strVal val="visible"/>
                                      </p:to>
                                    </p:set>
                                    <p:animEffect transition="in" filter="fade">
                                      <p:cBhvr>
                                        <p:cTn id="104" dur="5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457200"/>
            <a:ext cx="11185855" cy="274320"/>
          </a:xfrm>
          <a:prstGeom prst="rect">
            <a:avLst/>
          </a:prstGeom>
          <a:noFill/>
          <a:ln/>
        </p:spPr>
        <p:txBody>
          <a:bodyPr wrap="square" lIns="0" tIns="0" rIns="0" bIns="0" rtlCol="0" anchor="ctr"/>
          <a:lstStyle/>
          <a:p>
            <a:pPr indent="0" marL="0">
              <a:buNone/>
            </a:pPr>
            <a:r>
              <a:rPr lang="en-US" sz="1200" b="1" spc="300" kern="0" dirty="0">
                <a:solidFill>
                  <a:srgbClr val="0D9488"/>
                </a:solidFill>
                <a:latin typeface="Calibri" pitchFamily="34" charset="0"/>
                <a:ea typeface="Calibri" pitchFamily="34" charset="-122"/>
                <a:cs typeface="Calibri" pitchFamily="34" charset="-120"/>
              </a:rPr>
              <a:t>IMPLEMENTATION &amp; NEXT STEPS</a:t>
            </a:r>
            <a:endParaRPr lang="en-US" sz="1200" dirty="0"/>
          </a:p>
        </p:txBody>
      </p:sp>
      <p:sp>
        <p:nvSpPr>
          <p:cNvPr id="3" name="Text 1"/>
          <p:cNvSpPr/>
          <p:nvPr/>
        </p:nvSpPr>
        <p:spPr>
          <a:xfrm>
            <a:off x="502920" y="749808"/>
            <a:ext cx="11185855" cy="914400"/>
          </a:xfrm>
          <a:prstGeom prst="rect">
            <a:avLst/>
          </a:prstGeom>
          <a:noFill/>
          <a:ln/>
        </p:spPr>
        <p:txBody>
          <a:bodyPr wrap="square" lIns="0" tIns="0" rIns="0" bIns="0" rtlCol="0" anchor="t"/>
          <a:lstStyle/>
          <a:p>
            <a:pPr indent="0" marL="0">
              <a:buNone/>
            </a:pPr>
            <a:r>
              <a:rPr lang="en-US" sz="2800" b="1" dirty="0">
                <a:solidFill>
                  <a:srgbClr val="0F172A"/>
                </a:solidFill>
                <a:latin typeface="Georgia" pitchFamily="34" charset="0"/>
                <a:ea typeface="Georgia" pitchFamily="34" charset="-122"/>
                <a:cs typeface="Georgia" pitchFamily="34" charset="-120"/>
              </a:rPr>
              <a:t>From working prototype to production ramp</a:t>
            </a:r>
            <a:endParaRPr lang="en-US" sz="2800" dirty="0"/>
          </a:p>
        </p:txBody>
      </p:sp>
      <p:sp>
        <p:nvSpPr>
          <p:cNvPr id="4" name="Shape 2"/>
          <p:cNvSpPr/>
          <p:nvPr/>
        </p:nvSpPr>
        <p:spPr>
          <a:xfrm>
            <a:off x="502920"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5" name="Shape 3"/>
          <p:cNvSpPr/>
          <p:nvPr/>
        </p:nvSpPr>
        <p:spPr>
          <a:xfrm>
            <a:off x="502920" y="1920240"/>
            <a:ext cx="2590724" cy="109728"/>
          </a:xfrm>
          <a:prstGeom prst="rect">
            <a:avLst/>
          </a:prstGeom>
          <a:solidFill>
            <a:srgbClr val="16A34A"/>
          </a:solidFill>
          <a:ln/>
        </p:spPr>
      </p:sp>
      <p:sp>
        <p:nvSpPr>
          <p:cNvPr id="6" name="Shape 4"/>
          <p:cNvSpPr/>
          <p:nvPr/>
        </p:nvSpPr>
        <p:spPr>
          <a:xfrm>
            <a:off x="722376" y="2231136"/>
            <a:ext cx="603504" cy="603504"/>
          </a:xfrm>
          <a:prstGeom prst="roundRect">
            <a:avLst>
              <a:gd name="adj" fmla="val 19697"/>
            </a:avLst>
          </a:prstGeom>
          <a:solidFill>
            <a:srgbClr val="16A34A"/>
          </a:solidFill>
          <a:ln/>
        </p:spPr>
      </p:sp>
      <p:pic>
        <p:nvPicPr>
          <p:cNvPr id="7" name="Image 0" descr="icons/check.png">    </p:cNvPr>
          <p:cNvPicPr>
            <a:picLocks noChangeAspect="1"/>
          </p:cNvPicPr>
          <p:nvPr/>
        </p:nvPicPr>
        <p:blipFill>
          <a:blip r:embed="rId1"/>
          <a:stretch>
            <a:fillRect/>
          </a:stretch>
        </p:blipFill>
        <p:spPr>
          <a:xfrm>
            <a:off x="877824" y="2386584"/>
            <a:ext cx="292608" cy="292608"/>
          </a:xfrm>
          <a:prstGeom prst="rect">
            <a:avLst/>
          </a:prstGeom>
        </p:spPr>
      </p:pic>
      <p:sp>
        <p:nvSpPr>
          <p:cNvPr id="8" name="Text 5"/>
          <p:cNvSpPr/>
          <p:nvPr/>
        </p:nvSpPr>
        <p:spPr>
          <a:xfrm>
            <a:off x="704088"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Now — Prototype (done)</a:t>
            </a:r>
            <a:endParaRPr lang="en-US" sz="1400" dirty="0"/>
          </a:p>
        </p:txBody>
      </p:sp>
      <p:sp>
        <p:nvSpPr>
          <p:cNvPr id="9" name="Text 6"/>
          <p:cNvSpPr/>
          <p:nvPr/>
        </p:nvSpPr>
        <p:spPr>
          <a:xfrm>
            <a:off x="722376"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on Cloud Run + Firestore</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All 4 requirements + safe checkout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117 tests · CI/CD · /dev portal</a:t>
            </a:r>
            <a:endParaRPr lang="en-US" sz="1150" dirty="0"/>
          </a:p>
        </p:txBody>
      </p:sp>
      <p:pic>
        <p:nvPicPr>
          <p:cNvPr id="10" name="Image 1" descr="icons/arrow.png">    </p:cNvPr>
          <p:cNvPicPr>
            <a:picLocks noChangeAspect="1"/>
          </p:cNvPicPr>
          <p:nvPr/>
        </p:nvPicPr>
        <p:blipFill>
          <a:blip r:embed="rId2"/>
          <a:stretch>
            <a:fillRect/>
          </a:stretch>
        </p:blipFill>
        <p:spPr>
          <a:xfrm>
            <a:off x="3093644" y="3474720"/>
            <a:ext cx="256032" cy="256032"/>
          </a:xfrm>
          <a:prstGeom prst="rect">
            <a:avLst/>
          </a:prstGeom>
        </p:spPr>
      </p:pic>
      <p:sp>
        <p:nvSpPr>
          <p:cNvPr id="11" name="Shape 7"/>
          <p:cNvSpPr/>
          <p:nvPr/>
        </p:nvSpPr>
        <p:spPr>
          <a:xfrm>
            <a:off x="3367964"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2" name="Shape 8"/>
          <p:cNvSpPr/>
          <p:nvPr/>
        </p:nvSpPr>
        <p:spPr>
          <a:xfrm>
            <a:off x="3367964" y="1920240"/>
            <a:ext cx="2590724" cy="109728"/>
          </a:xfrm>
          <a:prstGeom prst="rect">
            <a:avLst/>
          </a:prstGeom>
          <a:solidFill>
            <a:srgbClr val="2563EB"/>
          </a:solidFill>
          <a:ln/>
        </p:spPr>
      </p:sp>
      <p:sp>
        <p:nvSpPr>
          <p:cNvPr id="13" name="Shape 9"/>
          <p:cNvSpPr/>
          <p:nvPr/>
        </p:nvSpPr>
        <p:spPr>
          <a:xfrm>
            <a:off x="3587420" y="2231136"/>
            <a:ext cx="603504" cy="603504"/>
          </a:xfrm>
          <a:prstGeom prst="roundRect">
            <a:avLst>
              <a:gd name="adj" fmla="val 19697"/>
            </a:avLst>
          </a:prstGeom>
          <a:solidFill>
            <a:srgbClr val="2563EB"/>
          </a:solidFill>
          <a:ln/>
        </p:spPr>
      </p:sp>
      <p:pic>
        <p:nvPicPr>
          <p:cNvPr id="14" name="Image 2" descr="icons/users.png">    </p:cNvPr>
          <p:cNvPicPr>
            <a:picLocks noChangeAspect="1"/>
          </p:cNvPicPr>
          <p:nvPr/>
        </p:nvPicPr>
        <p:blipFill>
          <a:blip r:embed="rId3"/>
          <a:stretch>
            <a:fillRect/>
          </a:stretch>
        </p:blipFill>
        <p:spPr>
          <a:xfrm>
            <a:off x="3742868" y="2386584"/>
            <a:ext cx="292608" cy="292608"/>
          </a:xfrm>
          <a:prstGeom prst="rect">
            <a:avLst/>
          </a:prstGeom>
        </p:spPr>
      </p:pic>
      <p:sp>
        <p:nvSpPr>
          <p:cNvPr id="15" name="Text 10"/>
          <p:cNvSpPr/>
          <p:nvPr/>
        </p:nvSpPr>
        <p:spPr>
          <a:xfrm>
            <a:off x="3569132"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Pilot — 4–6 wks</a:t>
            </a:r>
            <a:endParaRPr lang="en-US" sz="1400" dirty="0"/>
          </a:p>
        </p:txBody>
      </p:sp>
      <p:sp>
        <p:nvSpPr>
          <p:cNvPr id="16" name="Text 11"/>
          <p:cNvSpPr/>
          <p:nvPr/>
        </p:nvSpPr>
        <p:spPr>
          <a:xfrm>
            <a:off x="3587420"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Multi-user + real SSO (Firebase/IdP)</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Secret Manager · CORS/IAM hardening</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Instrument deflection / conversion / CSAT</a:t>
            </a:r>
            <a:endParaRPr lang="en-US" sz="1150" dirty="0"/>
          </a:p>
        </p:txBody>
      </p:sp>
      <p:pic>
        <p:nvPicPr>
          <p:cNvPr id="17" name="Image 3" descr="icons/arrow.png">    </p:cNvPr>
          <p:cNvPicPr>
            <a:picLocks noChangeAspect="1"/>
          </p:cNvPicPr>
          <p:nvPr/>
        </p:nvPicPr>
        <p:blipFill>
          <a:blip r:embed="rId4"/>
          <a:stretch>
            <a:fillRect/>
          </a:stretch>
        </p:blipFill>
        <p:spPr>
          <a:xfrm>
            <a:off x="5958688" y="3474720"/>
            <a:ext cx="256032" cy="256032"/>
          </a:xfrm>
          <a:prstGeom prst="rect">
            <a:avLst/>
          </a:prstGeom>
        </p:spPr>
      </p:pic>
      <p:sp>
        <p:nvSpPr>
          <p:cNvPr id="18" name="Shape 12"/>
          <p:cNvSpPr/>
          <p:nvPr/>
        </p:nvSpPr>
        <p:spPr>
          <a:xfrm>
            <a:off x="6233008"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19" name="Shape 13"/>
          <p:cNvSpPr/>
          <p:nvPr/>
        </p:nvSpPr>
        <p:spPr>
          <a:xfrm>
            <a:off x="6233008" y="1920240"/>
            <a:ext cx="2590724" cy="109728"/>
          </a:xfrm>
          <a:prstGeom prst="rect">
            <a:avLst/>
          </a:prstGeom>
          <a:solidFill>
            <a:srgbClr val="7C3AED"/>
          </a:solidFill>
          <a:ln/>
        </p:spPr>
      </p:sp>
      <p:sp>
        <p:nvSpPr>
          <p:cNvPr id="20" name="Shape 14"/>
          <p:cNvSpPr/>
          <p:nvPr/>
        </p:nvSpPr>
        <p:spPr>
          <a:xfrm>
            <a:off x="6452464" y="2231136"/>
            <a:ext cx="603504" cy="603504"/>
          </a:xfrm>
          <a:prstGeom prst="roundRect">
            <a:avLst>
              <a:gd name="adj" fmla="val 19697"/>
            </a:avLst>
          </a:prstGeom>
          <a:solidFill>
            <a:srgbClr val="7C3AED"/>
          </a:solidFill>
          <a:ln/>
        </p:spPr>
      </p:sp>
      <p:pic>
        <p:nvPicPr>
          <p:cNvPr id="21" name="Image 4" descr="icons/plug.png">    </p:cNvPr>
          <p:cNvPicPr>
            <a:picLocks noChangeAspect="1"/>
          </p:cNvPicPr>
          <p:nvPr/>
        </p:nvPicPr>
        <p:blipFill>
          <a:blip r:embed="rId5"/>
          <a:stretch>
            <a:fillRect/>
          </a:stretch>
        </p:blipFill>
        <p:spPr>
          <a:xfrm>
            <a:off x="6607912" y="2386584"/>
            <a:ext cx="292608" cy="292608"/>
          </a:xfrm>
          <a:prstGeom prst="rect">
            <a:avLst/>
          </a:prstGeom>
        </p:spPr>
      </p:pic>
      <p:sp>
        <p:nvSpPr>
          <p:cNvPr id="22" name="Text 15"/>
          <p:cNvSpPr/>
          <p:nvPr/>
        </p:nvSpPr>
        <p:spPr>
          <a:xfrm>
            <a:off x="6434176"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Integrate — 6–10 wks</a:t>
            </a:r>
            <a:endParaRPr lang="en-US" sz="1400" dirty="0"/>
          </a:p>
        </p:txBody>
      </p:sp>
      <p:sp>
        <p:nvSpPr>
          <p:cNvPr id="23" name="Text 16"/>
          <p:cNvSpPr/>
          <p:nvPr/>
        </p:nvSpPr>
        <p:spPr>
          <a:xfrm>
            <a:off x="6452464"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Live inventory/OMS + payment provider</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CCAI telephony + agent-assist</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Vertex Translation for long-tail locales</a:t>
            </a:r>
            <a:endParaRPr lang="en-US" sz="1150" dirty="0"/>
          </a:p>
        </p:txBody>
      </p:sp>
      <p:pic>
        <p:nvPicPr>
          <p:cNvPr id="24" name="Image 5" descr="icons/arrow.png">    </p:cNvPr>
          <p:cNvPicPr>
            <a:picLocks noChangeAspect="1"/>
          </p:cNvPicPr>
          <p:nvPr/>
        </p:nvPicPr>
        <p:blipFill>
          <a:blip r:embed="rId6"/>
          <a:stretch>
            <a:fillRect/>
          </a:stretch>
        </p:blipFill>
        <p:spPr>
          <a:xfrm>
            <a:off x="8823731" y="3474720"/>
            <a:ext cx="256032" cy="256032"/>
          </a:xfrm>
          <a:prstGeom prst="rect">
            <a:avLst/>
          </a:prstGeom>
        </p:spPr>
      </p:pic>
      <p:sp>
        <p:nvSpPr>
          <p:cNvPr id="25" name="Shape 17"/>
          <p:cNvSpPr/>
          <p:nvPr/>
        </p:nvSpPr>
        <p:spPr>
          <a:xfrm>
            <a:off x="9098051" y="1920240"/>
            <a:ext cx="2590724" cy="3383280"/>
          </a:xfrm>
          <a:prstGeom prst="roundRect">
            <a:avLst>
              <a:gd name="adj" fmla="val 3177"/>
            </a:avLst>
          </a:prstGeom>
          <a:solidFill>
            <a:srgbClr val="FFFFFF"/>
          </a:solidFill>
          <a:ln w="12700">
            <a:solidFill>
              <a:srgbClr val="E6E8F0"/>
            </a:solidFill>
            <a:prstDash val="solid"/>
          </a:ln>
          <a:effectLst>
            <a:outerShdw sx="100000" sy="100000" kx="0" ky="0" algn="bl" rotWithShape="0" blurRad="114300" dist="38100" dir="8100000">
              <a:srgbClr val="0F172A">
                <a:alpha val="16000"/>
              </a:srgbClr>
            </a:outerShdw>
          </a:effectLst>
        </p:spPr>
      </p:sp>
      <p:sp>
        <p:nvSpPr>
          <p:cNvPr id="26" name="Shape 18"/>
          <p:cNvSpPr/>
          <p:nvPr/>
        </p:nvSpPr>
        <p:spPr>
          <a:xfrm>
            <a:off x="9098051" y="1920240"/>
            <a:ext cx="2590724" cy="109728"/>
          </a:xfrm>
          <a:prstGeom prst="rect">
            <a:avLst/>
          </a:prstGeom>
          <a:solidFill>
            <a:srgbClr val="E11D48"/>
          </a:solidFill>
          <a:ln/>
        </p:spPr>
      </p:sp>
      <p:sp>
        <p:nvSpPr>
          <p:cNvPr id="27" name="Shape 19"/>
          <p:cNvSpPr/>
          <p:nvPr/>
        </p:nvSpPr>
        <p:spPr>
          <a:xfrm>
            <a:off x="9317507" y="2231136"/>
            <a:ext cx="603504" cy="603504"/>
          </a:xfrm>
          <a:prstGeom prst="roundRect">
            <a:avLst>
              <a:gd name="adj" fmla="val 19697"/>
            </a:avLst>
          </a:prstGeom>
          <a:solidFill>
            <a:srgbClr val="E11D48"/>
          </a:solidFill>
          <a:ln/>
        </p:spPr>
      </p:sp>
      <p:pic>
        <p:nvPicPr>
          <p:cNvPr id="28" name="Image 6" descr="icons/rocket.png">    </p:cNvPr>
          <p:cNvPicPr>
            <a:picLocks noChangeAspect="1"/>
          </p:cNvPicPr>
          <p:nvPr/>
        </p:nvPicPr>
        <p:blipFill>
          <a:blip r:embed="rId7"/>
          <a:stretch>
            <a:fillRect/>
          </a:stretch>
        </p:blipFill>
        <p:spPr>
          <a:xfrm>
            <a:off x="9472955" y="2386584"/>
            <a:ext cx="292608" cy="292608"/>
          </a:xfrm>
          <a:prstGeom prst="rect">
            <a:avLst/>
          </a:prstGeom>
        </p:spPr>
      </p:pic>
      <p:sp>
        <p:nvSpPr>
          <p:cNvPr id="29" name="Text 20"/>
          <p:cNvSpPr/>
          <p:nvPr/>
        </p:nvSpPr>
        <p:spPr>
          <a:xfrm>
            <a:off x="9299219" y="2944368"/>
            <a:ext cx="2188388" cy="548640"/>
          </a:xfrm>
          <a:prstGeom prst="rect">
            <a:avLst/>
          </a:prstGeom>
          <a:noFill/>
          <a:ln/>
        </p:spPr>
        <p:txBody>
          <a:bodyPr wrap="square" lIns="0" tIns="0" rIns="0" bIns="0" rtlCol="0" anchor="t"/>
          <a:lstStyle/>
          <a:p>
            <a:pPr indent="0" marL="0">
              <a:buNone/>
            </a:pPr>
            <a:r>
              <a:rPr lang="en-US" sz="1400" b="1" dirty="0">
                <a:solidFill>
                  <a:srgbClr val="0F172A"/>
                </a:solidFill>
                <a:latin typeface="Calibri" pitchFamily="34" charset="0"/>
                <a:ea typeface="Calibri" pitchFamily="34" charset="-122"/>
                <a:cs typeface="Calibri" pitchFamily="34" charset="-120"/>
              </a:rPr>
              <a:t>Scale — ongoing</a:t>
            </a:r>
            <a:endParaRPr lang="en-US" sz="1400" dirty="0"/>
          </a:p>
        </p:txBody>
      </p:sp>
      <p:sp>
        <p:nvSpPr>
          <p:cNvPr id="30" name="Text 21"/>
          <p:cNvSpPr/>
          <p:nvPr/>
        </p:nvSpPr>
        <p:spPr>
          <a:xfrm>
            <a:off x="9317507" y="3493008"/>
            <a:ext cx="2170100" cy="1691640"/>
          </a:xfrm>
          <a:prstGeom prst="rect">
            <a:avLst/>
          </a:prstGeom>
          <a:noFill/>
          <a:ln/>
        </p:spPr>
        <p:txBody>
          <a:bodyPr wrap="square" lIns="0" tIns="0" rIns="0" bIns="0" rtlCol="0" anchor="t"/>
          <a:lstStyle/>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Multi-region · min-instances for latency</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Eval suite + guardrails in CI</a:t>
            </a:r>
            <a:endParaRPr lang="en-US" sz="1150" dirty="0"/>
          </a:p>
          <a:p>
            <a:pPr marL="152400" indent="-152400">
              <a:spcAft>
                <a:spcPts val="700"/>
              </a:spcAft>
              <a:buSzPct val="100000"/>
              <a:buChar char="•"/>
            </a:pPr>
            <a:r>
              <a:rPr lang="en-US" sz="1150" dirty="0">
                <a:solidFill>
                  <a:srgbClr val="5B6577"/>
                </a:solidFill>
                <a:latin typeface="Calibri" pitchFamily="34" charset="0"/>
                <a:ea typeface="Calibri" pitchFamily="34" charset="-122"/>
                <a:cs typeface="Calibri" pitchFamily="34" charset="-120"/>
              </a:rPr>
              <a:t>Dynamic skill selection, more sub-agents</a:t>
            </a:r>
            <a:endParaRPr lang="en-US" sz="1150" dirty="0"/>
          </a:p>
        </p:txBody>
      </p:sp>
      <p:sp>
        <p:nvSpPr>
          <p:cNvPr id="31" name="Text 22"/>
          <p:cNvSpPr/>
          <p:nvPr/>
        </p:nvSpPr>
        <p:spPr>
          <a:xfrm>
            <a:off x="502920" y="5532120"/>
            <a:ext cx="11185855" cy="548640"/>
          </a:xfrm>
          <a:prstGeom prst="rect">
            <a:avLst/>
          </a:prstGeom>
          <a:noFill/>
          <a:ln/>
        </p:spPr>
        <p:txBody>
          <a:bodyPr wrap="square" lIns="0" tIns="0" rIns="0" bIns="0" rtlCol="0" anchor="ctr"/>
          <a:lstStyle/>
          <a:p>
            <a:pPr algn="ctr" indent="0" marL="0">
              <a:buNone/>
            </a:pPr>
            <a:r>
              <a:rPr lang="en-US" sz="1250" i="1" dirty="0">
                <a:solidFill>
                  <a:srgbClr val="0F172A"/>
                </a:solidFill>
                <a:latin typeface="Calibri" pitchFamily="34" charset="0"/>
                <a:ea typeface="Calibri" pitchFamily="34" charset="-122"/>
                <a:cs typeface="Calibri" pitchFamily="34" charset="-120"/>
              </a:rPr>
              <a:t>Low-risk ramp: the prototype already encodes the hard parts (safety gate, context, multimodal); production is integration + hardening, not re-architecture.</a:t>
            </a:r>
            <a:endParaRPr lang="en-US" sz="1250" dirty="0"/>
          </a:p>
        </p:txBody>
      </p:sp>
      <p:sp>
        <p:nvSpPr>
          <p:cNvPr id="32" name="Text 23"/>
          <p:cNvSpPr/>
          <p:nvPr/>
        </p:nvSpPr>
        <p:spPr>
          <a:xfrm>
            <a:off x="502920" y="6455664"/>
            <a:ext cx="8229600" cy="274320"/>
          </a:xfrm>
          <a:prstGeom prst="rect">
            <a:avLst/>
          </a:prstGeom>
          <a:noFill/>
          <a:ln/>
        </p:spPr>
        <p:txBody>
          <a:bodyPr wrap="square" lIns="0" tIns="0" rIns="0" bIns="0" rtlCol="0" anchor="ctr"/>
          <a:lstStyle/>
          <a:p>
            <a:pPr indent="0" marL="0">
              <a:buNone/>
            </a:pPr>
            <a:r>
              <a:rPr lang="en-US" sz="900" dirty="0">
                <a:solidFill>
                  <a:srgbClr val="8A94A6"/>
                </a:solidFill>
                <a:latin typeface="Calibri" pitchFamily="34" charset="0"/>
                <a:ea typeface="Calibri" pitchFamily="34" charset="-122"/>
                <a:cs typeface="Calibri" pitchFamily="34" charset="-120"/>
              </a:rPr>
              <a:t>GOOPHER · Unified Conversational Retail Agent on Google Cloud</a:t>
            </a:r>
            <a:endParaRPr lang="en-US" sz="900" dirty="0"/>
          </a:p>
        </p:txBody>
      </p:sp>
      <p:sp>
        <p:nvSpPr>
          <p:cNvPr id="33" name="Text 24"/>
          <p:cNvSpPr/>
          <p:nvPr/>
        </p:nvSpPr>
        <p:spPr>
          <a:xfrm>
            <a:off x="11277295" y="6455664"/>
            <a:ext cx="411480" cy="274320"/>
          </a:xfrm>
          <a:prstGeom prst="rect">
            <a:avLst/>
          </a:prstGeom>
          <a:noFill/>
          <a:ln/>
        </p:spPr>
        <p:txBody>
          <a:bodyPr wrap="square" lIns="0" tIns="0" rIns="0" bIns="0" rtlCol="0" anchor="ctr"/>
          <a:lstStyle/>
          <a:p>
            <a:pPr algn="r" indent="0" marL="0">
              <a:buNone/>
            </a:pPr>
            <a:r>
              <a:rPr lang="en-US" sz="900" dirty="0">
                <a:solidFill>
                  <a:srgbClr val="8A94A6"/>
                </a:solidFill>
                <a:latin typeface="Calibri" pitchFamily="34" charset="0"/>
                <a:ea typeface="Calibri" pitchFamily="34" charset="-122"/>
                <a:cs typeface="Calibri" pitchFamily="34" charset="-120"/>
              </a:rPr>
              <a:t>17</a:t>
            </a:r>
            <a:endParaRPr lang="en-US" sz="900" dirty="0"/>
          </a:p>
        </p:txBody>
      </p:sp>
    </p:spTree>
  </p:cSld>
  <p:clrMapOvr>
    <a:masterClrMapping/>
  </p:clrMapOvr>
  <p:transition spd="med">
    <p:fade/>
  </p:transition>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pic>
        <p:nvPicPr>
          <p:cNvPr id="2" name="Image 0" descr="logo.png">    </p:cNvPr>
          <p:cNvPicPr>
            <a:picLocks noChangeAspect="1"/>
          </p:cNvPicPr>
          <p:nvPr/>
        </p:nvPicPr>
        <p:blipFill>
          <a:blip r:embed="rId2"/>
          <a:stretch>
            <a:fillRect/>
          </a:stretch>
        </p:blipFill>
        <p:spPr>
          <a:xfrm>
            <a:off x="502920" y="548640"/>
            <a:ext cx="731520" cy="731520"/>
          </a:xfrm>
          <a:prstGeom prst="rect">
            <a:avLst/>
          </a:prstGeom>
        </p:spPr>
      </p:pic>
      <p:sp>
        <p:nvSpPr>
          <p:cNvPr id="3" name="Text 0"/>
          <p:cNvSpPr/>
          <p:nvPr/>
        </p:nvSpPr>
        <p:spPr>
          <a:xfrm>
            <a:off x="1371600" y="603504"/>
            <a:ext cx="7315200" cy="640080"/>
          </a:xfrm>
          <a:prstGeom prst="rect">
            <a:avLst/>
          </a:prstGeom>
          <a:noFill/>
          <a:ln/>
        </p:spPr>
        <p:txBody>
          <a:bodyPr wrap="square" lIns="0" tIns="0" rIns="0" bIns="0" rtlCol="0" anchor="ctr"/>
          <a:lstStyle/>
          <a:p>
            <a:pPr indent="0" marL="0">
              <a:buNone/>
            </a:pPr>
            <a:r>
              <a:rPr lang="en-US" sz="2000" b="1" dirty="0">
                <a:solidFill>
                  <a:srgbClr val="FFFFFF"/>
                </a:solidFill>
                <a:latin typeface="Georgia" pitchFamily="34" charset="0"/>
                <a:ea typeface="Georgia" pitchFamily="34" charset="-122"/>
                <a:cs typeface="Georgia" pitchFamily="34" charset="-120"/>
              </a:rPr>
              <a:t>GOOPHER</a:t>
            </a:r>
            <a:endParaRPr lang="en-US" sz="2000" dirty="0"/>
          </a:p>
        </p:txBody>
      </p:sp>
      <p:sp>
        <p:nvSpPr>
          <p:cNvPr id="4" name="Text 1"/>
          <p:cNvSpPr/>
          <p:nvPr/>
        </p:nvSpPr>
        <p:spPr>
          <a:xfrm>
            <a:off x="502920" y="1828800"/>
            <a:ext cx="10789920" cy="1371600"/>
          </a:xfrm>
          <a:prstGeom prst="rect">
            <a:avLst/>
          </a:prstGeom>
          <a:noFill/>
          <a:ln/>
        </p:spPr>
        <p:txBody>
          <a:bodyPr wrap="square" lIns="0" tIns="0" rIns="0" bIns="0" rtlCol="0" anchor="ctr"/>
          <a:lstStyle/>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One agent. Every channel, language &amp; modality.</a:t>
            </a:r>
            <a:endParaRPr lang="en-US" sz="3200" dirty="0"/>
          </a:p>
          <a:p>
            <a:pPr indent="0" marL="0">
              <a:lnSpc>
                <a:spcPct val="105000"/>
              </a:lnSpc>
              <a:buNone/>
            </a:pPr>
            <a:r>
              <a:rPr lang="en-US" sz="3200" b="1" dirty="0">
                <a:solidFill>
                  <a:srgbClr val="FFFFFF"/>
                </a:solidFill>
                <a:latin typeface="Georgia" pitchFamily="34" charset="0"/>
                <a:ea typeface="Georgia" pitchFamily="34" charset="-122"/>
                <a:cs typeface="Georgia" pitchFamily="34" charset="-120"/>
              </a:rPr>
              <a:t>Safe to transact. Heals itself.</a:t>
            </a:r>
            <a:endParaRPr lang="en-US" sz="3200" dirty="0"/>
          </a:p>
        </p:txBody>
      </p:sp>
      <p:sp>
        <p:nvSpPr>
          <p:cNvPr id="5" name="Shape 2"/>
          <p:cNvSpPr/>
          <p:nvPr/>
        </p:nvSpPr>
        <p:spPr>
          <a:xfrm>
            <a:off x="502920" y="3566160"/>
            <a:ext cx="1975104" cy="420624"/>
          </a:xfrm>
          <a:prstGeom prst="roundRect">
            <a:avLst>
              <a:gd name="adj" fmla="val 50000"/>
            </a:avLst>
          </a:prstGeom>
          <a:solidFill>
            <a:srgbClr val="FFFFFF">
              <a:alpha val="12000"/>
            </a:srgbClr>
          </a:solidFill>
          <a:ln w="12700">
            <a:solidFill>
              <a:srgbClr val="7C3AED"/>
            </a:solidFill>
            <a:prstDash val="solid"/>
          </a:ln>
        </p:spPr>
      </p:sp>
      <p:sp>
        <p:nvSpPr>
          <p:cNvPr id="6" name="Text 3"/>
          <p:cNvSpPr/>
          <p:nvPr/>
        </p:nvSpPr>
        <p:spPr>
          <a:xfrm>
            <a:off x="502920" y="3566160"/>
            <a:ext cx="197510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Sub-agents + context</a:t>
            </a:r>
            <a:endParaRPr lang="en-US" sz="1050" dirty="0"/>
          </a:p>
        </p:txBody>
      </p:sp>
      <p:sp>
        <p:nvSpPr>
          <p:cNvPr id="7" name="Shape 4"/>
          <p:cNvSpPr/>
          <p:nvPr/>
        </p:nvSpPr>
        <p:spPr>
          <a:xfrm>
            <a:off x="262432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8" name="Text 5"/>
          <p:cNvSpPr/>
          <p:nvPr/>
        </p:nvSpPr>
        <p:spPr>
          <a:xfrm>
            <a:off x="262432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Multilingual</a:t>
            </a:r>
            <a:endParaRPr lang="en-US" sz="1050" dirty="0"/>
          </a:p>
        </p:txBody>
      </p:sp>
      <p:sp>
        <p:nvSpPr>
          <p:cNvPr id="9" name="Shape 6"/>
          <p:cNvSpPr/>
          <p:nvPr/>
        </p:nvSpPr>
        <p:spPr>
          <a:xfrm>
            <a:off x="4101998"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0" name="Text 7"/>
          <p:cNvSpPr/>
          <p:nvPr/>
        </p:nvSpPr>
        <p:spPr>
          <a:xfrm>
            <a:off x="4101998"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Multichannel</a:t>
            </a:r>
            <a:endParaRPr lang="en-US" sz="1050" dirty="0"/>
          </a:p>
        </p:txBody>
      </p:sp>
      <p:sp>
        <p:nvSpPr>
          <p:cNvPr id="11" name="Shape 8"/>
          <p:cNvSpPr/>
          <p:nvPr/>
        </p:nvSpPr>
        <p:spPr>
          <a:xfrm>
            <a:off x="5579669" y="3566160"/>
            <a:ext cx="1170432" cy="420624"/>
          </a:xfrm>
          <a:prstGeom prst="roundRect">
            <a:avLst>
              <a:gd name="adj" fmla="val 50000"/>
            </a:avLst>
          </a:prstGeom>
          <a:solidFill>
            <a:srgbClr val="FFFFFF">
              <a:alpha val="12000"/>
            </a:srgbClr>
          </a:solidFill>
          <a:ln w="12700">
            <a:solidFill>
              <a:srgbClr val="7C3AED"/>
            </a:solidFill>
            <a:prstDash val="solid"/>
          </a:ln>
        </p:spPr>
      </p:sp>
      <p:sp>
        <p:nvSpPr>
          <p:cNvPr id="12" name="Text 9"/>
          <p:cNvSpPr/>
          <p:nvPr/>
        </p:nvSpPr>
        <p:spPr>
          <a:xfrm>
            <a:off x="5579669" y="3566160"/>
            <a:ext cx="1170432"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Multimodal</a:t>
            </a:r>
            <a:endParaRPr lang="en-US" sz="1050" dirty="0"/>
          </a:p>
        </p:txBody>
      </p:sp>
      <p:sp>
        <p:nvSpPr>
          <p:cNvPr id="13" name="Shape 10"/>
          <p:cNvSpPr/>
          <p:nvPr/>
        </p:nvSpPr>
        <p:spPr>
          <a:xfrm>
            <a:off x="6896405" y="3566160"/>
            <a:ext cx="2136038" cy="420624"/>
          </a:xfrm>
          <a:prstGeom prst="roundRect">
            <a:avLst>
              <a:gd name="adj" fmla="val 50000"/>
            </a:avLst>
          </a:prstGeom>
          <a:solidFill>
            <a:srgbClr val="FFFFFF">
              <a:alpha val="12000"/>
            </a:srgbClr>
          </a:solidFill>
          <a:ln w="12700">
            <a:solidFill>
              <a:srgbClr val="7C3AED"/>
            </a:solidFill>
            <a:prstDash val="solid"/>
          </a:ln>
        </p:spPr>
      </p:sp>
      <p:sp>
        <p:nvSpPr>
          <p:cNvPr id="14" name="Text 11"/>
          <p:cNvSpPr/>
          <p:nvPr/>
        </p:nvSpPr>
        <p:spPr>
          <a:xfrm>
            <a:off x="6896405" y="3566160"/>
            <a:ext cx="2136038"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Deterministic checkout</a:t>
            </a:r>
            <a:endParaRPr lang="en-US" sz="1050" dirty="0"/>
          </a:p>
        </p:txBody>
      </p:sp>
      <p:sp>
        <p:nvSpPr>
          <p:cNvPr id="15" name="Shape 12"/>
          <p:cNvSpPr/>
          <p:nvPr/>
        </p:nvSpPr>
        <p:spPr>
          <a:xfrm>
            <a:off x="9178747" y="3566160"/>
            <a:ext cx="1331366" cy="420624"/>
          </a:xfrm>
          <a:prstGeom prst="roundRect">
            <a:avLst>
              <a:gd name="adj" fmla="val 50000"/>
            </a:avLst>
          </a:prstGeom>
          <a:solidFill>
            <a:srgbClr val="FFFFFF">
              <a:alpha val="12000"/>
            </a:srgbClr>
          </a:solidFill>
          <a:ln w="12700">
            <a:solidFill>
              <a:srgbClr val="7C3AED"/>
            </a:solidFill>
            <a:prstDash val="solid"/>
          </a:ln>
        </p:spPr>
      </p:sp>
      <p:sp>
        <p:nvSpPr>
          <p:cNvPr id="16" name="Text 13"/>
          <p:cNvSpPr/>
          <p:nvPr/>
        </p:nvSpPr>
        <p:spPr>
          <a:xfrm>
            <a:off x="9178747" y="3566160"/>
            <a:ext cx="1331366"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Self-healing</a:t>
            </a:r>
            <a:endParaRPr lang="en-US" sz="1050" dirty="0"/>
          </a:p>
        </p:txBody>
      </p:sp>
      <p:sp>
        <p:nvSpPr>
          <p:cNvPr id="17" name="Shape 14"/>
          <p:cNvSpPr/>
          <p:nvPr/>
        </p:nvSpPr>
        <p:spPr>
          <a:xfrm>
            <a:off x="502920" y="4096512"/>
            <a:ext cx="2538374" cy="420624"/>
          </a:xfrm>
          <a:prstGeom prst="roundRect">
            <a:avLst>
              <a:gd name="adj" fmla="val 50000"/>
            </a:avLst>
          </a:prstGeom>
          <a:solidFill>
            <a:srgbClr val="FFFFFF">
              <a:alpha val="12000"/>
            </a:srgbClr>
          </a:solidFill>
          <a:ln w="12700">
            <a:solidFill>
              <a:srgbClr val="7C3AED"/>
            </a:solidFill>
            <a:prstDash val="solid"/>
          </a:ln>
        </p:spPr>
      </p:sp>
      <p:sp>
        <p:nvSpPr>
          <p:cNvPr id="18" name="Text 15"/>
          <p:cNvSpPr/>
          <p:nvPr/>
        </p:nvSpPr>
        <p:spPr>
          <a:xfrm>
            <a:off x="502920" y="4096512"/>
            <a:ext cx="2538374" cy="420624"/>
          </a:xfrm>
          <a:prstGeom prst="rect">
            <a:avLst/>
          </a:prstGeom>
          <a:noFill/>
          <a:ln/>
        </p:spPr>
        <p:txBody>
          <a:bodyPr wrap="square" lIns="0" tIns="0" rIns="0" bIns="0" rtlCol="0" anchor="ctr"/>
          <a:lstStyle/>
          <a:p>
            <a:pPr algn="ctr" indent="0" marL="0">
              <a:buNone/>
            </a:pPr>
            <a:r>
              <a:rPr lang="en-US" sz="1050" b="1" dirty="0">
                <a:solidFill>
                  <a:srgbClr val="FFFFFF"/>
                </a:solidFill>
                <a:latin typeface="Calibri" pitchFamily="34" charset="0"/>
                <a:ea typeface="Calibri" pitchFamily="34" charset="-122"/>
                <a:cs typeface="Calibri" pitchFamily="34" charset="-120"/>
              </a:rPr>
              <a:t>Vertex AI · ADK · Cloud Run</a:t>
            </a:r>
            <a:endParaRPr lang="en-US" sz="1050" dirty="0"/>
          </a:p>
        </p:txBody>
      </p:sp>
      <p:sp>
        <p:nvSpPr>
          <p:cNvPr id="19" name="Text 16"/>
          <p:cNvSpPr/>
          <p:nvPr/>
        </p:nvSpPr>
        <p:spPr>
          <a:xfrm>
            <a:off x="502920" y="4709160"/>
            <a:ext cx="10789920" cy="548640"/>
          </a:xfrm>
          <a:prstGeom prst="rect">
            <a:avLst/>
          </a:prstGeom>
          <a:noFill/>
          <a:ln/>
        </p:spPr>
        <p:txBody>
          <a:bodyPr wrap="square" lIns="0" tIns="0" rIns="0" bIns="0" rtlCol="0" anchor="ctr"/>
          <a:lstStyle/>
          <a:p>
            <a:pPr indent="0" marL="0">
              <a:buNone/>
            </a:pPr>
            <a:r>
              <a:rPr lang="en-US" sz="2400" b="1" dirty="0">
                <a:solidFill>
                  <a:srgbClr val="FCA5C0"/>
                </a:solidFill>
                <a:latin typeface="Georgia" pitchFamily="34" charset="0"/>
                <a:ea typeface="Georgia" pitchFamily="34" charset="-122"/>
                <a:cs typeface="Georgia" pitchFamily="34" charset="-120"/>
              </a:rPr>
              <a:t>Thank you — let's discuss.</a:t>
            </a:r>
            <a:endParaRPr lang="en-US" sz="2400" dirty="0"/>
          </a:p>
        </p:txBody>
      </p:sp>
      <p:sp>
        <p:nvSpPr>
          <p:cNvPr id="20" name="Text 17"/>
          <p:cNvSpPr/>
          <p:nvPr/>
        </p:nvSpPr>
        <p:spPr>
          <a:xfrm>
            <a:off x="502920" y="5349240"/>
            <a:ext cx="10789920" cy="640080"/>
          </a:xfrm>
          <a:prstGeom prst="rect">
            <a:avLst/>
          </a:prstGeom>
          <a:noFill/>
          <a:ln/>
        </p:spPr>
        <p:txBody>
          <a:bodyPr wrap="square" lIns="0" tIns="0" rIns="0" bIns="0" rtlCol="0" anchor="ctr"/>
          <a:lstStyle/>
          <a:p>
            <a:pPr indent="0" marL="0">
              <a:buNone/>
            </a:pPr>
            <a:r>
              <a:rPr lang="en-US" sz="1300" dirty="0">
                <a:solidFill>
                  <a:srgbClr val="D7D3EC"/>
                </a:solidFill>
                <a:latin typeface="Calibri" pitchFamily="34" charset="0"/>
                <a:ea typeface="Calibri" pitchFamily="34" charset="-122"/>
                <a:cs typeface="Calibri" pitchFamily="34" charset="-120"/>
              </a:rPr>
              <a:t>Happy to go deep on: sub-agent routing &amp; context · multilingual &amp; multichannel scale · the transactional gate · loop prevention · CCAI &amp; production integration.</a:t>
            </a:r>
            <a:endParaRPr lang="en-US" sz="1300" dirty="0"/>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GOOPHER — Unified Conversational Retail Agent</dc:title>
  <dc:subject>PptxGenJS Presentation</dc:subject>
  <dc:creator>GOOPHER — Applied AI CE Practice</dc:creator>
  <cp:lastModifiedBy>GOOPHER — Applied AI CE Practice</cp:lastModifiedBy>
  <cp:revision>1</cp:revision>
  <dcterms:created xsi:type="dcterms:W3CDTF">2026-06-05T18:13:49Z</dcterms:created>
  <dcterms:modified xsi:type="dcterms:W3CDTF">2026-06-05T18:13:49Z</dcterms:modified>
</cp:coreProperties>
</file>