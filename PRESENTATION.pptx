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(60s). 'Thanks for the time. I'm the Applied-AI practice specialist you brought in to unblock this engagement. Today I'll walk the technical design AND show a working prototype — GOOPHER — live in this Chrome extension, running on Google Cloud. I'll address the domain expert on the architecture and the VP of Strategy on the business value, and leave plenty of room for questions. Everything you'll see is real and deployed — not slideware.'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unblocker (2 min). 'The retailer wants modern self-service for order management and support — over chat and voice — for a global base. The blocker isn't 'add a chatbot.' It's four things at once: it must ACT on live inventory/orders, ROUTE to specialists while keeping context, speak EVERY channel &amp; modality in the customer's language, and do all that while keeping money-moving actions safe and auditable. No off-the-shelf box does all four — that's why they engaged a specialist to build a custom agent architecture. That architecture is GOOPHER.'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in one breath (90s). 'GOOPHER is a unified conversational agent built on Google's Agent Development Kit and Gemini 2.5 Flash on Vertex AI. It hits all four extension requirements TODAY: real sub-agents with shared context, multilingual, multichannel, and multimodal — including a camera 'see-it-shop-it' flow. And it's not just talk: backend tools hit a mock retail database for live inventory and order status, and place real orders through a safe gate. I'll show each of these live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(3 min — the centerpiece for the technical stakeholder). 'Top lane: the Chrome extension talks over HTTPS+JWT to FastAPI on Cloud Run, which runs a real ADK orchestrator on Gemini 2.5 Flash via Vertex AI. Before the LLM, deterministic Python handles modality/language/channel/memory — fast, free, reliable. The orchestrator delegates to four worker sub-agents using the agent-as-tool pattern; each picks a skill from a registry and calls in-process tools that hit the mock retail DB in Firestore. Crucially, checkout is a DETERMINISTIC transactional gate, and a self-healing Guardian plus Cloud Trace and a live /dev portal make the whole thing observable. The one line to remember: the LLM orchestrates and converses; deterministic code transacts.' (Open /dev here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(8–10 min — the hands-on score). Drive the extension; narrate intent before each click. 1) Type 'do you have oreos?' then 'place an order of oreo cookies' → show the cart + 'please confirm' → Confirm → staged receipt. Stress: no substitution, confirm before charge. 2) Camera: show the soccer ball, ask price, then 'place an order' → confirm. Gemini Vision on Vertex recognizes + prices + acts. 3) Open /dev: point at the live pipeline (harness → orchestrator → worker → skill → tool → memory). Switch language/voice to show context carried. 4) Finale: /dev Guardian → Kill Vertex → watch DETECT→DIAGNOSE→REMEDIATE→VERIFY → Restore all. If anything is slow (cold start), narrate it as graceful degradation and pivot to the Guardian — it always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the exact requirements (2 min). 'The prompt named four things to be extensible to — we built all four in. Sub-agents with shared context via one session store on Firestore. Multilingual, carried across turns. Multichannel — web plus a phone simulator, with a clean path to CCAI. And multimodal — text, voice, files, and camera vision. This slide is your checklist; I can go deep on any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Defend the design (3 min — the technical-acumen score). For each: name the choice, the alternative, and WHY. The headline trade-off is the deterministic gate — we deliberately keep the LLM OUT of executing payments. Agent-as-tool prevents loops structurally. We didn't force deterministic work into agents. We use native function-calling for reliability and reserve explicit ReAct for the one read-only advisor. One Gemini model on Vertex keeps ops and latency down. And graceful fallback + self-healing means we degrade, not fail. Invite the expert to push on any row — this is where the conversation gets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&amp; trust (2 min — pre-empts the 'is it safe?' question). 'For a retailer, an agent that touches orders has to be trustworthy. GOOPHER never substitutes, always confirms before charging, can't loop by construction, keeps durable shared state, self-heals, and is fully observable. These aren't promises — most are visible live in the /dev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value (2–3 min — speak to the VP of Strategy). 'Translate the tech into outcomes: 24/7 self-service across every channel and language; deflection of routine contacts (industry sees 60–80%); near-zero idle cost because it scales to zero; and one agent replacing three hand-offs. The growth levers: higher conversion &amp; basket size from natural discovery and see-it-shop-it; instant global reach without rebuilding per market; lower cost to serve; and brand-safe automation. I'm flagging the numbers as illustrative benchmarks — in a pilot we'd instrument the real deflection, conversion and CSAT.'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Google Cloud (90s — the CE angle). 'Every block of this design is a Google Cloud strength: Gemini on Vertex gives us one multimodal model under managed security and quota; ADK gives first-class multi-agent orchestration and tracing; Cloud Run is serverless and scales to zero; Firestore gives durable shared state; Cloud Trace makes it debuggable; and there's a clean path to CCAI and Vertex Translation. The prototype isn't bolted onto the cloud — it's native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(90s). 'The prototype already solves the hard parts — the safety gate, shared context, and multimodal. So production is a low-risk ramp: Pilot adds real auth, Secret Manager, hardening, and instrumentation. Integrate connects live OMS/payments and CCAI telephony plus Vertex Translation. Scale is multi-region, evals in CI, and more sub-agents. Each phase is integration and hardening — not re-architecture.'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Q&amp;A (30s, then open the floor). 'To recap: one agent across every channel, language and modality; safe to transact because deterministic code does the transacting; and it heals itself. It directly unblocks the engagement and it's native to Google Cloud. I'd love your questions — and I can pull up the live extension or the /dev portal to answer any of them.' Keep QUESTION-ANSWER.md open for crisp answers + where-to-point.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8.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2.png"/><Relationship Id="rId5" Type="http://schemas.openxmlformats.org/officeDocument/2006/relationships/image" Target="../media/image-11-5.png"/><Relationship Id="rId6" Type="http://schemas.openxmlformats.org/officeDocument/2006/relationships/image" Target="../media/image-11-2.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2"/>
          <a:stretch>
            <a:fillRect/>
          </a:stretch>
        </p:blipFill>
        <p:spPr>
          <a:xfrm>
            <a:off x="502920" y="566928"/>
            <a:ext cx="822960" cy="822960"/>
          </a:xfrm>
          <a:prstGeom prst="rect">
            <a:avLst/>
          </a:prstGeom>
        </p:spPr>
      </p:pic>
      <p:sp>
        <p:nvSpPr>
          <p:cNvPr id="3" name="Text 0"/>
          <p:cNvSpPr/>
          <p:nvPr/>
        </p:nvSpPr>
        <p:spPr>
          <a:xfrm>
            <a:off x="1463040" y="566928"/>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GOOPHER</a:t>
            </a:r>
            <a:endParaRPr lang="en-US" sz="2200" dirty="0"/>
          </a:p>
        </p:txBody>
      </p:sp>
      <p:sp>
        <p:nvSpPr>
          <p:cNvPr id="4" name="Text 1"/>
          <p:cNvSpPr/>
          <p:nvPr/>
        </p:nvSpPr>
        <p:spPr>
          <a:xfrm>
            <a:off x="1472184" y="987552"/>
            <a:ext cx="7315200" cy="365760"/>
          </a:xfrm>
          <a:prstGeom prst="rect">
            <a:avLst/>
          </a:prstGeom>
          <a:noFill/>
          <a:ln/>
        </p:spPr>
        <p:txBody>
          <a:bodyPr wrap="square" lIns="0" tIns="0" rIns="0" bIns="0" rtlCol="0" anchor="ctr"/>
          <a:lstStyle/>
          <a:p>
            <a:pPr indent="0" marL="0">
              <a:buNone/>
            </a:pPr>
            <a:r>
              <a:rPr lang="en-US" sz="1250" dirty="0">
                <a:solidFill>
                  <a:srgbClr val="C9C2E8"/>
                </a:solidFill>
                <a:latin typeface="Calibri" pitchFamily="34" charset="0"/>
                <a:ea typeface="Calibri" pitchFamily="34" charset="-122"/>
                <a:cs typeface="Calibri" pitchFamily="34" charset="-120"/>
              </a:rPr>
              <a:t>Applied AI · Practice Customer Engineer</a:t>
            </a:r>
            <a:endParaRPr lang="en-US" sz="1250" dirty="0"/>
          </a:p>
        </p:txBody>
      </p:sp>
      <p:sp>
        <p:nvSpPr>
          <p:cNvPr id="5" name="Text 2"/>
          <p:cNvSpPr/>
          <p:nvPr/>
        </p:nvSpPr>
        <p:spPr>
          <a:xfrm>
            <a:off x="502920" y="2331720"/>
            <a:ext cx="10607040" cy="82296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The unified conversational retail agent</a:t>
            </a:r>
            <a:endParaRPr lang="en-US" sz="4200" dirty="0"/>
          </a:p>
        </p:txBody>
      </p:sp>
      <p:sp>
        <p:nvSpPr>
          <p:cNvPr id="6" name="Text 3"/>
          <p:cNvSpPr/>
          <p:nvPr/>
        </p:nvSpPr>
        <p:spPr>
          <a:xfrm>
            <a:off x="502920" y="3246120"/>
            <a:ext cx="10789920" cy="457200"/>
          </a:xfrm>
          <a:prstGeom prst="rect">
            <a:avLst/>
          </a:prstGeom>
          <a:noFill/>
          <a:ln/>
        </p:spPr>
        <p:txBody>
          <a:bodyPr wrap="square" lIns="0" tIns="0" rIns="0" bIns="0" rtlCol="0" anchor="ctr"/>
          <a:lstStyle/>
          <a:p>
            <a:pPr indent="0" marL="0">
              <a:buNone/>
            </a:pPr>
            <a:r>
              <a:rPr lang="en-US" sz="1700" b="1" dirty="0">
                <a:solidFill>
                  <a:srgbClr val="FCA5C0"/>
                </a:solidFill>
                <a:latin typeface="Calibri" pitchFamily="34" charset="0"/>
                <a:ea typeface="Calibri" pitchFamily="34" charset="-122"/>
                <a:cs typeface="Calibri" pitchFamily="34" charset="-120"/>
              </a:rPr>
              <a:t>Type it · say it · show it</a:t>
            </a:r>
            <a:pPr indent="0" marL="0">
              <a:buNone/>
            </a:pPr>
            <a:r>
              <a:rPr lang="en-US" sz="1700" dirty="0">
                <a:solidFill>
                  <a:srgbClr val="D7D3EC"/>
                </a:solidFill>
                <a:latin typeface="Calibri" pitchFamily="34" charset="0"/>
                <a:ea typeface="Calibri" pitchFamily="34" charset="-122"/>
                <a:cs typeface="Calibri" pitchFamily="34" charset="-120"/>
              </a:rPr>
              <a:t>  —  one agent that sees, talks, reasons, and transacts safely.</a:t>
            </a:r>
            <a:endParaRPr lang="en-US" sz="1700" dirty="0"/>
          </a:p>
        </p:txBody>
      </p:sp>
      <p:sp>
        <p:nvSpPr>
          <p:cNvPr id="7" name="Shape 4"/>
          <p:cNvSpPr/>
          <p:nvPr/>
        </p:nvSpPr>
        <p:spPr>
          <a:xfrm>
            <a:off x="502920" y="4069080"/>
            <a:ext cx="1960474" cy="402336"/>
          </a:xfrm>
          <a:prstGeom prst="roundRect">
            <a:avLst>
              <a:gd name="adj" fmla="val 50000"/>
            </a:avLst>
          </a:prstGeom>
          <a:solidFill>
            <a:srgbClr val="FFFFFF">
              <a:alpha val="12000"/>
            </a:srgbClr>
          </a:solidFill>
          <a:ln w="12700">
            <a:solidFill>
              <a:srgbClr val="7C3AED"/>
            </a:solidFill>
            <a:prstDash val="solid"/>
          </a:ln>
        </p:spPr>
      </p:sp>
      <p:sp>
        <p:nvSpPr>
          <p:cNvPr id="8" name="Text 5"/>
          <p:cNvSpPr/>
          <p:nvPr/>
        </p:nvSpPr>
        <p:spPr>
          <a:xfrm>
            <a:off x="502920" y="4069080"/>
            <a:ext cx="1960474"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Google ADK multi-agent</a:t>
            </a:r>
            <a:endParaRPr lang="en-US" sz="1100" dirty="0"/>
          </a:p>
        </p:txBody>
      </p:sp>
      <p:sp>
        <p:nvSpPr>
          <p:cNvPr id="9" name="Shape 6"/>
          <p:cNvSpPr/>
          <p:nvPr/>
        </p:nvSpPr>
        <p:spPr>
          <a:xfrm>
            <a:off x="2627986" y="4069080"/>
            <a:ext cx="2410358" cy="402336"/>
          </a:xfrm>
          <a:prstGeom prst="roundRect">
            <a:avLst>
              <a:gd name="adj" fmla="val 50000"/>
            </a:avLst>
          </a:prstGeom>
          <a:solidFill>
            <a:srgbClr val="FFFFFF">
              <a:alpha val="12000"/>
            </a:srgbClr>
          </a:solidFill>
          <a:ln w="12700">
            <a:solidFill>
              <a:srgbClr val="E11D48"/>
            </a:solidFill>
            <a:prstDash val="solid"/>
          </a:ln>
        </p:spPr>
      </p:sp>
      <p:sp>
        <p:nvSpPr>
          <p:cNvPr id="10" name="Text 7"/>
          <p:cNvSpPr/>
          <p:nvPr/>
        </p:nvSpPr>
        <p:spPr>
          <a:xfrm>
            <a:off x="2627986" y="4069080"/>
            <a:ext cx="2410358"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Gemini 2.5 Flash · Vertex AI</a:t>
            </a:r>
            <a:endParaRPr lang="en-US" sz="1100" dirty="0"/>
          </a:p>
        </p:txBody>
      </p:sp>
      <p:sp>
        <p:nvSpPr>
          <p:cNvPr id="11" name="Shape 8"/>
          <p:cNvSpPr/>
          <p:nvPr/>
        </p:nvSpPr>
        <p:spPr>
          <a:xfrm>
            <a:off x="5202936" y="4069080"/>
            <a:ext cx="1885493" cy="402336"/>
          </a:xfrm>
          <a:prstGeom prst="roundRect">
            <a:avLst>
              <a:gd name="adj" fmla="val 50000"/>
            </a:avLst>
          </a:prstGeom>
          <a:solidFill>
            <a:srgbClr val="FFFFFF">
              <a:alpha val="12000"/>
            </a:srgbClr>
          </a:solidFill>
          <a:ln w="12700">
            <a:solidFill>
              <a:srgbClr val="0D9488"/>
            </a:solidFill>
            <a:prstDash val="solid"/>
          </a:ln>
        </p:spPr>
      </p:sp>
      <p:sp>
        <p:nvSpPr>
          <p:cNvPr id="12" name="Text 9"/>
          <p:cNvSpPr/>
          <p:nvPr/>
        </p:nvSpPr>
        <p:spPr>
          <a:xfrm>
            <a:off x="5202936" y="4069080"/>
            <a:ext cx="1885493"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Cloud Run · Firestore</a:t>
            </a:r>
            <a:endParaRPr lang="en-US" sz="1100" dirty="0"/>
          </a:p>
        </p:txBody>
      </p:sp>
      <p:sp>
        <p:nvSpPr>
          <p:cNvPr id="13" name="Shape 10"/>
          <p:cNvSpPr/>
          <p:nvPr/>
        </p:nvSpPr>
        <p:spPr>
          <a:xfrm>
            <a:off x="7253021" y="4069080"/>
            <a:ext cx="3310128" cy="402336"/>
          </a:xfrm>
          <a:prstGeom prst="roundRect">
            <a:avLst>
              <a:gd name="adj" fmla="val 50000"/>
            </a:avLst>
          </a:prstGeom>
          <a:solidFill>
            <a:srgbClr val="FFFFFF">
              <a:alpha val="12000"/>
            </a:srgbClr>
          </a:solidFill>
          <a:ln w="12700">
            <a:solidFill>
              <a:srgbClr val="2563EB"/>
            </a:solidFill>
            <a:prstDash val="solid"/>
          </a:ln>
        </p:spPr>
      </p:sp>
      <p:sp>
        <p:nvSpPr>
          <p:cNvPr id="14" name="Text 11"/>
          <p:cNvSpPr/>
          <p:nvPr/>
        </p:nvSpPr>
        <p:spPr>
          <a:xfrm>
            <a:off x="7253021" y="4069080"/>
            <a:ext cx="3310128"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Multimodal · multilingual · multichannel</a:t>
            </a:r>
            <a:endParaRPr lang="en-US" sz="1100" dirty="0"/>
          </a:p>
        </p:txBody>
      </p:sp>
      <p:sp>
        <p:nvSpPr>
          <p:cNvPr id="15" name="Text 12"/>
          <p:cNvSpPr/>
          <p:nvPr/>
        </p:nvSpPr>
        <p:spPr>
          <a:xfrm>
            <a:off x="502920" y="5806440"/>
            <a:ext cx="1097280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Presented to:  </a:t>
            </a:r>
            <a:pPr indent="0" marL="0">
              <a:buNone/>
            </a:pPr>
            <a:r>
              <a:rPr lang="en-US" sz="1250" dirty="0">
                <a:solidFill>
                  <a:srgbClr val="C9C2E8"/>
                </a:solidFill>
                <a:latin typeface="Calibri" pitchFamily="34" charset="0"/>
                <a:ea typeface="Calibri" pitchFamily="34" charset="-122"/>
                <a:cs typeface="Calibri" pitchFamily="34" charset="-120"/>
              </a:rPr>
              <a:t>Domain Expert (Technical Stakeholder)  ·  VP of Strategy (Business Stakeholder)</a:t>
            </a:r>
            <a:endParaRPr lang="en-US" sz="1250" dirty="0"/>
          </a:p>
        </p:txBody>
      </p:sp>
      <p:sp>
        <p:nvSpPr>
          <p:cNvPr id="16" name="Text 13"/>
          <p:cNvSpPr/>
          <p:nvPr/>
        </p:nvSpPr>
        <p:spPr>
          <a:xfrm>
            <a:off x="502920" y="6163056"/>
            <a:ext cx="10972800" cy="320040"/>
          </a:xfrm>
          <a:prstGeom prst="rect">
            <a:avLst/>
          </a:prstGeom>
          <a:noFill/>
          <a:ln/>
        </p:spPr>
        <p:txBody>
          <a:bodyPr wrap="square" lIns="0" tIns="0" rIns="0" bIns="0" rtlCol="0" anchor="ctr"/>
          <a:lstStyle/>
          <a:p>
            <a:pPr indent="0" marL="0">
              <a:buNone/>
            </a:pPr>
            <a:r>
              <a:rPr lang="en-US" sz="1100" i="1" dirty="0">
                <a:solidFill>
                  <a:srgbClr val="8E87B0"/>
                </a:solidFill>
                <a:latin typeface="Calibri" pitchFamily="34" charset="0"/>
                <a:ea typeface="Calibri" pitchFamily="34" charset="-122"/>
                <a:cs typeface="Calibri" pitchFamily="34" charset="-120"/>
              </a:rPr>
              <a:t>Live prototype — demonstrated in the GOOPHER Chrome side-panel extension, running on Google Cloud.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E11D48"/>
                </a:solidFill>
                <a:latin typeface="Calibri" pitchFamily="34" charset="0"/>
                <a:ea typeface="Calibri" pitchFamily="34" charset="-122"/>
                <a:cs typeface="Calibri" pitchFamily="34" charset="-120"/>
              </a:rPr>
              <a:t>THE SPECIALIZED CHALLENGE — THE “UNBLOCKER”</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A global retailer is blocked: self-service that can actually transact</a:t>
            </a:r>
            <a:endParaRPr lang="en-US" sz="2800" dirty="0"/>
          </a:p>
        </p:txBody>
      </p:sp>
      <p:sp>
        <p:nvSpPr>
          <p:cNvPr id="4" name="Shape 2"/>
          <p:cNvSpPr/>
          <p:nvPr/>
        </p:nvSpPr>
        <p:spPr>
          <a:xfrm>
            <a:off x="502920" y="1783080"/>
            <a:ext cx="5440680" cy="4114800"/>
          </a:xfrm>
          <a:prstGeom prst="roundRect">
            <a:avLst>
              <a:gd name="adj" fmla="val 2000"/>
            </a:avLst>
          </a:prstGeom>
          <a:solidFill>
            <a:srgbClr val="0A0E1F"/>
          </a:solidFill>
          <a:ln/>
          <a:effectLst>
            <a:outerShdw sx="100000" sy="100000" kx="0" ky="0" algn="bl" rotWithShape="0" blurRad="114300" dist="38100" dir="8100000">
              <a:srgbClr val="0F172A">
                <a:alpha val="16000"/>
              </a:srgbClr>
            </a:outerShdw>
          </a:effectLst>
        </p:spPr>
      </p:sp>
      <p:sp>
        <p:nvSpPr>
          <p:cNvPr id="5" name="Text 3"/>
          <p:cNvSpPr/>
          <p:nvPr/>
        </p:nvSpPr>
        <p:spPr>
          <a:xfrm>
            <a:off x="795528" y="2011680"/>
            <a:ext cx="4846320" cy="274320"/>
          </a:xfrm>
          <a:prstGeom prst="rect">
            <a:avLst/>
          </a:prstGeom>
          <a:noFill/>
          <a:ln/>
        </p:spPr>
        <p:txBody>
          <a:bodyPr wrap="square" lIns="0" tIns="0" rIns="0" bIns="0" rtlCol="0" anchor="ctr"/>
          <a:lstStyle/>
          <a:p>
            <a:pPr indent="0" marL="0">
              <a:buNone/>
            </a:pPr>
            <a:r>
              <a:rPr lang="en-US" sz="1150" b="1" spc="200" kern="0" dirty="0">
                <a:solidFill>
                  <a:srgbClr val="FCA5C0"/>
                </a:solidFill>
                <a:latin typeface="Calibri" pitchFamily="34" charset="0"/>
                <a:ea typeface="Calibri" pitchFamily="34" charset="-122"/>
                <a:cs typeface="Calibri" pitchFamily="34" charset="-120"/>
              </a:rPr>
              <a:t>THE CUSTOMER'S PROBLEM</a:t>
            </a:r>
            <a:endParaRPr lang="en-US" sz="1150" dirty="0"/>
          </a:p>
        </p:txBody>
      </p:sp>
      <p:sp>
        <p:nvSpPr>
          <p:cNvPr id="6" name="Text 4"/>
          <p:cNvSpPr/>
          <p:nvPr/>
        </p:nvSpPr>
        <p:spPr>
          <a:xfrm>
            <a:off x="795528" y="2395728"/>
            <a:ext cx="4892040" cy="2011680"/>
          </a:xfrm>
          <a:prstGeom prst="rect">
            <a:avLst/>
          </a:prstGeom>
          <a:noFill/>
          <a:ln/>
        </p:spPr>
        <p:txBody>
          <a:bodyPr wrap="square" lIns="0" tIns="0" rIns="0" bIns="0" rtlCol="0" anchor="ct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High-volume order management &amp; product support</a:t>
            </a:r>
            <a:endParaRPr lang="en-US" sz="1500" dirty="0"/>
          </a:p>
          <a:p>
            <a:pPr indent="0" marL="0">
              <a:spcAft>
                <a:spcPts val="1400"/>
              </a:spcAft>
              <a:buNone/>
            </a:pPr>
            <a:r>
              <a:rPr lang="en-US" sz="1500" dirty="0">
                <a:solidFill>
                  <a:srgbClr val="D7D3EC"/>
                </a:solidFill>
                <a:latin typeface="Calibri" pitchFamily="34" charset="0"/>
                <a:ea typeface="Calibri" pitchFamily="34" charset="-122"/>
                <a:cs typeface="Calibri" pitchFamily="34" charset="-120"/>
              </a:rPr>
              <a:t>via chat AND voice — for a diverse, global base.</a:t>
            </a:r>
            <a:endParaRPr lang="en-US" sz="1500" dirty="0"/>
          </a:p>
          <a:p>
            <a:pPr indent="0" marL="0">
              <a:buNone/>
            </a:pPr>
            <a:r>
              <a:rPr lang="en-US" sz="1500" dirty="0">
                <a:solidFill>
                  <a:srgbClr val="D7D3EC"/>
                </a:solidFill>
                <a:latin typeface="Calibri" pitchFamily="34" charset="0"/>
                <a:ea typeface="Calibri" pitchFamily="34" charset="-122"/>
                <a:cs typeface="Calibri" pitchFamily="34" charset="-120"/>
              </a:rPr>
              <a:t>They need consistent, context-aware routing and natural conversational flows — </a:t>
            </a:r>
            <a:pPr indent="0" marL="0">
              <a:buNone/>
            </a:pPr>
            <a:r>
              <a:rPr lang="en-US" sz="1500" b="1" dirty="0">
                <a:solidFill>
                  <a:srgbClr val="FFFFFF"/>
                </a:solidFill>
                <a:latin typeface="Calibri" pitchFamily="34" charset="0"/>
                <a:ea typeface="Calibri" pitchFamily="34" charset="-122"/>
                <a:cs typeface="Calibri" pitchFamily="34" charset="-120"/>
              </a:rPr>
              <a:t>and the agent must take real action against live inventory &amp; orders, not just chat.</a:t>
            </a:r>
            <a:endParaRPr lang="en-US" sz="1500" dirty="0"/>
          </a:p>
        </p:txBody>
      </p:sp>
      <p:sp>
        <p:nvSpPr>
          <p:cNvPr id="7" name="Text 5"/>
          <p:cNvSpPr/>
          <p:nvPr/>
        </p:nvSpPr>
        <p:spPr>
          <a:xfrm>
            <a:off x="795528" y="4709160"/>
            <a:ext cx="4892040" cy="1005840"/>
          </a:xfrm>
          <a:prstGeom prst="rect">
            <a:avLst/>
          </a:prstGeom>
          <a:noFill/>
          <a:ln/>
        </p:spPr>
        <p:txBody>
          <a:bodyPr wrap="square" lIns="0" tIns="0" rIns="0" bIns="0" rtlCol="0" anchor="ctr"/>
          <a:lstStyle/>
          <a:p>
            <a:pPr indent="0" marL="0">
              <a:buNone/>
            </a:pPr>
            <a:r>
              <a:rPr lang="en-US" sz="1150" i="1" dirty="0">
                <a:solidFill>
                  <a:srgbClr val="B9B2D8"/>
                </a:solidFill>
                <a:latin typeface="Calibri" pitchFamily="34" charset="0"/>
                <a:ea typeface="Calibri" pitchFamily="34" charset="-122"/>
                <a:cs typeface="Calibri" pitchFamily="34" charset="-120"/>
              </a:rPr>
              <a:t>Required deliverable: a unified conversational agent with backend tools on a mock retail DB (real-time inventory / order status), extensible to sub-agents+context, multilingual, multichannel, multimodal.</a:t>
            </a:r>
            <a:endParaRPr lang="en-US" sz="1150" dirty="0"/>
          </a:p>
        </p:txBody>
      </p:sp>
      <p:sp>
        <p:nvSpPr>
          <p:cNvPr id="8" name="Text 6"/>
          <p:cNvSpPr/>
          <p:nvPr/>
        </p:nvSpPr>
        <p:spPr>
          <a:xfrm>
            <a:off x="6263640" y="1783080"/>
            <a:ext cx="548640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Why an off-the-shelf chatbot is impossible here</a:t>
            </a:r>
            <a:endParaRPr lang="en-US" sz="1500" dirty="0"/>
          </a:p>
        </p:txBody>
      </p:sp>
      <p:sp>
        <p:nvSpPr>
          <p:cNvPr id="9" name="Shape 7"/>
          <p:cNvSpPr/>
          <p:nvPr/>
        </p:nvSpPr>
        <p:spPr>
          <a:xfrm>
            <a:off x="6263640" y="2240280"/>
            <a:ext cx="5440680" cy="896112"/>
          </a:xfrm>
          <a:prstGeom prst="roundRect">
            <a:avLst>
              <a:gd name="adj" fmla="val 918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0" name="Shape 8"/>
          <p:cNvSpPr/>
          <p:nvPr/>
        </p:nvSpPr>
        <p:spPr>
          <a:xfrm>
            <a:off x="6483096" y="2432304"/>
            <a:ext cx="512064" cy="512064"/>
          </a:xfrm>
          <a:prstGeom prst="roundRect">
            <a:avLst>
              <a:gd name="adj" fmla="val 19643"/>
            </a:avLst>
          </a:prstGeom>
          <a:solidFill>
            <a:srgbClr val="E11D48"/>
          </a:solidFill>
          <a:ln/>
        </p:spPr>
      </p:sp>
      <p:pic>
        <p:nvPicPr>
          <p:cNvPr id="11" name="Image 0" descr="icons/ban.png">    </p:cNvPr>
          <p:cNvPicPr>
            <a:picLocks noChangeAspect="1"/>
          </p:cNvPicPr>
          <p:nvPr/>
        </p:nvPicPr>
        <p:blipFill>
          <a:blip r:embed="rId1"/>
          <a:stretch>
            <a:fillRect/>
          </a:stretch>
        </p:blipFill>
        <p:spPr>
          <a:xfrm>
            <a:off x="6601968" y="2551176"/>
            <a:ext cx="274320" cy="274320"/>
          </a:xfrm>
          <a:prstGeom prst="rect">
            <a:avLst/>
          </a:prstGeom>
        </p:spPr>
      </p:pic>
      <p:sp>
        <p:nvSpPr>
          <p:cNvPr id="12" name="Text 9"/>
          <p:cNvSpPr/>
          <p:nvPr/>
        </p:nvSpPr>
        <p:spPr>
          <a:xfrm>
            <a:off x="7132320" y="2386584"/>
            <a:ext cx="443484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Answers, doesn't act</a:t>
            </a:r>
            <a:endParaRPr lang="en-US" sz="1300" dirty="0"/>
          </a:p>
        </p:txBody>
      </p:sp>
      <p:sp>
        <p:nvSpPr>
          <p:cNvPr id="13" name="Text 10"/>
          <p:cNvSpPr/>
          <p:nvPr/>
        </p:nvSpPr>
        <p:spPr>
          <a:xfrm>
            <a:off x="7132320" y="2679192"/>
            <a:ext cx="4434840" cy="384048"/>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FAQ bots can't safely place/track real orders against live inventory.</a:t>
            </a:r>
            <a:endParaRPr lang="en-US" sz="1100" dirty="0"/>
          </a:p>
        </p:txBody>
      </p:sp>
      <p:sp>
        <p:nvSpPr>
          <p:cNvPr id="14" name="Shape 11"/>
          <p:cNvSpPr/>
          <p:nvPr/>
        </p:nvSpPr>
        <p:spPr>
          <a:xfrm>
            <a:off x="6263640" y="3227832"/>
            <a:ext cx="5440680" cy="896112"/>
          </a:xfrm>
          <a:prstGeom prst="roundRect">
            <a:avLst>
              <a:gd name="adj" fmla="val 918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5" name="Shape 12"/>
          <p:cNvSpPr/>
          <p:nvPr/>
        </p:nvSpPr>
        <p:spPr>
          <a:xfrm>
            <a:off x="6483096" y="3419856"/>
            <a:ext cx="512064" cy="512064"/>
          </a:xfrm>
          <a:prstGeom prst="roundRect">
            <a:avLst>
              <a:gd name="adj" fmla="val 19643"/>
            </a:avLst>
          </a:prstGeom>
          <a:solidFill>
            <a:srgbClr val="E11D48"/>
          </a:solidFill>
          <a:ln/>
        </p:spPr>
      </p:sp>
      <p:pic>
        <p:nvPicPr>
          <p:cNvPr id="16" name="Image 1" descr="icons/route.png">    </p:cNvPr>
          <p:cNvPicPr>
            <a:picLocks noChangeAspect="1"/>
          </p:cNvPicPr>
          <p:nvPr/>
        </p:nvPicPr>
        <p:blipFill>
          <a:blip r:embed="rId2"/>
          <a:stretch>
            <a:fillRect/>
          </a:stretch>
        </p:blipFill>
        <p:spPr>
          <a:xfrm>
            <a:off x="6601968" y="3538728"/>
            <a:ext cx="274320" cy="274320"/>
          </a:xfrm>
          <a:prstGeom prst="rect">
            <a:avLst/>
          </a:prstGeom>
        </p:spPr>
      </p:pic>
      <p:sp>
        <p:nvSpPr>
          <p:cNvPr id="17" name="Text 13"/>
          <p:cNvSpPr/>
          <p:nvPr/>
        </p:nvSpPr>
        <p:spPr>
          <a:xfrm>
            <a:off x="7132320" y="3374136"/>
            <a:ext cx="443484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No real routing + memory</a:t>
            </a:r>
            <a:endParaRPr lang="en-US" sz="1300" dirty="0"/>
          </a:p>
        </p:txBody>
      </p:sp>
      <p:sp>
        <p:nvSpPr>
          <p:cNvPr id="18" name="Text 14"/>
          <p:cNvSpPr/>
          <p:nvPr/>
        </p:nvSpPr>
        <p:spPr>
          <a:xfrm>
            <a:off x="7132320" y="3666744"/>
            <a:ext cx="4434840" cy="384048"/>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Can't delegate to specialists and keep context across channel/language switches.</a:t>
            </a:r>
            <a:endParaRPr lang="en-US" sz="1100" dirty="0"/>
          </a:p>
        </p:txBody>
      </p:sp>
      <p:sp>
        <p:nvSpPr>
          <p:cNvPr id="19" name="Shape 15"/>
          <p:cNvSpPr/>
          <p:nvPr/>
        </p:nvSpPr>
        <p:spPr>
          <a:xfrm>
            <a:off x="6263640" y="4215384"/>
            <a:ext cx="5440680" cy="896112"/>
          </a:xfrm>
          <a:prstGeom prst="roundRect">
            <a:avLst>
              <a:gd name="adj" fmla="val 918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0" name="Shape 16"/>
          <p:cNvSpPr/>
          <p:nvPr/>
        </p:nvSpPr>
        <p:spPr>
          <a:xfrm>
            <a:off x="6483096" y="4407408"/>
            <a:ext cx="512064" cy="512064"/>
          </a:xfrm>
          <a:prstGeom prst="roundRect">
            <a:avLst>
              <a:gd name="adj" fmla="val 19643"/>
            </a:avLst>
          </a:prstGeom>
          <a:solidFill>
            <a:srgbClr val="E11D48"/>
          </a:solidFill>
          <a:ln/>
        </p:spPr>
      </p:sp>
      <p:pic>
        <p:nvPicPr>
          <p:cNvPr id="21" name="Image 2" descr="icons/globe.png">    </p:cNvPr>
          <p:cNvPicPr>
            <a:picLocks noChangeAspect="1"/>
          </p:cNvPicPr>
          <p:nvPr/>
        </p:nvPicPr>
        <p:blipFill>
          <a:blip r:embed="rId3"/>
          <a:stretch>
            <a:fillRect/>
          </a:stretch>
        </p:blipFill>
        <p:spPr>
          <a:xfrm>
            <a:off x="6601968" y="4526280"/>
            <a:ext cx="274320" cy="274320"/>
          </a:xfrm>
          <a:prstGeom prst="rect">
            <a:avLst/>
          </a:prstGeom>
        </p:spPr>
      </p:pic>
      <p:sp>
        <p:nvSpPr>
          <p:cNvPr id="22" name="Text 17"/>
          <p:cNvSpPr/>
          <p:nvPr/>
        </p:nvSpPr>
        <p:spPr>
          <a:xfrm>
            <a:off x="7132320" y="4361688"/>
            <a:ext cx="443484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Global base, many modes</a:t>
            </a:r>
            <a:endParaRPr lang="en-US" sz="1300" dirty="0"/>
          </a:p>
        </p:txBody>
      </p:sp>
      <p:sp>
        <p:nvSpPr>
          <p:cNvPr id="23" name="Text 18"/>
          <p:cNvSpPr/>
          <p:nvPr/>
        </p:nvSpPr>
        <p:spPr>
          <a:xfrm>
            <a:off x="7132320" y="4654296"/>
            <a:ext cx="4434840" cy="384048"/>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Needs text, voice, image &amp; camera — in the shopper's language — as one experience.</a:t>
            </a:r>
            <a:endParaRPr lang="en-US" sz="1100" dirty="0"/>
          </a:p>
        </p:txBody>
      </p:sp>
      <p:sp>
        <p:nvSpPr>
          <p:cNvPr id="24" name="Shape 19"/>
          <p:cNvSpPr/>
          <p:nvPr/>
        </p:nvSpPr>
        <p:spPr>
          <a:xfrm>
            <a:off x="6263640" y="5202936"/>
            <a:ext cx="5440680" cy="896112"/>
          </a:xfrm>
          <a:prstGeom prst="roundRect">
            <a:avLst>
              <a:gd name="adj" fmla="val 918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5" name="Shape 20"/>
          <p:cNvSpPr/>
          <p:nvPr/>
        </p:nvSpPr>
        <p:spPr>
          <a:xfrm>
            <a:off x="6483096" y="5394960"/>
            <a:ext cx="512064" cy="512064"/>
          </a:xfrm>
          <a:prstGeom prst="roundRect">
            <a:avLst>
              <a:gd name="adj" fmla="val 19643"/>
            </a:avLst>
          </a:prstGeom>
          <a:solidFill>
            <a:srgbClr val="E11D48"/>
          </a:solidFill>
          <a:ln/>
        </p:spPr>
      </p:sp>
      <p:pic>
        <p:nvPicPr>
          <p:cNvPr id="26" name="Image 3" descr="icons/lock.png">    </p:cNvPr>
          <p:cNvPicPr>
            <a:picLocks noChangeAspect="1"/>
          </p:cNvPicPr>
          <p:nvPr/>
        </p:nvPicPr>
        <p:blipFill>
          <a:blip r:embed="rId4"/>
          <a:stretch>
            <a:fillRect/>
          </a:stretch>
        </p:blipFill>
        <p:spPr>
          <a:xfrm>
            <a:off x="6601968" y="5513832"/>
            <a:ext cx="274320" cy="274320"/>
          </a:xfrm>
          <a:prstGeom prst="rect">
            <a:avLst/>
          </a:prstGeom>
        </p:spPr>
      </p:pic>
      <p:sp>
        <p:nvSpPr>
          <p:cNvPr id="27" name="Text 21"/>
          <p:cNvSpPr/>
          <p:nvPr/>
        </p:nvSpPr>
        <p:spPr>
          <a:xfrm>
            <a:off x="7132320" y="5349240"/>
            <a:ext cx="443484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Trust on transactions</a:t>
            </a:r>
            <a:endParaRPr lang="en-US" sz="1300" dirty="0"/>
          </a:p>
        </p:txBody>
      </p:sp>
      <p:sp>
        <p:nvSpPr>
          <p:cNvPr id="28" name="Text 22"/>
          <p:cNvSpPr/>
          <p:nvPr/>
        </p:nvSpPr>
        <p:spPr>
          <a:xfrm>
            <a:off x="7132320" y="5641848"/>
            <a:ext cx="4434840" cy="384048"/>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A purchase must be deterministic &amp; auditable — never a free-form LLM guess.</a:t>
            </a:r>
            <a:endParaRPr lang="en-US" sz="1100" dirty="0"/>
          </a:p>
        </p:txBody>
      </p:sp>
      <p:sp>
        <p:nvSpPr>
          <p:cNvPr id="29" name="Text 23"/>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30" name="Text 24"/>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THE SOLUTION AT A GLANCE</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GOOPHER — one agent that sees, talks, reasons &amp; transacts</a:t>
            </a:r>
            <a:endParaRPr lang="en-US" sz="2800" dirty="0"/>
          </a:p>
        </p:txBody>
      </p:sp>
      <p:sp>
        <p:nvSpPr>
          <p:cNvPr id="4" name="Text 2"/>
          <p:cNvSpPr/>
          <p:nvPr/>
        </p:nvSpPr>
        <p:spPr>
          <a:xfrm>
            <a:off x="502920" y="1591056"/>
            <a:ext cx="11185855" cy="457200"/>
          </a:xfrm>
          <a:prstGeom prst="rect">
            <a:avLst/>
          </a:prstGeom>
          <a:noFill/>
          <a:ln/>
        </p:spPr>
        <p:txBody>
          <a:bodyPr wrap="square" lIns="0" tIns="0" rIns="0" bIns="0" rtlCol="0" anchor="ctr"/>
          <a:lstStyle/>
          <a:p>
            <a:pPr indent="0" marL="0">
              <a:buNone/>
            </a:pPr>
            <a:r>
              <a:rPr lang="en-US" sz="1300" dirty="0">
                <a:solidFill>
                  <a:srgbClr val="5B6577"/>
                </a:solidFill>
                <a:latin typeface="Calibri" pitchFamily="34" charset="0"/>
                <a:ea typeface="Calibri" pitchFamily="34" charset="-122"/>
                <a:cs typeface="Calibri" pitchFamily="34" charset="-120"/>
              </a:rPr>
              <a:t>A Google ADK multi-agent system on Gemini 2.5 Flash (Vertex AI), with backend tools on a mock retail database for real-time inventory &amp; order status — every hard requirement met today, not 'on the roadmap'.</a:t>
            </a:r>
            <a:endParaRPr lang="en-US" sz="1300" dirty="0"/>
          </a:p>
        </p:txBody>
      </p:sp>
      <p:sp>
        <p:nvSpPr>
          <p:cNvPr id="5" name="Shape 3"/>
          <p:cNvSpPr/>
          <p:nvPr/>
        </p:nvSpPr>
        <p:spPr>
          <a:xfrm>
            <a:off x="502920" y="2148840"/>
            <a:ext cx="2659304" cy="2788920"/>
          </a:xfrm>
          <a:prstGeom prst="roundRect">
            <a:avLst>
              <a:gd name="adj" fmla="val 309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6" name="Shape 4"/>
          <p:cNvSpPr/>
          <p:nvPr/>
        </p:nvSpPr>
        <p:spPr>
          <a:xfrm>
            <a:off x="740664" y="2368296"/>
            <a:ext cx="566928" cy="566928"/>
          </a:xfrm>
          <a:prstGeom prst="roundRect">
            <a:avLst>
              <a:gd name="adj" fmla="val 19355"/>
            </a:avLst>
          </a:prstGeom>
          <a:solidFill>
            <a:srgbClr val="2563EB"/>
          </a:solidFill>
          <a:ln/>
        </p:spPr>
      </p:sp>
      <p:pic>
        <p:nvPicPr>
          <p:cNvPr id="7" name="Image 0" descr="icons/sitemap.png">    </p:cNvPr>
          <p:cNvPicPr>
            <a:picLocks noChangeAspect="1"/>
          </p:cNvPicPr>
          <p:nvPr/>
        </p:nvPicPr>
        <p:blipFill>
          <a:blip r:embed="rId1"/>
          <a:stretch>
            <a:fillRect/>
          </a:stretch>
        </p:blipFill>
        <p:spPr>
          <a:xfrm>
            <a:off x="877824" y="2505456"/>
            <a:ext cx="292608" cy="292608"/>
          </a:xfrm>
          <a:prstGeom prst="rect">
            <a:avLst/>
          </a:prstGeom>
        </p:spPr>
      </p:pic>
      <p:sp>
        <p:nvSpPr>
          <p:cNvPr id="8" name="Text 5"/>
          <p:cNvSpPr/>
          <p:nvPr/>
        </p:nvSpPr>
        <p:spPr>
          <a:xfrm>
            <a:off x="1490472" y="2350008"/>
            <a:ext cx="1470584" cy="603504"/>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Sub-agents + context</a:t>
            </a:r>
            <a:endParaRPr lang="en-US" sz="1450" dirty="0"/>
          </a:p>
        </p:txBody>
      </p:sp>
      <p:sp>
        <p:nvSpPr>
          <p:cNvPr id="9" name="Text 6"/>
          <p:cNvSpPr/>
          <p:nvPr/>
        </p:nvSpPr>
        <p:spPr>
          <a:xfrm>
            <a:off x="758952" y="3044952"/>
            <a:ext cx="2202104" cy="174650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5B6577"/>
                </a:solidFill>
                <a:latin typeface="Calibri" pitchFamily="34" charset="0"/>
                <a:ea typeface="Calibri" pitchFamily="34" charset="-122"/>
                <a:cs typeface="Calibri" pitchFamily="34" charset="-120"/>
              </a:rPr>
              <a:t>ROOT orchestrator delegates to inventory · order · checkout · fulfillment workers; context kept in one session store.</a:t>
            </a:r>
            <a:endParaRPr lang="en-US" sz="1250" dirty="0"/>
          </a:p>
        </p:txBody>
      </p:sp>
      <p:sp>
        <p:nvSpPr>
          <p:cNvPr id="10" name="Shape 7"/>
          <p:cNvSpPr/>
          <p:nvPr/>
        </p:nvSpPr>
        <p:spPr>
          <a:xfrm>
            <a:off x="3345104" y="2148840"/>
            <a:ext cx="2659304" cy="2788920"/>
          </a:xfrm>
          <a:prstGeom prst="roundRect">
            <a:avLst>
              <a:gd name="adj" fmla="val 309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1" name="Shape 8"/>
          <p:cNvSpPr/>
          <p:nvPr/>
        </p:nvSpPr>
        <p:spPr>
          <a:xfrm>
            <a:off x="3582848" y="2368296"/>
            <a:ext cx="566928" cy="566928"/>
          </a:xfrm>
          <a:prstGeom prst="roundRect">
            <a:avLst>
              <a:gd name="adj" fmla="val 19355"/>
            </a:avLst>
          </a:prstGeom>
          <a:solidFill>
            <a:srgbClr val="7C3AED"/>
          </a:solidFill>
          <a:ln/>
        </p:spPr>
      </p:sp>
      <p:pic>
        <p:nvPicPr>
          <p:cNvPr id="12" name="Image 1" descr="icons/globe.png">    </p:cNvPr>
          <p:cNvPicPr>
            <a:picLocks noChangeAspect="1"/>
          </p:cNvPicPr>
          <p:nvPr/>
        </p:nvPicPr>
        <p:blipFill>
          <a:blip r:embed="rId2"/>
          <a:stretch>
            <a:fillRect/>
          </a:stretch>
        </p:blipFill>
        <p:spPr>
          <a:xfrm>
            <a:off x="3720008" y="2505456"/>
            <a:ext cx="292608" cy="292608"/>
          </a:xfrm>
          <a:prstGeom prst="rect">
            <a:avLst/>
          </a:prstGeom>
        </p:spPr>
      </p:pic>
      <p:sp>
        <p:nvSpPr>
          <p:cNvPr id="13" name="Text 9"/>
          <p:cNvSpPr/>
          <p:nvPr/>
        </p:nvSpPr>
        <p:spPr>
          <a:xfrm>
            <a:off x="4332656" y="2350008"/>
            <a:ext cx="1470584" cy="603504"/>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Multi-lingual</a:t>
            </a:r>
            <a:endParaRPr lang="en-US" sz="1450" dirty="0"/>
          </a:p>
        </p:txBody>
      </p:sp>
      <p:sp>
        <p:nvSpPr>
          <p:cNvPr id="14" name="Text 10"/>
          <p:cNvSpPr/>
          <p:nvPr/>
        </p:nvSpPr>
        <p:spPr>
          <a:xfrm>
            <a:off x="3601136" y="3044952"/>
            <a:ext cx="2202104" cy="174650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5B6577"/>
                </a:solidFill>
                <a:latin typeface="Calibri" pitchFamily="34" charset="0"/>
                <a:ea typeface="Calibri" pitchFamily="34" charset="-122"/>
                <a:cs typeface="Calibri" pitchFamily="34" charset="-120"/>
              </a:rPr>
              <a:t>Language detected per turn and carried across the conversation (e.g. EN ⇄ ES) — same thread, same memory.</a:t>
            </a:r>
            <a:endParaRPr lang="en-US" sz="1250" dirty="0"/>
          </a:p>
        </p:txBody>
      </p:sp>
      <p:sp>
        <p:nvSpPr>
          <p:cNvPr id="15" name="Shape 11"/>
          <p:cNvSpPr/>
          <p:nvPr/>
        </p:nvSpPr>
        <p:spPr>
          <a:xfrm>
            <a:off x="6187288" y="2148840"/>
            <a:ext cx="2659304" cy="2788920"/>
          </a:xfrm>
          <a:prstGeom prst="roundRect">
            <a:avLst>
              <a:gd name="adj" fmla="val 309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6" name="Shape 12"/>
          <p:cNvSpPr/>
          <p:nvPr/>
        </p:nvSpPr>
        <p:spPr>
          <a:xfrm>
            <a:off x="6425032" y="2368296"/>
            <a:ext cx="566928" cy="566928"/>
          </a:xfrm>
          <a:prstGeom prst="roundRect">
            <a:avLst>
              <a:gd name="adj" fmla="val 19355"/>
            </a:avLst>
          </a:prstGeom>
          <a:solidFill>
            <a:srgbClr val="0D9488"/>
          </a:solidFill>
          <a:ln/>
        </p:spPr>
      </p:sp>
      <p:pic>
        <p:nvPicPr>
          <p:cNvPr id="17" name="Image 2" descr="icons/mobile.png">    </p:cNvPr>
          <p:cNvPicPr>
            <a:picLocks noChangeAspect="1"/>
          </p:cNvPicPr>
          <p:nvPr/>
        </p:nvPicPr>
        <p:blipFill>
          <a:blip r:embed="rId3"/>
          <a:stretch>
            <a:fillRect/>
          </a:stretch>
        </p:blipFill>
        <p:spPr>
          <a:xfrm>
            <a:off x="6562192" y="2505456"/>
            <a:ext cx="292608" cy="292608"/>
          </a:xfrm>
          <a:prstGeom prst="rect">
            <a:avLst/>
          </a:prstGeom>
        </p:spPr>
      </p:pic>
      <p:sp>
        <p:nvSpPr>
          <p:cNvPr id="18" name="Text 13"/>
          <p:cNvSpPr/>
          <p:nvPr/>
        </p:nvSpPr>
        <p:spPr>
          <a:xfrm>
            <a:off x="7174840" y="2350008"/>
            <a:ext cx="1470584" cy="603504"/>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Multi-channel</a:t>
            </a:r>
            <a:endParaRPr lang="en-US" sz="1450" dirty="0"/>
          </a:p>
        </p:txBody>
      </p:sp>
      <p:sp>
        <p:nvSpPr>
          <p:cNvPr id="19" name="Text 14"/>
          <p:cNvSpPr/>
          <p:nvPr/>
        </p:nvSpPr>
        <p:spPr>
          <a:xfrm>
            <a:off x="6443320" y="3044952"/>
            <a:ext cx="2202104" cy="174650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5B6577"/>
                </a:solidFill>
                <a:latin typeface="Calibri" pitchFamily="34" charset="0"/>
                <a:ea typeface="Calibri" pitchFamily="34" charset="-122"/>
                <a:cs typeface="Calibri" pitchFamily="34" charset="-120"/>
              </a:rPr>
              <a:t>Web side-panel today + a Phone (voice) channel rendered as a mobile-device simulator — same features.</a:t>
            </a:r>
            <a:endParaRPr lang="en-US" sz="1250" dirty="0"/>
          </a:p>
        </p:txBody>
      </p:sp>
      <p:sp>
        <p:nvSpPr>
          <p:cNvPr id="20" name="Shape 15"/>
          <p:cNvSpPr/>
          <p:nvPr/>
        </p:nvSpPr>
        <p:spPr>
          <a:xfrm>
            <a:off x="9029471" y="2148840"/>
            <a:ext cx="2659304" cy="2788920"/>
          </a:xfrm>
          <a:prstGeom prst="roundRect">
            <a:avLst>
              <a:gd name="adj" fmla="val 309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1" name="Shape 16"/>
          <p:cNvSpPr/>
          <p:nvPr/>
        </p:nvSpPr>
        <p:spPr>
          <a:xfrm>
            <a:off x="9267215" y="2368296"/>
            <a:ext cx="566928" cy="566928"/>
          </a:xfrm>
          <a:prstGeom prst="roundRect">
            <a:avLst>
              <a:gd name="adj" fmla="val 19355"/>
            </a:avLst>
          </a:prstGeom>
          <a:solidFill>
            <a:srgbClr val="E11D48"/>
          </a:solidFill>
          <a:ln/>
        </p:spPr>
      </p:sp>
      <p:pic>
        <p:nvPicPr>
          <p:cNvPr id="22" name="Image 3" descr="icons/layers.png">    </p:cNvPr>
          <p:cNvPicPr>
            <a:picLocks noChangeAspect="1"/>
          </p:cNvPicPr>
          <p:nvPr/>
        </p:nvPicPr>
        <p:blipFill>
          <a:blip r:embed="rId4"/>
          <a:stretch>
            <a:fillRect/>
          </a:stretch>
        </p:blipFill>
        <p:spPr>
          <a:xfrm>
            <a:off x="9404375" y="2505456"/>
            <a:ext cx="292608" cy="292608"/>
          </a:xfrm>
          <a:prstGeom prst="rect">
            <a:avLst/>
          </a:prstGeom>
        </p:spPr>
      </p:pic>
      <p:sp>
        <p:nvSpPr>
          <p:cNvPr id="23" name="Text 17"/>
          <p:cNvSpPr/>
          <p:nvPr/>
        </p:nvSpPr>
        <p:spPr>
          <a:xfrm>
            <a:off x="10017023" y="2350008"/>
            <a:ext cx="1470584" cy="603504"/>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Multi-modal</a:t>
            </a:r>
            <a:endParaRPr lang="en-US" sz="1450" dirty="0"/>
          </a:p>
        </p:txBody>
      </p:sp>
      <p:sp>
        <p:nvSpPr>
          <p:cNvPr id="24" name="Text 18"/>
          <p:cNvSpPr/>
          <p:nvPr/>
        </p:nvSpPr>
        <p:spPr>
          <a:xfrm>
            <a:off x="9285503" y="3044952"/>
            <a:ext cx="2202104" cy="1746504"/>
          </a:xfrm>
          <a:prstGeom prst="rect">
            <a:avLst/>
          </a:prstGeom>
          <a:noFill/>
          <a:ln/>
        </p:spPr>
        <p:txBody>
          <a:bodyPr wrap="square" lIns="0" tIns="0" rIns="0" bIns="0" rtlCol="0" anchor="t"/>
          <a:lstStyle/>
          <a:p>
            <a:pPr marL="152400" indent="-152400">
              <a:spcAft>
                <a:spcPts val="500"/>
              </a:spcAft>
              <a:buSzPct val="100000"/>
              <a:buChar char="•"/>
            </a:pPr>
            <a:r>
              <a:rPr lang="en-US" sz="1250" dirty="0">
                <a:solidFill>
                  <a:srgbClr val="5B6577"/>
                </a:solidFill>
                <a:latin typeface="Calibri" pitchFamily="34" charset="0"/>
                <a:ea typeface="Calibri" pitchFamily="34" charset="-122"/>
                <a:cs typeface="Calibri" pitchFamily="34" charset="-120"/>
              </a:rPr>
              <a:t>Text, voice (speech-to-text + TTS), file upload, AND a camera 'see-it-shop-it' vision agent.</a:t>
            </a:r>
            <a:endParaRPr lang="en-US" sz="1250" dirty="0"/>
          </a:p>
        </p:txBody>
      </p:sp>
      <p:sp>
        <p:nvSpPr>
          <p:cNvPr id="25" name="Shape 19"/>
          <p:cNvSpPr/>
          <p:nvPr/>
        </p:nvSpPr>
        <p:spPr>
          <a:xfrm>
            <a:off x="502920" y="5212080"/>
            <a:ext cx="11185855" cy="868680"/>
          </a:xfrm>
          <a:prstGeom prst="roundRect">
            <a:avLst>
              <a:gd name="adj" fmla="val 9474"/>
            </a:avLst>
          </a:prstGeom>
          <a:solidFill>
            <a:srgbClr val="F5F6FB"/>
          </a:solidFill>
          <a:ln w="12700">
            <a:solidFill>
              <a:srgbClr val="E6E8F0"/>
            </a:solidFill>
            <a:prstDash val="solid"/>
          </a:ln>
        </p:spPr>
      </p:sp>
      <p:pic>
        <p:nvPicPr>
          <p:cNvPr id="26" name="Image 4" descr="icons/db.png">    </p:cNvPr>
          <p:cNvPicPr>
            <a:picLocks noChangeAspect="1"/>
          </p:cNvPicPr>
          <p:nvPr/>
        </p:nvPicPr>
        <p:blipFill>
          <a:blip r:embed="rId5"/>
          <a:stretch>
            <a:fillRect/>
          </a:stretch>
        </p:blipFill>
        <p:spPr>
          <a:xfrm>
            <a:off x="777240" y="5440680"/>
            <a:ext cx="384048" cy="384048"/>
          </a:xfrm>
          <a:prstGeom prst="rect">
            <a:avLst/>
          </a:prstGeom>
        </p:spPr>
      </p:pic>
      <p:sp>
        <p:nvSpPr>
          <p:cNvPr id="27" name="Text 20"/>
          <p:cNvSpPr/>
          <p:nvPr/>
        </p:nvSpPr>
        <p:spPr>
          <a:xfrm>
            <a:off x="1371600" y="5212080"/>
            <a:ext cx="10088575" cy="86868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Backend tools on a mock retail DB:  </a:t>
            </a:r>
            <a:pPr indent="0" marL="0">
              <a:buNone/>
            </a:pPr>
            <a:r>
              <a:rPr lang="en-US" sz="1250" dirty="0">
                <a:solidFill>
                  <a:srgbClr val="5B6577"/>
                </a:solidFill>
                <a:latin typeface="Calibri" pitchFamily="34" charset="0"/>
                <a:ea typeface="Calibri" pitchFamily="34" charset="-122"/>
                <a:cs typeface="Calibri" pitchFamily="34" charset="-120"/>
              </a:rPr>
              <a:t>search_inventory · check_stock · get_product_details · get_order_status · place_order · place_bulk_order · run_fulfillment</a:t>
            </a:r>
            <a:endParaRPr lang="en-US" sz="1250" dirty="0"/>
          </a:p>
        </p:txBody>
      </p:sp>
      <p:sp>
        <p:nvSpPr>
          <p:cNvPr id="28" name="Text 21"/>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29" name="Text 22"/>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TECHNICAL DEEP-DIVE · ARCHITECTURE</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How it works — a real multi-agent system on Google Cloud</a:t>
            </a:r>
            <a:endParaRPr lang="en-US" sz="2800" dirty="0"/>
          </a:p>
        </p:txBody>
      </p:sp>
      <p:sp>
        <p:nvSpPr>
          <p:cNvPr id="4" name="Shape 2"/>
          <p:cNvSpPr/>
          <p:nvPr/>
        </p:nvSpPr>
        <p:spPr>
          <a:xfrm>
            <a:off x="502920" y="1600200"/>
            <a:ext cx="3246120" cy="914400"/>
          </a:xfrm>
          <a:prstGeom prst="roundRect">
            <a:avLst>
              <a:gd name="adj" fmla="val 8000"/>
            </a:avLst>
          </a:prstGeom>
          <a:solidFill>
            <a:srgbClr val="FFFFFF"/>
          </a:solidFill>
          <a:ln w="19050">
            <a:solidFill>
              <a:srgbClr val="7C3AED"/>
            </a:solidFill>
            <a:prstDash val="solid"/>
          </a:ln>
          <a:effectLst>
            <a:outerShdw sx="100000" sy="100000" kx="0" ky="0" algn="bl" rotWithShape="0" blurRad="114300" dist="38100" dir="8100000">
              <a:srgbClr val="0F172A">
                <a:alpha val="16000"/>
              </a:srgbClr>
            </a:outerShdw>
          </a:effectLst>
        </p:spPr>
      </p:sp>
      <p:sp>
        <p:nvSpPr>
          <p:cNvPr id="5" name="Shape 3"/>
          <p:cNvSpPr/>
          <p:nvPr/>
        </p:nvSpPr>
        <p:spPr>
          <a:xfrm>
            <a:off x="649224" y="1828800"/>
            <a:ext cx="457200" cy="457200"/>
          </a:xfrm>
          <a:prstGeom prst="roundRect">
            <a:avLst>
              <a:gd name="adj" fmla="val 20000"/>
            </a:avLst>
          </a:prstGeom>
          <a:solidFill>
            <a:srgbClr val="7C3AED"/>
          </a:solidFill>
          <a:ln/>
        </p:spPr>
      </p:sp>
      <p:pic>
        <p:nvPicPr>
          <p:cNvPr id="6" name="Image 0" descr="icons/comments.png">    </p:cNvPr>
          <p:cNvPicPr>
            <a:picLocks noChangeAspect="1"/>
          </p:cNvPicPr>
          <p:nvPr/>
        </p:nvPicPr>
        <p:blipFill>
          <a:blip r:embed="rId1"/>
          <a:stretch>
            <a:fillRect/>
          </a:stretch>
        </p:blipFill>
        <p:spPr>
          <a:xfrm>
            <a:off x="758952" y="1938528"/>
            <a:ext cx="237744" cy="237744"/>
          </a:xfrm>
          <a:prstGeom prst="rect">
            <a:avLst/>
          </a:prstGeom>
        </p:spPr>
      </p:pic>
      <p:sp>
        <p:nvSpPr>
          <p:cNvPr id="7" name="Text 4"/>
          <p:cNvSpPr/>
          <p:nvPr/>
        </p:nvSpPr>
        <p:spPr>
          <a:xfrm>
            <a:off x="1216152" y="1709928"/>
            <a:ext cx="2404872"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GOOPHER extension (MV3)</a:t>
            </a:r>
            <a:endParaRPr lang="en-US" sz="1300" dirty="0"/>
          </a:p>
        </p:txBody>
      </p:sp>
      <p:sp>
        <p:nvSpPr>
          <p:cNvPr id="8" name="Text 5"/>
          <p:cNvSpPr/>
          <p:nvPr/>
        </p:nvSpPr>
        <p:spPr>
          <a:xfrm>
            <a:off x="1216152" y="2002536"/>
            <a:ext cx="2404872" cy="45720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Chrome side panel · web + phone · voice/camera popups</a:t>
            </a:r>
            <a:endParaRPr lang="en-US" sz="1050" dirty="0"/>
          </a:p>
        </p:txBody>
      </p:sp>
      <p:pic>
        <p:nvPicPr>
          <p:cNvPr id="9" name="Image 1" descr="icons/arrow.png">    </p:cNvPr>
          <p:cNvPicPr>
            <a:picLocks noChangeAspect="1"/>
          </p:cNvPicPr>
          <p:nvPr/>
        </p:nvPicPr>
        <p:blipFill>
          <a:blip r:embed="rId2"/>
          <a:stretch>
            <a:fillRect/>
          </a:stretch>
        </p:blipFill>
        <p:spPr>
          <a:xfrm>
            <a:off x="3813048" y="1920240"/>
            <a:ext cx="274320" cy="274320"/>
          </a:xfrm>
          <a:prstGeom prst="rect">
            <a:avLst/>
          </a:prstGeom>
        </p:spPr>
      </p:pic>
      <p:sp>
        <p:nvSpPr>
          <p:cNvPr id="10" name="Shape 6"/>
          <p:cNvSpPr/>
          <p:nvPr/>
        </p:nvSpPr>
        <p:spPr>
          <a:xfrm>
            <a:off x="4160520" y="1600200"/>
            <a:ext cx="3108960" cy="914400"/>
          </a:xfrm>
          <a:prstGeom prst="roundRect">
            <a:avLst>
              <a:gd name="adj" fmla="val 8000"/>
            </a:avLst>
          </a:prstGeom>
          <a:solidFill>
            <a:srgbClr val="FFFFFF"/>
          </a:solidFill>
          <a:ln w="19050">
            <a:solidFill>
              <a:srgbClr val="5B6577"/>
            </a:solidFill>
            <a:prstDash val="solid"/>
          </a:ln>
          <a:effectLst>
            <a:outerShdw sx="100000" sy="100000" kx="0" ky="0" algn="bl" rotWithShape="0" blurRad="114300" dist="38100" dir="8100000">
              <a:srgbClr val="0F172A">
                <a:alpha val="16000"/>
              </a:srgbClr>
            </a:outerShdw>
          </a:effectLst>
        </p:spPr>
      </p:sp>
      <p:sp>
        <p:nvSpPr>
          <p:cNvPr id="11" name="Shape 7"/>
          <p:cNvSpPr/>
          <p:nvPr/>
        </p:nvSpPr>
        <p:spPr>
          <a:xfrm>
            <a:off x="4306824" y="1828800"/>
            <a:ext cx="457200" cy="457200"/>
          </a:xfrm>
          <a:prstGeom prst="roundRect">
            <a:avLst>
              <a:gd name="adj" fmla="val 20000"/>
            </a:avLst>
          </a:prstGeom>
          <a:solidFill>
            <a:srgbClr val="5B6577"/>
          </a:solidFill>
          <a:ln/>
        </p:spPr>
      </p:sp>
      <p:pic>
        <p:nvPicPr>
          <p:cNvPr id="12" name="Image 2" descr="icons/cloud.png">    </p:cNvPr>
          <p:cNvPicPr>
            <a:picLocks noChangeAspect="1"/>
          </p:cNvPicPr>
          <p:nvPr/>
        </p:nvPicPr>
        <p:blipFill>
          <a:blip r:embed="rId3"/>
          <a:stretch>
            <a:fillRect/>
          </a:stretch>
        </p:blipFill>
        <p:spPr>
          <a:xfrm>
            <a:off x="4416552" y="1938528"/>
            <a:ext cx="237744" cy="237744"/>
          </a:xfrm>
          <a:prstGeom prst="rect">
            <a:avLst/>
          </a:prstGeom>
        </p:spPr>
      </p:pic>
      <p:sp>
        <p:nvSpPr>
          <p:cNvPr id="13" name="Text 8"/>
          <p:cNvSpPr/>
          <p:nvPr/>
        </p:nvSpPr>
        <p:spPr>
          <a:xfrm>
            <a:off x="4873752" y="1709928"/>
            <a:ext cx="2267712"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Cloud Run · FastAPI</a:t>
            </a:r>
            <a:endParaRPr lang="en-US" sz="1300" dirty="0"/>
          </a:p>
        </p:txBody>
      </p:sp>
      <p:sp>
        <p:nvSpPr>
          <p:cNvPr id="14" name="Text 9"/>
          <p:cNvSpPr/>
          <p:nvPr/>
        </p:nvSpPr>
        <p:spPr>
          <a:xfrm>
            <a:off x="4873752" y="2002536"/>
            <a:ext cx="2267712" cy="45720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Auth (JWT) · rate-limit · CORS · /version</a:t>
            </a:r>
            <a:endParaRPr lang="en-US" sz="1050" dirty="0"/>
          </a:p>
        </p:txBody>
      </p:sp>
      <p:pic>
        <p:nvPicPr>
          <p:cNvPr id="15" name="Image 3" descr="icons/arrow.png">    </p:cNvPr>
          <p:cNvPicPr>
            <a:picLocks noChangeAspect="1"/>
          </p:cNvPicPr>
          <p:nvPr/>
        </p:nvPicPr>
        <p:blipFill>
          <a:blip r:embed="rId4"/>
          <a:stretch>
            <a:fillRect/>
          </a:stretch>
        </p:blipFill>
        <p:spPr>
          <a:xfrm>
            <a:off x="7333488" y="1920240"/>
            <a:ext cx="274320" cy="274320"/>
          </a:xfrm>
          <a:prstGeom prst="rect">
            <a:avLst/>
          </a:prstGeom>
        </p:spPr>
      </p:pic>
      <p:sp>
        <p:nvSpPr>
          <p:cNvPr id="16" name="Shape 10"/>
          <p:cNvSpPr/>
          <p:nvPr/>
        </p:nvSpPr>
        <p:spPr>
          <a:xfrm>
            <a:off x="7680960" y="1600200"/>
            <a:ext cx="4007815" cy="914400"/>
          </a:xfrm>
          <a:prstGeom prst="roundRect">
            <a:avLst>
              <a:gd name="adj" fmla="val 8000"/>
            </a:avLst>
          </a:prstGeom>
          <a:solidFill>
            <a:srgbClr val="FFFFFF"/>
          </a:solidFill>
          <a:ln w="19050">
            <a:solidFill>
              <a:srgbClr val="F59E0B"/>
            </a:solidFill>
            <a:prstDash val="solid"/>
          </a:ln>
          <a:effectLst>
            <a:outerShdw sx="100000" sy="100000" kx="0" ky="0" algn="bl" rotWithShape="0" blurRad="114300" dist="38100" dir="8100000">
              <a:srgbClr val="0F172A">
                <a:alpha val="16000"/>
              </a:srgbClr>
            </a:outerShdw>
          </a:effectLst>
        </p:spPr>
      </p:sp>
      <p:sp>
        <p:nvSpPr>
          <p:cNvPr id="17" name="Shape 11"/>
          <p:cNvSpPr/>
          <p:nvPr/>
        </p:nvSpPr>
        <p:spPr>
          <a:xfrm>
            <a:off x="7827264" y="1828800"/>
            <a:ext cx="457200" cy="457200"/>
          </a:xfrm>
          <a:prstGeom prst="roundRect">
            <a:avLst>
              <a:gd name="adj" fmla="val 20000"/>
            </a:avLst>
          </a:prstGeom>
          <a:solidFill>
            <a:srgbClr val="F59E0B"/>
          </a:solidFill>
          <a:ln/>
        </p:spPr>
      </p:sp>
      <p:pic>
        <p:nvPicPr>
          <p:cNvPr id="18" name="Image 4" descr="icons/robot.png">    </p:cNvPr>
          <p:cNvPicPr>
            <a:picLocks noChangeAspect="1"/>
          </p:cNvPicPr>
          <p:nvPr/>
        </p:nvPicPr>
        <p:blipFill>
          <a:blip r:embed="rId5"/>
          <a:stretch>
            <a:fillRect/>
          </a:stretch>
        </p:blipFill>
        <p:spPr>
          <a:xfrm>
            <a:off x="7936992" y="1938528"/>
            <a:ext cx="237744" cy="237744"/>
          </a:xfrm>
          <a:prstGeom prst="rect">
            <a:avLst/>
          </a:prstGeom>
        </p:spPr>
      </p:pic>
      <p:sp>
        <p:nvSpPr>
          <p:cNvPr id="19" name="Text 12"/>
          <p:cNvSpPr/>
          <p:nvPr/>
        </p:nvSpPr>
        <p:spPr>
          <a:xfrm>
            <a:off x="8394192" y="1709928"/>
            <a:ext cx="3166567"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ROOT orchestrator (ADK)</a:t>
            </a:r>
            <a:endParaRPr lang="en-US" sz="1300" dirty="0"/>
          </a:p>
        </p:txBody>
      </p:sp>
      <p:sp>
        <p:nvSpPr>
          <p:cNvPr id="20" name="Text 13"/>
          <p:cNvSpPr/>
          <p:nvPr/>
        </p:nvSpPr>
        <p:spPr>
          <a:xfrm>
            <a:off x="8394192" y="2002536"/>
            <a:ext cx="3166567" cy="45720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Gemini 2.5 Flash on Vertex AI — decides &amp; delegates</a:t>
            </a:r>
            <a:endParaRPr lang="en-US" sz="1050" dirty="0"/>
          </a:p>
        </p:txBody>
      </p:sp>
      <p:sp>
        <p:nvSpPr>
          <p:cNvPr id="21" name="Shape 14"/>
          <p:cNvSpPr/>
          <p:nvPr/>
        </p:nvSpPr>
        <p:spPr>
          <a:xfrm>
            <a:off x="502920" y="2697480"/>
            <a:ext cx="11185855" cy="566928"/>
          </a:xfrm>
          <a:prstGeom prst="roundRect">
            <a:avLst>
              <a:gd name="adj" fmla="val 11290"/>
            </a:avLst>
          </a:prstGeom>
          <a:solidFill>
            <a:srgbClr val="F5F6FB"/>
          </a:solidFill>
          <a:ln w="12700">
            <a:solidFill>
              <a:srgbClr val="E6E8F0"/>
            </a:solidFill>
            <a:prstDash val="solid"/>
          </a:ln>
        </p:spPr>
      </p:sp>
      <p:sp>
        <p:nvSpPr>
          <p:cNvPr id="22" name="Text 15"/>
          <p:cNvSpPr/>
          <p:nvPr/>
        </p:nvSpPr>
        <p:spPr>
          <a:xfrm>
            <a:off x="731520" y="2697480"/>
            <a:ext cx="10728655" cy="56692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Deterministic pre-processing (no LLM):  </a:t>
            </a:r>
            <a:pPr indent="0" marL="0">
              <a:buNone/>
            </a:pPr>
            <a:r>
              <a:rPr lang="en-US" sz="1200" dirty="0">
                <a:solidFill>
                  <a:srgbClr val="5B6577"/>
                </a:solidFill>
                <a:latin typeface="Calibri" pitchFamily="34" charset="0"/>
                <a:ea typeface="Calibri" pitchFamily="34" charset="-122"/>
                <a:cs typeface="Calibri" pitchFamily="34" charset="-120"/>
              </a:rPr>
              <a:t>modality · language · channel · memory  →  then the agent runs through the common Agent Harness</a:t>
            </a:r>
            <a:endParaRPr lang="en-US" sz="1200" dirty="0"/>
          </a:p>
        </p:txBody>
      </p:sp>
      <p:sp>
        <p:nvSpPr>
          <p:cNvPr id="23" name="Text 16"/>
          <p:cNvSpPr/>
          <p:nvPr/>
        </p:nvSpPr>
        <p:spPr>
          <a:xfrm>
            <a:off x="502920" y="3419856"/>
            <a:ext cx="11185855" cy="274320"/>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Worker sub-agents (agent-as-tool) — each picks a registry skill, calls its tools</a:t>
            </a:r>
            <a:endParaRPr lang="en-US" sz="1150" dirty="0"/>
          </a:p>
        </p:txBody>
      </p:sp>
      <p:sp>
        <p:nvSpPr>
          <p:cNvPr id="24" name="Shape 17"/>
          <p:cNvSpPr/>
          <p:nvPr/>
        </p:nvSpPr>
        <p:spPr>
          <a:xfrm>
            <a:off x="502920" y="3730752"/>
            <a:ext cx="2659304" cy="868680"/>
          </a:xfrm>
          <a:prstGeom prst="roundRect">
            <a:avLst>
              <a:gd name="adj" fmla="val 8421"/>
            </a:avLst>
          </a:prstGeom>
          <a:solidFill>
            <a:srgbClr val="FFFFFF"/>
          </a:solidFill>
          <a:ln w="19050">
            <a:solidFill>
              <a:srgbClr val="2563EB"/>
            </a:solidFill>
            <a:prstDash val="solid"/>
          </a:ln>
          <a:effectLst>
            <a:outerShdw sx="100000" sy="100000" kx="0" ky="0" algn="bl" rotWithShape="0" blurRad="114300" dist="38100" dir="8100000">
              <a:srgbClr val="0F172A">
                <a:alpha val="16000"/>
              </a:srgbClr>
            </a:outerShdw>
          </a:effectLst>
        </p:spPr>
      </p:sp>
      <p:sp>
        <p:nvSpPr>
          <p:cNvPr id="25" name="Shape 18"/>
          <p:cNvSpPr/>
          <p:nvPr/>
        </p:nvSpPr>
        <p:spPr>
          <a:xfrm>
            <a:off x="649224" y="3936492"/>
            <a:ext cx="457200" cy="457200"/>
          </a:xfrm>
          <a:prstGeom prst="roundRect">
            <a:avLst>
              <a:gd name="adj" fmla="val 20000"/>
            </a:avLst>
          </a:prstGeom>
          <a:solidFill>
            <a:srgbClr val="2563EB"/>
          </a:solidFill>
          <a:ln/>
        </p:spPr>
      </p:sp>
      <p:pic>
        <p:nvPicPr>
          <p:cNvPr id="26" name="Image 5" descr="icons/sitemap.png">    </p:cNvPr>
          <p:cNvPicPr>
            <a:picLocks noChangeAspect="1"/>
          </p:cNvPicPr>
          <p:nvPr/>
        </p:nvPicPr>
        <p:blipFill>
          <a:blip r:embed="rId6"/>
          <a:stretch>
            <a:fillRect/>
          </a:stretch>
        </p:blipFill>
        <p:spPr>
          <a:xfrm>
            <a:off x="758952" y="4046220"/>
            <a:ext cx="237744" cy="237744"/>
          </a:xfrm>
          <a:prstGeom prst="rect">
            <a:avLst/>
          </a:prstGeom>
        </p:spPr>
      </p:pic>
      <p:sp>
        <p:nvSpPr>
          <p:cNvPr id="27" name="Text 19"/>
          <p:cNvSpPr/>
          <p:nvPr/>
        </p:nvSpPr>
        <p:spPr>
          <a:xfrm>
            <a:off x="1216152" y="3840480"/>
            <a:ext cx="1818056"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inventory_agent</a:t>
            </a:r>
            <a:endParaRPr lang="en-US" sz="1300" dirty="0"/>
          </a:p>
        </p:txBody>
      </p:sp>
      <p:sp>
        <p:nvSpPr>
          <p:cNvPr id="28" name="Text 20"/>
          <p:cNvSpPr/>
          <p:nvPr/>
        </p:nvSpPr>
        <p:spPr>
          <a:xfrm>
            <a:off x="1216152" y="4133088"/>
            <a:ext cx="1818056" cy="41148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search · stock · details</a:t>
            </a:r>
            <a:endParaRPr lang="en-US" sz="1050" dirty="0"/>
          </a:p>
        </p:txBody>
      </p:sp>
      <p:sp>
        <p:nvSpPr>
          <p:cNvPr id="29" name="Shape 21"/>
          <p:cNvSpPr/>
          <p:nvPr/>
        </p:nvSpPr>
        <p:spPr>
          <a:xfrm>
            <a:off x="3345104" y="3730752"/>
            <a:ext cx="2659304" cy="868680"/>
          </a:xfrm>
          <a:prstGeom prst="roundRect">
            <a:avLst>
              <a:gd name="adj" fmla="val 8421"/>
            </a:avLst>
          </a:prstGeom>
          <a:solidFill>
            <a:srgbClr val="FFFFFF"/>
          </a:solidFill>
          <a:ln w="19050">
            <a:solidFill>
              <a:srgbClr val="2563EB"/>
            </a:solidFill>
            <a:prstDash val="solid"/>
          </a:ln>
          <a:effectLst>
            <a:outerShdw sx="100000" sy="100000" kx="0" ky="0" algn="bl" rotWithShape="0" blurRad="114300" dist="38100" dir="8100000">
              <a:srgbClr val="0F172A">
                <a:alpha val="16000"/>
              </a:srgbClr>
            </a:outerShdw>
          </a:effectLst>
        </p:spPr>
      </p:sp>
      <p:sp>
        <p:nvSpPr>
          <p:cNvPr id="30" name="Shape 22"/>
          <p:cNvSpPr/>
          <p:nvPr/>
        </p:nvSpPr>
        <p:spPr>
          <a:xfrm>
            <a:off x="3491408" y="3936492"/>
            <a:ext cx="457200" cy="457200"/>
          </a:xfrm>
          <a:prstGeom prst="roundRect">
            <a:avLst>
              <a:gd name="adj" fmla="val 20000"/>
            </a:avLst>
          </a:prstGeom>
          <a:solidFill>
            <a:srgbClr val="2563EB"/>
          </a:solidFill>
          <a:ln/>
        </p:spPr>
      </p:sp>
      <p:pic>
        <p:nvPicPr>
          <p:cNvPr id="31" name="Image 6" descr="icons/route.png">    </p:cNvPr>
          <p:cNvPicPr>
            <a:picLocks noChangeAspect="1"/>
          </p:cNvPicPr>
          <p:nvPr/>
        </p:nvPicPr>
        <p:blipFill>
          <a:blip r:embed="rId7"/>
          <a:stretch>
            <a:fillRect/>
          </a:stretch>
        </p:blipFill>
        <p:spPr>
          <a:xfrm>
            <a:off x="3601136" y="4046220"/>
            <a:ext cx="237744" cy="237744"/>
          </a:xfrm>
          <a:prstGeom prst="rect">
            <a:avLst/>
          </a:prstGeom>
        </p:spPr>
      </p:pic>
      <p:sp>
        <p:nvSpPr>
          <p:cNvPr id="32" name="Text 23"/>
          <p:cNvSpPr/>
          <p:nvPr/>
        </p:nvSpPr>
        <p:spPr>
          <a:xfrm>
            <a:off x="4058336" y="3840480"/>
            <a:ext cx="1818056"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order_agent</a:t>
            </a:r>
            <a:endParaRPr lang="en-US" sz="1300" dirty="0"/>
          </a:p>
        </p:txBody>
      </p:sp>
      <p:sp>
        <p:nvSpPr>
          <p:cNvPr id="33" name="Text 24"/>
          <p:cNvSpPr/>
          <p:nvPr/>
        </p:nvSpPr>
        <p:spPr>
          <a:xfrm>
            <a:off x="4058336" y="4133088"/>
            <a:ext cx="1818056" cy="41148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status · history · bulk</a:t>
            </a:r>
            <a:endParaRPr lang="en-US" sz="1050" dirty="0"/>
          </a:p>
        </p:txBody>
      </p:sp>
      <p:sp>
        <p:nvSpPr>
          <p:cNvPr id="34" name="Shape 25"/>
          <p:cNvSpPr/>
          <p:nvPr/>
        </p:nvSpPr>
        <p:spPr>
          <a:xfrm>
            <a:off x="6187288" y="3730752"/>
            <a:ext cx="2659304" cy="868680"/>
          </a:xfrm>
          <a:prstGeom prst="roundRect">
            <a:avLst>
              <a:gd name="adj" fmla="val 8421"/>
            </a:avLst>
          </a:prstGeom>
          <a:solidFill>
            <a:srgbClr val="FFFFFF"/>
          </a:solidFill>
          <a:ln w="19050">
            <a:solidFill>
              <a:srgbClr val="0D9488"/>
            </a:solidFill>
            <a:prstDash val="solid"/>
          </a:ln>
          <a:effectLst>
            <a:outerShdw sx="100000" sy="100000" kx="0" ky="0" algn="bl" rotWithShape="0" blurRad="114300" dist="38100" dir="8100000">
              <a:srgbClr val="0F172A">
                <a:alpha val="16000"/>
              </a:srgbClr>
            </a:outerShdw>
          </a:effectLst>
        </p:spPr>
      </p:sp>
      <p:sp>
        <p:nvSpPr>
          <p:cNvPr id="35" name="Shape 26"/>
          <p:cNvSpPr/>
          <p:nvPr/>
        </p:nvSpPr>
        <p:spPr>
          <a:xfrm>
            <a:off x="6333592" y="3936492"/>
            <a:ext cx="457200" cy="457200"/>
          </a:xfrm>
          <a:prstGeom prst="roundRect">
            <a:avLst>
              <a:gd name="adj" fmla="val 20000"/>
            </a:avLst>
          </a:prstGeom>
          <a:solidFill>
            <a:srgbClr val="0D9488"/>
          </a:solidFill>
          <a:ln/>
        </p:spPr>
      </p:sp>
      <p:pic>
        <p:nvPicPr>
          <p:cNvPr id="36" name="Image 7" descr="icons/lock.png">    </p:cNvPr>
          <p:cNvPicPr>
            <a:picLocks noChangeAspect="1"/>
          </p:cNvPicPr>
          <p:nvPr/>
        </p:nvPicPr>
        <p:blipFill>
          <a:blip r:embed="rId8"/>
          <a:stretch>
            <a:fillRect/>
          </a:stretch>
        </p:blipFill>
        <p:spPr>
          <a:xfrm>
            <a:off x="6443320" y="4046220"/>
            <a:ext cx="237744" cy="237744"/>
          </a:xfrm>
          <a:prstGeom prst="rect">
            <a:avLst/>
          </a:prstGeom>
        </p:spPr>
      </p:pic>
      <p:sp>
        <p:nvSpPr>
          <p:cNvPr id="37" name="Text 27"/>
          <p:cNvSpPr/>
          <p:nvPr/>
        </p:nvSpPr>
        <p:spPr>
          <a:xfrm>
            <a:off x="6900520" y="3840480"/>
            <a:ext cx="1818056"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checkout_agent</a:t>
            </a:r>
            <a:endParaRPr lang="en-US" sz="1300" dirty="0"/>
          </a:p>
        </p:txBody>
      </p:sp>
      <p:sp>
        <p:nvSpPr>
          <p:cNvPr id="38" name="Text 28"/>
          <p:cNvSpPr/>
          <p:nvPr/>
        </p:nvSpPr>
        <p:spPr>
          <a:xfrm>
            <a:off x="6900520" y="4133088"/>
            <a:ext cx="1818056" cy="41148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cart · payment · place</a:t>
            </a:r>
            <a:endParaRPr lang="en-US" sz="1050" dirty="0"/>
          </a:p>
        </p:txBody>
      </p:sp>
      <p:sp>
        <p:nvSpPr>
          <p:cNvPr id="39" name="Shape 29"/>
          <p:cNvSpPr/>
          <p:nvPr/>
        </p:nvSpPr>
        <p:spPr>
          <a:xfrm>
            <a:off x="9029471" y="3730752"/>
            <a:ext cx="2659304" cy="868680"/>
          </a:xfrm>
          <a:prstGeom prst="roundRect">
            <a:avLst>
              <a:gd name="adj" fmla="val 8421"/>
            </a:avLst>
          </a:prstGeom>
          <a:solidFill>
            <a:srgbClr val="FFFFFF"/>
          </a:solidFill>
          <a:ln w="19050">
            <a:solidFill>
              <a:srgbClr val="0D9488"/>
            </a:solidFill>
            <a:prstDash val="solid"/>
          </a:ln>
          <a:effectLst>
            <a:outerShdw sx="100000" sy="100000" kx="0" ky="0" algn="bl" rotWithShape="0" blurRad="114300" dist="38100" dir="8100000">
              <a:srgbClr val="0F172A">
                <a:alpha val="16000"/>
              </a:srgbClr>
            </a:outerShdw>
          </a:effectLst>
        </p:spPr>
      </p:sp>
      <p:sp>
        <p:nvSpPr>
          <p:cNvPr id="40" name="Shape 30"/>
          <p:cNvSpPr/>
          <p:nvPr/>
        </p:nvSpPr>
        <p:spPr>
          <a:xfrm>
            <a:off x="9175775" y="3936492"/>
            <a:ext cx="457200" cy="457200"/>
          </a:xfrm>
          <a:prstGeom prst="roundRect">
            <a:avLst>
              <a:gd name="adj" fmla="val 20000"/>
            </a:avLst>
          </a:prstGeom>
          <a:solidFill>
            <a:srgbClr val="0D9488"/>
          </a:solidFill>
          <a:ln/>
        </p:spPr>
      </p:sp>
      <p:pic>
        <p:nvPicPr>
          <p:cNvPr id="41" name="Image 8" descr="icons/cog.png">    </p:cNvPr>
          <p:cNvPicPr>
            <a:picLocks noChangeAspect="1"/>
          </p:cNvPicPr>
          <p:nvPr/>
        </p:nvPicPr>
        <p:blipFill>
          <a:blip r:embed="rId9"/>
          <a:stretch>
            <a:fillRect/>
          </a:stretch>
        </p:blipFill>
        <p:spPr>
          <a:xfrm>
            <a:off x="9285503" y="4046220"/>
            <a:ext cx="237744" cy="237744"/>
          </a:xfrm>
          <a:prstGeom prst="rect">
            <a:avLst/>
          </a:prstGeom>
        </p:spPr>
      </p:pic>
      <p:sp>
        <p:nvSpPr>
          <p:cNvPr id="42" name="Text 31"/>
          <p:cNvSpPr/>
          <p:nvPr/>
        </p:nvSpPr>
        <p:spPr>
          <a:xfrm>
            <a:off x="9742703" y="3840480"/>
            <a:ext cx="1818056"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order_mgmt_agent</a:t>
            </a:r>
            <a:endParaRPr lang="en-US" sz="1300" dirty="0"/>
          </a:p>
        </p:txBody>
      </p:sp>
      <p:sp>
        <p:nvSpPr>
          <p:cNvPr id="43" name="Text 32"/>
          <p:cNvSpPr/>
          <p:nvPr/>
        </p:nvSpPr>
        <p:spPr>
          <a:xfrm>
            <a:off x="9742703" y="4133088"/>
            <a:ext cx="1818056" cy="41148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9-stage fulfillment</a:t>
            </a:r>
            <a:endParaRPr lang="en-US" sz="1050" dirty="0"/>
          </a:p>
        </p:txBody>
      </p:sp>
      <p:sp>
        <p:nvSpPr>
          <p:cNvPr id="44" name="Shape 33"/>
          <p:cNvSpPr/>
          <p:nvPr/>
        </p:nvSpPr>
        <p:spPr>
          <a:xfrm>
            <a:off x="502920" y="4800600"/>
            <a:ext cx="3657600" cy="914400"/>
          </a:xfrm>
          <a:prstGeom prst="roundRect">
            <a:avLst>
              <a:gd name="adj" fmla="val 8000"/>
            </a:avLst>
          </a:prstGeom>
          <a:solidFill>
            <a:srgbClr val="FFFFFF"/>
          </a:solidFill>
          <a:ln w="19050">
            <a:solidFill>
              <a:srgbClr val="0D9488"/>
            </a:solidFill>
            <a:prstDash val="solid"/>
          </a:ln>
          <a:effectLst>
            <a:outerShdw sx="100000" sy="100000" kx="0" ky="0" algn="bl" rotWithShape="0" blurRad="114300" dist="38100" dir="8100000">
              <a:srgbClr val="0F172A">
                <a:alpha val="16000"/>
              </a:srgbClr>
            </a:outerShdw>
          </a:effectLst>
        </p:spPr>
      </p:sp>
      <p:sp>
        <p:nvSpPr>
          <p:cNvPr id="45" name="Shape 34"/>
          <p:cNvSpPr/>
          <p:nvPr/>
        </p:nvSpPr>
        <p:spPr>
          <a:xfrm>
            <a:off x="649224" y="5029200"/>
            <a:ext cx="457200" cy="457200"/>
          </a:xfrm>
          <a:prstGeom prst="roundRect">
            <a:avLst>
              <a:gd name="adj" fmla="val 20000"/>
            </a:avLst>
          </a:prstGeom>
          <a:solidFill>
            <a:srgbClr val="0D9488"/>
          </a:solidFill>
          <a:ln/>
        </p:spPr>
      </p:sp>
      <p:pic>
        <p:nvPicPr>
          <p:cNvPr id="46" name="Image 9" descr="icons/db.png">    </p:cNvPr>
          <p:cNvPicPr>
            <a:picLocks noChangeAspect="1"/>
          </p:cNvPicPr>
          <p:nvPr/>
        </p:nvPicPr>
        <p:blipFill>
          <a:blip r:embed="rId10"/>
          <a:stretch>
            <a:fillRect/>
          </a:stretch>
        </p:blipFill>
        <p:spPr>
          <a:xfrm>
            <a:off x="758952" y="5138928"/>
            <a:ext cx="237744" cy="237744"/>
          </a:xfrm>
          <a:prstGeom prst="rect">
            <a:avLst/>
          </a:prstGeom>
        </p:spPr>
      </p:pic>
      <p:sp>
        <p:nvSpPr>
          <p:cNvPr id="47" name="Text 35"/>
          <p:cNvSpPr/>
          <p:nvPr/>
        </p:nvSpPr>
        <p:spPr>
          <a:xfrm>
            <a:off x="1216152" y="4910328"/>
            <a:ext cx="2816352"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Backend tools + mock retail DB</a:t>
            </a:r>
            <a:endParaRPr lang="en-US" sz="1300" dirty="0"/>
          </a:p>
        </p:txBody>
      </p:sp>
      <p:sp>
        <p:nvSpPr>
          <p:cNvPr id="48" name="Text 36"/>
          <p:cNvSpPr/>
          <p:nvPr/>
        </p:nvSpPr>
        <p:spPr>
          <a:xfrm>
            <a:off x="1216152" y="5202936"/>
            <a:ext cx="2816352" cy="45720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Firestore (cloud) / SQLite (local) · ORDER_PLACED</a:t>
            </a:r>
            <a:endParaRPr lang="en-US" sz="1050" dirty="0"/>
          </a:p>
        </p:txBody>
      </p:sp>
      <p:sp>
        <p:nvSpPr>
          <p:cNvPr id="49" name="Shape 37"/>
          <p:cNvSpPr/>
          <p:nvPr/>
        </p:nvSpPr>
        <p:spPr>
          <a:xfrm>
            <a:off x="4389120" y="4800600"/>
            <a:ext cx="3657600" cy="914400"/>
          </a:xfrm>
          <a:prstGeom prst="roundRect">
            <a:avLst>
              <a:gd name="adj" fmla="val 8000"/>
            </a:avLst>
          </a:prstGeom>
          <a:solidFill>
            <a:srgbClr val="FFFFFF"/>
          </a:solidFill>
          <a:ln w="19050">
            <a:solidFill>
              <a:srgbClr val="7C3AED"/>
            </a:solidFill>
            <a:prstDash val="solid"/>
          </a:ln>
          <a:effectLst>
            <a:outerShdw sx="100000" sy="100000" kx="0" ky="0" algn="bl" rotWithShape="0" blurRad="114300" dist="38100" dir="8100000">
              <a:srgbClr val="0F172A">
                <a:alpha val="16000"/>
              </a:srgbClr>
            </a:outerShdw>
          </a:effectLst>
        </p:spPr>
      </p:sp>
      <p:sp>
        <p:nvSpPr>
          <p:cNvPr id="50" name="Shape 38"/>
          <p:cNvSpPr/>
          <p:nvPr/>
        </p:nvSpPr>
        <p:spPr>
          <a:xfrm>
            <a:off x="4535424" y="5029200"/>
            <a:ext cx="457200" cy="457200"/>
          </a:xfrm>
          <a:prstGeom prst="roundRect">
            <a:avLst>
              <a:gd name="adj" fmla="val 20000"/>
            </a:avLst>
          </a:prstGeom>
          <a:solidFill>
            <a:srgbClr val="7C3AED"/>
          </a:solidFill>
          <a:ln/>
        </p:spPr>
      </p:sp>
      <p:pic>
        <p:nvPicPr>
          <p:cNvPr id="51" name="Image 10" descr="icons/lock.png">    </p:cNvPr>
          <p:cNvPicPr>
            <a:picLocks noChangeAspect="1"/>
          </p:cNvPicPr>
          <p:nvPr/>
        </p:nvPicPr>
        <p:blipFill>
          <a:blip r:embed="rId11"/>
          <a:stretch>
            <a:fillRect/>
          </a:stretch>
        </p:blipFill>
        <p:spPr>
          <a:xfrm>
            <a:off x="4645152" y="5138928"/>
            <a:ext cx="237744" cy="237744"/>
          </a:xfrm>
          <a:prstGeom prst="rect">
            <a:avLst/>
          </a:prstGeom>
        </p:spPr>
      </p:pic>
      <p:sp>
        <p:nvSpPr>
          <p:cNvPr id="52" name="Text 39"/>
          <p:cNvSpPr/>
          <p:nvPr/>
        </p:nvSpPr>
        <p:spPr>
          <a:xfrm>
            <a:off x="5102352" y="4910328"/>
            <a:ext cx="2816352"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Transactional gate (deterministic)</a:t>
            </a:r>
            <a:endParaRPr lang="en-US" sz="1300" dirty="0"/>
          </a:p>
        </p:txBody>
      </p:sp>
      <p:sp>
        <p:nvSpPr>
          <p:cNvPr id="53" name="Text 40"/>
          <p:cNvSpPr/>
          <p:nvPr/>
        </p:nvSpPr>
        <p:spPr>
          <a:xfrm>
            <a:off x="5102352" y="5202936"/>
            <a:ext cx="2816352" cy="45720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cart → payment → ORDER_PLACED → receipt</a:t>
            </a:r>
            <a:endParaRPr lang="en-US" sz="1050" dirty="0"/>
          </a:p>
        </p:txBody>
      </p:sp>
      <p:sp>
        <p:nvSpPr>
          <p:cNvPr id="54" name="Shape 41"/>
          <p:cNvSpPr/>
          <p:nvPr/>
        </p:nvSpPr>
        <p:spPr>
          <a:xfrm>
            <a:off x="8275320" y="4800600"/>
            <a:ext cx="3413455" cy="914400"/>
          </a:xfrm>
          <a:prstGeom prst="roundRect">
            <a:avLst>
              <a:gd name="adj" fmla="val 8000"/>
            </a:avLst>
          </a:prstGeom>
          <a:solidFill>
            <a:srgbClr val="FFFFFF"/>
          </a:solidFill>
          <a:ln w="19050">
            <a:solidFill>
              <a:srgbClr val="7C3AED"/>
            </a:solidFill>
            <a:prstDash val="solid"/>
          </a:ln>
          <a:effectLst>
            <a:outerShdw sx="100000" sy="100000" kx="0" ky="0" algn="bl" rotWithShape="0" blurRad="114300" dist="38100" dir="8100000">
              <a:srgbClr val="0F172A">
                <a:alpha val="16000"/>
              </a:srgbClr>
            </a:outerShdw>
          </a:effectLst>
        </p:spPr>
      </p:sp>
      <p:sp>
        <p:nvSpPr>
          <p:cNvPr id="55" name="Shape 42"/>
          <p:cNvSpPr/>
          <p:nvPr/>
        </p:nvSpPr>
        <p:spPr>
          <a:xfrm>
            <a:off x="8421624" y="5029200"/>
            <a:ext cx="457200" cy="457200"/>
          </a:xfrm>
          <a:prstGeom prst="roundRect">
            <a:avLst>
              <a:gd name="adj" fmla="val 20000"/>
            </a:avLst>
          </a:prstGeom>
          <a:solidFill>
            <a:srgbClr val="7C3AED"/>
          </a:solidFill>
          <a:ln/>
        </p:spPr>
      </p:sp>
      <p:pic>
        <p:nvPicPr>
          <p:cNvPr id="56" name="Image 11" descr="icons/shield.png">    </p:cNvPr>
          <p:cNvPicPr>
            <a:picLocks noChangeAspect="1"/>
          </p:cNvPicPr>
          <p:nvPr/>
        </p:nvPicPr>
        <p:blipFill>
          <a:blip r:embed="rId12"/>
          <a:stretch>
            <a:fillRect/>
          </a:stretch>
        </p:blipFill>
        <p:spPr>
          <a:xfrm>
            <a:off x="8531352" y="5138928"/>
            <a:ext cx="237744" cy="237744"/>
          </a:xfrm>
          <a:prstGeom prst="rect">
            <a:avLst/>
          </a:prstGeom>
        </p:spPr>
      </p:pic>
      <p:sp>
        <p:nvSpPr>
          <p:cNvPr id="57" name="Text 43"/>
          <p:cNvSpPr/>
          <p:nvPr/>
        </p:nvSpPr>
        <p:spPr>
          <a:xfrm>
            <a:off x="8988552" y="4910328"/>
            <a:ext cx="2572207"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Guardian + Observability</a:t>
            </a:r>
            <a:endParaRPr lang="en-US" sz="1300" dirty="0"/>
          </a:p>
        </p:txBody>
      </p:sp>
      <p:sp>
        <p:nvSpPr>
          <p:cNvPr id="58" name="Text 44"/>
          <p:cNvSpPr/>
          <p:nvPr/>
        </p:nvSpPr>
        <p:spPr>
          <a:xfrm>
            <a:off x="8988552" y="5202936"/>
            <a:ext cx="2572207" cy="457200"/>
          </a:xfrm>
          <a:prstGeom prst="rect">
            <a:avLst/>
          </a:prstGeom>
          <a:noFill/>
          <a:ln/>
        </p:spPr>
        <p:txBody>
          <a:bodyPr wrap="square" lIns="0" tIns="0" rIns="0" bIns="0" rtlCol="0" anchor="t"/>
          <a:lstStyle/>
          <a:p>
            <a:pPr indent="0" marL="0">
              <a:buNone/>
            </a:pPr>
            <a:r>
              <a:rPr lang="en-US" sz="1050" dirty="0">
                <a:solidFill>
                  <a:srgbClr val="5B6577"/>
                </a:solidFill>
                <a:latin typeface="Calibri" pitchFamily="34" charset="0"/>
                <a:ea typeface="Calibri" pitchFamily="34" charset="-122"/>
                <a:cs typeface="Calibri" pitchFamily="34" charset="-120"/>
              </a:rPr>
              <a:t>self-heal · Cloud Trace · /dev portal</a:t>
            </a:r>
            <a:endParaRPr lang="en-US" sz="1050" dirty="0"/>
          </a:p>
        </p:txBody>
      </p:sp>
      <p:sp>
        <p:nvSpPr>
          <p:cNvPr id="59" name="Text 45"/>
          <p:cNvSpPr/>
          <p:nvPr/>
        </p:nvSpPr>
        <p:spPr>
          <a:xfrm>
            <a:off x="502920" y="5897880"/>
            <a:ext cx="11185855" cy="365760"/>
          </a:xfrm>
          <a:prstGeom prst="rect">
            <a:avLst/>
          </a:prstGeom>
          <a:noFill/>
          <a:ln/>
        </p:spPr>
        <p:txBody>
          <a:bodyPr wrap="square" lIns="0" tIns="0" rIns="0" bIns="0" rtlCol="0" anchor="ctr"/>
          <a:lstStyle/>
          <a:p>
            <a:pPr algn="ctr" indent="0" marL="0">
              <a:buNone/>
            </a:pPr>
            <a:r>
              <a:rPr lang="en-US" sz="1300" b="1" i="1" dirty="0">
                <a:solidFill>
                  <a:srgbClr val="0F172A"/>
                </a:solidFill>
                <a:latin typeface="Calibri" pitchFamily="34" charset="0"/>
                <a:ea typeface="Calibri" pitchFamily="34" charset="-122"/>
                <a:cs typeface="Calibri" pitchFamily="34" charset="-120"/>
              </a:rPr>
              <a:t>LLM orchestrates &amp; converses;  deterministic code transacts.</a:t>
            </a:r>
            <a:endParaRPr lang="en-US" sz="1300" dirty="0"/>
          </a:p>
        </p:txBody>
      </p:sp>
      <p:sp>
        <p:nvSpPr>
          <p:cNvPr id="60" name="Text 46"/>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61" name="Text 47"/>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FCA5C0"/>
                </a:solidFill>
                <a:latin typeface="Calibri" pitchFamily="34" charset="0"/>
                <a:ea typeface="Calibri" pitchFamily="34" charset="-122"/>
                <a:cs typeface="Calibri" pitchFamily="34" charset="-120"/>
              </a:rPr>
              <a:t>HANDS-ON · LIVE DEMONSTRATION</a:t>
            </a:r>
            <a:endParaRPr lang="en-US" sz="1200" dirty="0"/>
          </a:p>
        </p:txBody>
      </p:sp>
      <p:sp>
        <p:nvSpPr>
          <p:cNvPr id="3" name="Text 1"/>
          <p:cNvSpPr/>
          <p:nvPr/>
        </p:nvSpPr>
        <p:spPr>
          <a:xfrm>
            <a:off x="502920" y="713232"/>
            <a:ext cx="11185855" cy="8229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Live demo — in the GOOPHER extension</a:t>
            </a:r>
            <a:endParaRPr lang="en-US" sz="3000" dirty="0"/>
          </a:p>
        </p:txBody>
      </p:sp>
      <p:sp>
        <p:nvSpPr>
          <p:cNvPr id="4" name="Text 2"/>
          <p:cNvSpPr/>
          <p:nvPr/>
        </p:nvSpPr>
        <p:spPr>
          <a:xfrm>
            <a:off x="502920" y="1481328"/>
            <a:ext cx="11185855" cy="365760"/>
          </a:xfrm>
          <a:prstGeom prst="rect">
            <a:avLst/>
          </a:prstGeom>
          <a:noFill/>
          <a:ln/>
        </p:spPr>
        <p:txBody>
          <a:bodyPr wrap="square" lIns="0" tIns="0" rIns="0" bIns="0" rtlCol="0" anchor="ctr"/>
          <a:lstStyle/>
          <a:p>
            <a:pPr indent="0" marL="0">
              <a:buNone/>
            </a:pPr>
            <a:r>
              <a:rPr lang="en-US" sz="1300" dirty="0">
                <a:solidFill>
                  <a:srgbClr val="C9C2E8"/>
                </a:solidFill>
                <a:latin typeface="Calibri" pitchFamily="34" charset="0"/>
                <a:ea typeface="Calibri" pitchFamily="34" charset="-122"/>
                <a:cs typeface="Calibri" pitchFamily="34" charset="-120"/>
              </a:rPr>
              <a:t>Everything below is run live in the side panel, against the deployed Cloud Run service.</a:t>
            </a:r>
            <a:endParaRPr lang="en-US" sz="1300" dirty="0"/>
          </a:p>
        </p:txBody>
      </p:sp>
      <p:sp>
        <p:nvSpPr>
          <p:cNvPr id="5" name="Shape 3"/>
          <p:cNvSpPr/>
          <p:nvPr/>
        </p:nvSpPr>
        <p:spPr>
          <a:xfrm>
            <a:off x="502920" y="2148840"/>
            <a:ext cx="5318608" cy="1783080"/>
          </a:xfrm>
          <a:prstGeom prst="roundRect">
            <a:avLst>
              <a:gd name="adj" fmla="val 5128"/>
            </a:avLst>
          </a:prstGeom>
          <a:solidFill>
            <a:srgbClr val="FFFFFF">
              <a:alpha val="10000"/>
            </a:srgbClr>
          </a:solidFill>
          <a:ln w="12700">
            <a:solidFill>
              <a:srgbClr val="FFFFFF"/>
            </a:solidFill>
            <a:prstDash val="solid"/>
          </a:ln>
        </p:spPr>
      </p:sp>
      <p:sp>
        <p:nvSpPr>
          <p:cNvPr id="6" name="Shape 4"/>
          <p:cNvSpPr/>
          <p:nvPr/>
        </p:nvSpPr>
        <p:spPr>
          <a:xfrm>
            <a:off x="758952" y="2423160"/>
            <a:ext cx="603504" cy="603504"/>
          </a:xfrm>
          <a:prstGeom prst="roundRect">
            <a:avLst>
              <a:gd name="adj" fmla="val 19697"/>
            </a:avLst>
          </a:prstGeom>
          <a:solidFill>
            <a:srgbClr val="E11D48"/>
          </a:solidFill>
          <a:ln/>
        </p:spPr>
      </p:sp>
      <p:pic>
        <p:nvPicPr>
          <p:cNvPr id="7" name="Image 0" descr="icons/comments.png">    </p:cNvPr>
          <p:cNvPicPr>
            <a:picLocks noChangeAspect="1"/>
          </p:cNvPicPr>
          <p:nvPr/>
        </p:nvPicPr>
        <p:blipFill>
          <a:blip r:embed="rId2"/>
          <a:stretch>
            <a:fillRect/>
          </a:stretch>
        </p:blipFill>
        <p:spPr>
          <a:xfrm>
            <a:off x="914400" y="2578608"/>
            <a:ext cx="292608" cy="292608"/>
          </a:xfrm>
          <a:prstGeom prst="rect">
            <a:avLst/>
          </a:prstGeom>
        </p:spPr>
      </p:pic>
      <p:sp>
        <p:nvSpPr>
          <p:cNvPr id="8" name="Text 5"/>
          <p:cNvSpPr/>
          <p:nvPr/>
        </p:nvSpPr>
        <p:spPr>
          <a:xfrm>
            <a:off x="1527048" y="2404872"/>
            <a:ext cx="4038448"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  Conversational order + confirm</a:t>
            </a:r>
            <a:endParaRPr lang="en-US" sz="1600" dirty="0"/>
          </a:p>
        </p:txBody>
      </p:sp>
      <p:sp>
        <p:nvSpPr>
          <p:cNvPr id="9" name="Text 6"/>
          <p:cNvSpPr/>
          <p:nvPr/>
        </p:nvSpPr>
        <p:spPr>
          <a:xfrm>
            <a:off x="1527048" y="2916936"/>
            <a:ext cx="4038448" cy="868680"/>
          </a:xfrm>
          <a:prstGeom prst="rect">
            <a:avLst/>
          </a:prstGeom>
          <a:noFill/>
          <a:ln/>
        </p:spPr>
        <p:txBody>
          <a:bodyPr wrap="square" lIns="0" tIns="0" rIns="0" bIns="0" rtlCol="0" anchor="t"/>
          <a:lstStyle/>
          <a:p>
            <a:pPr indent="0" marL="0">
              <a:buNone/>
            </a:pPr>
            <a:r>
              <a:rPr lang="en-US" sz="1250" dirty="0">
                <a:solidFill>
                  <a:srgbClr val="D7D3EC"/>
                </a:solidFill>
                <a:latin typeface="Calibri" pitchFamily="34" charset="0"/>
                <a:ea typeface="Calibri" pitchFamily="34" charset="-122"/>
                <a:cs typeface="Calibri" pitchFamily="34" charset="-120"/>
              </a:rPr>
              <a:t>“do you have oreos?” → “place an order” → shows cart → “please confirm” → staged receipt. Never substitutes.</a:t>
            </a:r>
            <a:endParaRPr lang="en-US" sz="1250" dirty="0"/>
          </a:p>
        </p:txBody>
      </p:sp>
      <p:sp>
        <p:nvSpPr>
          <p:cNvPr id="10" name="Shape 7"/>
          <p:cNvSpPr/>
          <p:nvPr/>
        </p:nvSpPr>
        <p:spPr>
          <a:xfrm>
            <a:off x="6370168" y="2148840"/>
            <a:ext cx="5318608" cy="1783080"/>
          </a:xfrm>
          <a:prstGeom prst="roundRect">
            <a:avLst>
              <a:gd name="adj" fmla="val 5128"/>
            </a:avLst>
          </a:prstGeom>
          <a:solidFill>
            <a:srgbClr val="FFFFFF">
              <a:alpha val="10000"/>
            </a:srgbClr>
          </a:solidFill>
          <a:ln w="12700">
            <a:solidFill>
              <a:srgbClr val="FFFFFF"/>
            </a:solidFill>
            <a:prstDash val="solid"/>
          </a:ln>
        </p:spPr>
      </p:sp>
      <p:sp>
        <p:nvSpPr>
          <p:cNvPr id="11" name="Shape 8"/>
          <p:cNvSpPr/>
          <p:nvPr/>
        </p:nvSpPr>
        <p:spPr>
          <a:xfrm>
            <a:off x="6626200" y="2423160"/>
            <a:ext cx="603504" cy="603504"/>
          </a:xfrm>
          <a:prstGeom prst="roundRect">
            <a:avLst>
              <a:gd name="adj" fmla="val 19697"/>
            </a:avLst>
          </a:prstGeom>
          <a:solidFill>
            <a:srgbClr val="E11D48"/>
          </a:solidFill>
          <a:ln/>
        </p:spPr>
      </p:sp>
      <p:pic>
        <p:nvPicPr>
          <p:cNvPr id="12" name="Image 1" descr="icons/camera.png">    </p:cNvPr>
          <p:cNvPicPr>
            <a:picLocks noChangeAspect="1"/>
          </p:cNvPicPr>
          <p:nvPr/>
        </p:nvPicPr>
        <p:blipFill>
          <a:blip r:embed="rId3"/>
          <a:stretch>
            <a:fillRect/>
          </a:stretch>
        </p:blipFill>
        <p:spPr>
          <a:xfrm>
            <a:off x="6781648" y="2578608"/>
            <a:ext cx="292608" cy="292608"/>
          </a:xfrm>
          <a:prstGeom prst="rect">
            <a:avLst/>
          </a:prstGeom>
        </p:spPr>
      </p:pic>
      <p:sp>
        <p:nvSpPr>
          <p:cNvPr id="13" name="Text 9"/>
          <p:cNvSpPr/>
          <p:nvPr/>
        </p:nvSpPr>
        <p:spPr>
          <a:xfrm>
            <a:off x="7394296" y="2404872"/>
            <a:ext cx="4038448"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  See-it, shop-it (Gemini Vision)</a:t>
            </a:r>
            <a:endParaRPr lang="en-US" sz="1600" dirty="0"/>
          </a:p>
        </p:txBody>
      </p:sp>
      <p:sp>
        <p:nvSpPr>
          <p:cNvPr id="14" name="Text 10"/>
          <p:cNvSpPr/>
          <p:nvPr/>
        </p:nvSpPr>
        <p:spPr>
          <a:xfrm>
            <a:off x="7394296" y="2916936"/>
            <a:ext cx="4038448" cy="868680"/>
          </a:xfrm>
          <a:prstGeom prst="rect">
            <a:avLst/>
          </a:prstGeom>
          <a:noFill/>
          <a:ln/>
        </p:spPr>
        <p:txBody>
          <a:bodyPr wrap="square" lIns="0" tIns="0" rIns="0" bIns="0" rtlCol="0" anchor="t"/>
          <a:lstStyle/>
          <a:p>
            <a:pPr indent="0" marL="0">
              <a:buNone/>
            </a:pPr>
            <a:r>
              <a:rPr lang="en-US" sz="1250" dirty="0">
                <a:solidFill>
                  <a:srgbClr val="D7D3EC"/>
                </a:solidFill>
                <a:latin typeface="Calibri" pitchFamily="34" charset="0"/>
                <a:ea typeface="Calibri" pitchFamily="34" charset="-122"/>
                <a:cs typeface="Calibri" pitchFamily="34" charset="-120"/>
              </a:rPr>
              <a:t>Show a real soccer ball → “what's the price?” → “place an order” → confirm. Same model recognizes + reasons + replies.</a:t>
            </a:r>
            <a:endParaRPr lang="en-US" sz="1250" dirty="0"/>
          </a:p>
        </p:txBody>
      </p:sp>
      <p:sp>
        <p:nvSpPr>
          <p:cNvPr id="15" name="Shape 11"/>
          <p:cNvSpPr/>
          <p:nvPr/>
        </p:nvSpPr>
        <p:spPr>
          <a:xfrm>
            <a:off x="502920" y="4251960"/>
            <a:ext cx="5318608" cy="1783080"/>
          </a:xfrm>
          <a:prstGeom prst="roundRect">
            <a:avLst>
              <a:gd name="adj" fmla="val 5128"/>
            </a:avLst>
          </a:prstGeom>
          <a:solidFill>
            <a:srgbClr val="FFFFFF">
              <a:alpha val="10000"/>
            </a:srgbClr>
          </a:solidFill>
          <a:ln w="12700">
            <a:solidFill>
              <a:srgbClr val="FFFFFF"/>
            </a:solidFill>
            <a:prstDash val="solid"/>
          </a:ln>
        </p:spPr>
      </p:sp>
      <p:sp>
        <p:nvSpPr>
          <p:cNvPr id="16" name="Shape 12"/>
          <p:cNvSpPr/>
          <p:nvPr/>
        </p:nvSpPr>
        <p:spPr>
          <a:xfrm>
            <a:off x="758952" y="4526280"/>
            <a:ext cx="603504" cy="603504"/>
          </a:xfrm>
          <a:prstGeom prst="roundRect">
            <a:avLst>
              <a:gd name="adj" fmla="val 19697"/>
            </a:avLst>
          </a:prstGeom>
          <a:solidFill>
            <a:srgbClr val="E11D48"/>
          </a:solidFill>
          <a:ln/>
        </p:spPr>
      </p:sp>
      <p:pic>
        <p:nvPicPr>
          <p:cNvPr id="17" name="Image 2" descr="icons/eye.png">    </p:cNvPr>
          <p:cNvPicPr>
            <a:picLocks noChangeAspect="1"/>
          </p:cNvPicPr>
          <p:nvPr/>
        </p:nvPicPr>
        <p:blipFill>
          <a:blip r:embed="rId4"/>
          <a:stretch>
            <a:fillRect/>
          </a:stretch>
        </p:blipFill>
        <p:spPr>
          <a:xfrm>
            <a:off x="914400" y="4681728"/>
            <a:ext cx="292608" cy="292608"/>
          </a:xfrm>
          <a:prstGeom prst="rect">
            <a:avLst/>
          </a:prstGeom>
        </p:spPr>
      </p:pic>
      <p:sp>
        <p:nvSpPr>
          <p:cNvPr id="18" name="Text 13"/>
          <p:cNvSpPr/>
          <p:nvPr/>
        </p:nvSpPr>
        <p:spPr>
          <a:xfrm>
            <a:off x="1527048" y="4507992"/>
            <a:ext cx="4038448"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3.  Radical transparency (/dev)</a:t>
            </a:r>
            <a:endParaRPr lang="en-US" sz="1600" dirty="0"/>
          </a:p>
        </p:txBody>
      </p:sp>
      <p:sp>
        <p:nvSpPr>
          <p:cNvPr id="19" name="Text 14"/>
          <p:cNvSpPr/>
          <p:nvPr/>
        </p:nvSpPr>
        <p:spPr>
          <a:xfrm>
            <a:off x="1527048" y="5020056"/>
            <a:ext cx="4038448" cy="868680"/>
          </a:xfrm>
          <a:prstGeom prst="rect">
            <a:avLst/>
          </a:prstGeom>
          <a:noFill/>
          <a:ln/>
        </p:spPr>
        <p:txBody>
          <a:bodyPr wrap="square" lIns="0" tIns="0" rIns="0" bIns="0" rtlCol="0" anchor="t"/>
          <a:lstStyle/>
          <a:p>
            <a:pPr indent="0" marL="0">
              <a:buNone/>
            </a:pPr>
            <a:r>
              <a:rPr lang="en-US" sz="1250" dirty="0">
                <a:solidFill>
                  <a:srgbClr val="D7D3EC"/>
                </a:solidFill>
                <a:latin typeface="Calibri" pitchFamily="34" charset="0"/>
                <a:ea typeface="Calibri" pitchFamily="34" charset="-122"/>
                <a:cs typeface="Calibri" pitchFamily="34" charset="-120"/>
              </a:rPr>
              <a:t>Watch the live pipeline: harness → orchestrator → worker → skill → tool → memory. Multilingual + voice in the same thread.</a:t>
            </a:r>
            <a:endParaRPr lang="en-US" sz="1250" dirty="0"/>
          </a:p>
        </p:txBody>
      </p:sp>
      <p:sp>
        <p:nvSpPr>
          <p:cNvPr id="20" name="Shape 15"/>
          <p:cNvSpPr/>
          <p:nvPr/>
        </p:nvSpPr>
        <p:spPr>
          <a:xfrm>
            <a:off x="6370168" y="4251960"/>
            <a:ext cx="5318608" cy="1783080"/>
          </a:xfrm>
          <a:prstGeom prst="roundRect">
            <a:avLst>
              <a:gd name="adj" fmla="val 5128"/>
            </a:avLst>
          </a:prstGeom>
          <a:solidFill>
            <a:srgbClr val="FFFFFF">
              <a:alpha val="10000"/>
            </a:srgbClr>
          </a:solidFill>
          <a:ln w="12700">
            <a:solidFill>
              <a:srgbClr val="FFFFFF"/>
            </a:solidFill>
            <a:prstDash val="solid"/>
          </a:ln>
        </p:spPr>
      </p:sp>
      <p:sp>
        <p:nvSpPr>
          <p:cNvPr id="21" name="Shape 16"/>
          <p:cNvSpPr/>
          <p:nvPr/>
        </p:nvSpPr>
        <p:spPr>
          <a:xfrm>
            <a:off x="6626200" y="4526280"/>
            <a:ext cx="603504" cy="603504"/>
          </a:xfrm>
          <a:prstGeom prst="roundRect">
            <a:avLst>
              <a:gd name="adj" fmla="val 19697"/>
            </a:avLst>
          </a:prstGeom>
          <a:solidFill>
            <a:srgbClr val="E11D48"/>
          </a:solidFill>
          <a:ln/>
        </p:spPr>
      </p:sp>
      <p:pic>
        <p:nvPicPr>
          <p:cNvPr id="22" name="Image 3" descr="icons/shield.png">    </p:cNvPr>
          <p:cNvPicPr>
            <a:picLocks noChangeAspect="1"/>
          </p:cNvPicPr>
          <p:nvPr/>
        </p:nvPicPr>
        <p:blipFill>
          <a:blip r:embed="rId5"/>
          <a:stretch>
            <a:fillRect/>
          </a:stretch>
        </p:blipFill>
        <p:spPr>
          <a:xfrm>
            <a:off x="6781648" y="4681728"/>
            <a:ext cx="292608" cy="292608"/>
          </a:xfrm>
          <a:prstGeom prst="rect">
            <a:avLst/>
          </a:prstGeom>
        </p:spPr>
      </p:pic>
      <p:sp>
        <p:nvSpPr>
          <p:cNvPr id="23" name="Text 17"/>
          <p:cNvSpPr/>
          <p:nvPr/>
        </p:nvSpPr>
        <p:spPr>
          <a:xfrm>
            <a:off x="7394296" y="4507992"/>
            <a:ext cx="4038448"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4.  Self-healing (the finale)</a:t>
            </a:r>
            <a:endParaRPr lang="en-US" sz="1600" dirty="0"/>
          </a:p>
        </p:txBody>
      </p:sp>
      <p:sp>
        <p:nvSpPr>
          <p:cNvPr id="24" name="Text 18"/>
          <p:cNvSpPr/>
          <p:nvPr/>
        </p:nvSpPr>
        <p:spPr>
          <a:xfrm>
            <a:off x="7394296" y="5020056"/>
            <a:ext cx="4038448" cy="868680"/>
          </a:xfrm>
          <a:prstGeom prst="rect">
            <a:avLst/>
          </a:prstGeom>
          <a:noFill/>
          <a:ln/>
        </p:spPr>
        <p:txBody>
          <a:bodyPr wrap="square" lIns="0" tIns="0" rIns="0" bIns="0" rtlCol="0" anchor="t"/>
          <a:lstStyle/>
          <a:p>
            <a:pPr indent="0" marL="0">
              <a:buNone/>
            </a:pPr>
            <a:r>
              <a:rPr lang="en-US" sz="1250" dirty="0">
                <a:solidFill>
                  <a:srgbClr val="D7D3EC"/>
                </a:solidFill>
                <a:latin typeface="Calibri" pitchFamily="34" charset="0"/>
                <a:ea typeface="Calibri" pitchFamily="34" charset="-122"/>
                <a:cs typeface="Calibri" pitchFamily="34" charset="-120"/>
              </a:rPr>
              <a:t>💥 Kill Vertex → DETECT → DIAGNOSE → REMEDIATE → VERIFY → restore. Isolated; never touches live flows.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HOW GOOPHER MEETS THE FOUR HARD REQUIREMENTS</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Sub-agents + context · multilingual · multichannel · multimodal</a:t>
            </a:r>
            <a:endParaRPr lang="en-US" sz="2800" dirty="0"/>
          </a:p>
        </p:txBody>
      </p:sp>
      <p:sp>
        <p:nvSpPr>
          <p:cNvPr id="4" name="Shape 2"/>
          <p:cNvSpPr/>
          <p:nvPr/>
        </p:nvSpPr>
        <p:spPr>
          <a:xfrm>
            <a:off x="502920" y="1783080"/>
            <a:ext cx="5318608" cy="2057400"/>
          </a:xfrm>
          <a:prstGeom prst="roundRect">
            <a:avLst>
              <a:gd name="adj" fmla="val 4000"/>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5" name="Shape 3"/>
          <p:cNvSpPr/>
          <p:nvPr/>
        </p:nvSpPr>
        <p:spPr>
          <a:xfrm>
            <a:off x="740664" y="2002536"/>
            <a:ext cx="566928" cy="566928"/>
          </a:xfrm>
          <a:prstGeom prst="roundRect">
            <a:avLst>
              <a:gd name="adj" fmla="val 19355"/>
            </a:avLst>
          </a:prstGeom>
          <a:solidFill>
            <a:srgbClr val="2563EB"/>
          </a:solidFill>
          <a:ln/>
        </p:spPr>
      </p:sp>
      <p:pic>
        <p:nvPicPr>
          <p:cNvPr id="6" name="Image 0" descr="icons/sitemap.png">    </p:cNvPr>
          <p:cNvPicPr>
            <a:picLocks noChangeAspect="1"/>
          </p:cNvPicPr>
          <p:nvPr/>
        </p:nvPicPr>
        <p:blipFill>
          <a:blip r:embed="rId1"/>
          <a:stretch>
            <a:fillRect/>
          </a:stretch>
        </p:blipFill>
        <p:spPr>
          <a:xfrm>
            <a:off x="877824" y="2139696"/>
            <a:ext cx="292608" cy="292608"/>
          </a:xfrm>
          <a:prstGeom prst="rect">
            <a:avLst/>
          </a:prstGeom>
        </p:spPr>
      </p:pic>
      <p:sp>
        <p:nvSpPr>
          <p:cNvPr id="7" name="Text 4"/>
          <p:cNvSpPr/>
          <p:nvPr/>
        </p:nvSpPr>
        <p:spPr>
          <a:xfrm>
            <a:off x="1490472" y="1984248"/>
            <a:ext cx="4129888" cy="603504"/>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Sub-agents &amp; context</a:t>
            </a:r>
            <a:endParaRPr lang="en-US" sz="1550" dirty="0"/>
          </a:p>
        </p:txBody>
      </p:sp>
      <p:sp>
        <p:nvSpPr>
          <p:cNvPr id="8" name="Text 5"/>
          <p:cNvSpPr/>
          <p:nvPr/>
        </p:nvSpPr>
        <p:spPr>
          <a:xfrm>
            <a:off x="758952" y="2679192"/>
            <a:ext cx="4861408" cy="101498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ROOT orchestrator → inventory/order/checkout/fulfillment workers (agent-as-tool).</a:t>
            </a:r>
            <a:endParaRPr lang="en-US" sz="1200" dirty="0"/>
          </a:p>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One session store keyed by session_id (Firestore, durable) shared by all agents.</a:t>
            </a:r>
            <a:endParaRPr lang="en-US" sz="1200" dirty="0"/>
          </a:p>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“is it in navy?” → “order it” resolves across turns; survives autoscaling.</a:t>
            </a:r>
            <a:endParaRPr lang="en-US" sz="1200" dirty="0"/>
          </a:p>
        </p:txBody>
      </p:sp>
      <p:sp>
        <p:nvSpPr>
          <p:cNvPr id="9" name="Shape 6"/>
          <p:cNvSpPr/>
          <p:nvPr/>
        </p:nvSpPr>
        <p:spPr>
          <a:xfrm>
            <a:off x="6370168" y="1783080"/>
            <a:ext cx="5318608" cy="2057400"/>
          </a:xfrm>
          <a:prstGeom prst="roundRect">
            <a:avLst>
              <a:gd name="adj" fmla="val 4000"/>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0" name="Shape 7"/>
          <p:cNvSpPr/>
          <p:nvPr/>
        </p:nvSpPr>
        <p:spPr>
          <a:xfrm>
            <a:off x="6607912" y="2002536"/>
            <a:ext cx="566928" cy="566928"/>
          </a:xfrm>
          <a:prstGeom prst="roundRect">
            <a:avLst>
              <a:gd name="adj" fmla="val 19355"/>
            </a:avLst>
          </a:prstGeom>
          <a:solidFill>
            <a:srgbClr val="7C3AED"/>
          </a:solidFill>
          <a:ln/>
        </p:spPr>
      </p:sp>
      <p:pic>
        <p:nvPicPr>
          <p:cNvPr id="11" name="Image 1" descr="icons/globe.png">    </p:cNvPr>
          <p:cNvPicPr>
            <a:picLocks noChangeAspect="1"/>
          </p:cNvPicPr>
          <p:nvPr/>
        </p:nvPicPr>
        <p:blipFill>
          <a:blip r:embed="rId2"/>
          <a:stretch>
            <a:fillRect/>
          </a:stretch>
        </p:blipFill>
        <p:spPr>
          <a:xfrm>
            <a:off x="6745072" y="2139696"/>
            <a:ext cx="292608" cy="292608"/>
          </a:xfrm>
          <a:prstGeom prst="rect">
            <a:avLst/>
          </a:prstGeom>
        </p:spPr>
      </p:pic>
      <p:sp>
        <p:nvSpPr>
          <p:cNvPr id="12" name="Text 8"/>
          <p:cNvSpPr/>
          <p:nvPr/>
        </p:nvSpPr>
        <p:spPr>
          <a:xfrm>
            <a:off x="7357720" y="1984248"/>
            <a:ext cx="4129888" cy="603504"/>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Multi-lingual</a:t>
            </a:r>
            <a:endParaRPr lang="en-US" sz="1550" dirty="0"/>
          </a:p>
        </p:txBody>
      </p:sp>
      <p:sp>
        <p:nvSpPr>
          <p:cNvPr id="13" name="Text 9"/>
          <p:cNvSpPr/>
          <p:nvPr/>
        </p:nvSpPr>
        <p:spPr>
          <a:xfrm>
            <a:off x="6626200" y="2679192"/>
            <a:ext cx="4861408" cy="101498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Per-turn language detection; the language is remembered and carried.</a:t>
            </a:r>
            <a:endParaRPr lang="en-US" sz="1200" dirty="0"/>
          </a:p>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Start Web/English, continue Phone/Spanish — same thread, same memory.</a:t>
            </a:r>
            <a:endParaRPr lang="en-US" sz="1200" dirty="0"/>
          </a:p>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Extensible to Vertex Translation for long-tail locales.</a:t>
            </a:r>
            <a:endParaRPr lang="en-US" sz="1200" dirty="0"/>
          </a:p>
        </p:txBody>
      </p:sp>
      <p:sp>
        <p:nvSpPr>
          <p:cNvPr id="14" name="Shape 10"/>
          <p:cNvSpPr/>
          <p:nvPr/>
        </p:nvSpPr>
        <p:spPr>
          <a:xfrm>
            <a:off x="502920" y="4114800"/>
            <a:ext cx="5318608" cy="2057400"/>
          </a:xfrm>
          <a:prstGeom prst="roundRect">
            <a:avLst>
              <a:gd name="adj" fmla="val 4000"/>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5" name="Shape 11"/>
          <p:cNvSpPr/>
          <p:nvPr/>
        </p:nvSpPr>
        <p:spPr>
          <a:xfrm>
            <a:off x="740664" y="4334256"/>
            <a:ext cx="566928" cy="566928"/>
          </a:xfrm>
          <a:prstGeom prst="roundRect">
            <a:avLst>
              <a:gd name="adj" fmla="val 19355"/>
            </a:avLst>
          </a:prstGeom>
          <a:solidFill>
            <a:srgbClr val="0D9488"/>
          </a:solidFill>
          <a:ln/>
        </p:spPr>
      </p:sp>
      <p:pic>
        <p:nvPicPr>
          <p:cNvPr id="16" name="Image 2" descr="icons/mobile.png">    </p:cNvPr>
          <p:cNvPicPr>
            <a:picLocks noChangeAspect="1"/>
          </p:cNvPicPr>
          <p:nvPr/>
        </p:nvPicPr>
        <p:blipFill>
          <a:blip r:embed="rId3"/>
          <a:stretch>
            <a:fillRect/>
          </a:stretch>
        </p:blipFill>
        <p:spPr>
          <a:xfrm>
            <a:off x="877824" y="4471416"/>
            <a:ext cx="292608" cy="292608"/>
          </a:xfrm>
          <a:prstGeom prst="rect">
            <a:avLst/>
          </a:prstGeom>
        </p:spPr>
      </p:pic>
      <p:sp>
        <p:nvSpPr>
          <p:cNvPr id="17" name="Text 12"/>
          <p:cNvSpPr/>
          <p:nvPr/>
        </p:nvSpPr>
        <p:spPr>
          <a:xfrm>
            <a:off x="1490472" y="4315968"/>
            <a:ext cx="4129888" cy="603504"/>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Multi-channel</a:t>
            </a:r>
            <a:endParaRPr lang="en-US" sz="1550" dirty="0"/>
          </a:p>
        </p:txBody>
      </p:sp>
      <p:sp>
        <p:nvSpPr>
          <p:cNvPr id="18" name="Text 13"/>
          <p:cNvSpPr/>
          <p:nvPr/>
        </p:nvSpPr>
        <p:spPr>
          <a:xfrm>
            <a:off x="758952" y="5010912"/>
            <a:ext cx="4861408" cy="101498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Web side-panel + a Phone (voice) channel rendered as a mobile simulator.</a:t>
            </a:r>
            <a:endParaRPr lang="en-US" sz="1200" dirty="0"/>
          </a:p>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Channel-aware formatting (voice-safe text for phone).</a:t>
            </a:r>
            <a:endParaRPr lang="en-US" sz="1200" dirty="0"/>
          </a:p>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Path to telephony / CCAI for true phone &amp; SMS.</a:t>
            </a:r>
            <a:endParaRPr lang="en-US" sz="1200" dirty="0"/>
          </a:p>
        </p:txBody>
      </p:sp>
      <p:sp>
        <p:nvSpPr>
          <p:cNvPr id="19" name="Shape 14"/>
          <p:cNvSpPr/>
          <p:nvPr/>
        </p:nvSpPr>
        <p:spPr>
          <a:xfrm>
            <a:off x="6370168" y="4114800"/>
            <a:ext cx="5318608" cy="2057400"/>
          </a:xfrm>
          <a:prstGeom prst="roundRect">
            <a:avLst>
              <a:gd name="adj" fmla="val 4000"/>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0" name="Shape 15"/>
          <p:cNvSpPr/>
          <p:nvPr/>
        </p:nvSpPr>
        <p:spPr>
          <a:xfrm>
            <a:off x="6607912" y="4334256"/>
            <a:ext cx="566928" cy="566928"/>
          </a:xfrm>
          <a:prstGeom prst="roundRect">
            <a:avLst>
              <a:gd name="adj" fmla="val 19355"/>
            </a:avLst>
          </a:prstGeom>
          <a:solidFill>
            <a:srgbClr val="E11D48"/>
          </a:solidFill>
          <a:ln/>
        </p:spPr>
      </p:sp>
      <p:pic>
        <p:nvPicPr>
          <p:cNvPr id="21" name="Image 3" descr="icons/layers.png">    </p:cNvPr>
          <p:cNvPicPr>
            <a:picLocks noChangeAspect="1"/>
          </p:cNvPicPr>
          <p:nvPr/>
        </p:nvPicPr>
        <p:blipFill>
          <a:blip r:embed="rId4"/>
          <a:stretch>
            <a:fillRect/>
          </a:stretch>
        </p:blipFill>
        <p:spPr>
          <a:xfrm>
            <a:off x="6745072" y="4471416"/>
            <a:ext cx="292608" cy="292608"/>
          </a:xfrm>
          <a:prstGeom prst="rect">
            <a:avLst/>
          </a:prstGeom>
        </p:spPr>
      </p:pic>
      <p:sp>
        <p:nvSpPr>
          <p:cNvPr id="22" name="Text 16"/>
          <p:cNvSpPr/>
          <p:nvPr/>
        </p:nvSpPr>
        <p:spPr>
          <a:xfrm>
            <a:off x="7357720" y="4315968"/>
            <a:ext cx="4129888" cy="603504"/>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Multi-modal</a:t>
            </a:r>
            <a:endParaRPr lang="en-US" sz="1550" dirty="0"/>
          </a:p>
        </p:txBody>
      </p:sp>
      <p:sp>
        <p:nvSpPr>
          <p:cNvPr id="23" name="Text 17"/>
          <p:cNvSpPr/>
          <p:nvPr/>
        </p:nvSpPr>
        <p:spPr>
          <a:xfrm>
            <a:off x="6626200" y="5010912"/>
            <a:ext cx="4861408" cy="101498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Text, voice (browser STT + TTS), file upload (e.g. bulk order CSV).</a:t>
            </a:r>
            <a:endParaRPr lang="en-US" sz="1200" dirty="0"/>
          </a:p>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Camera “see-it-shop-it” — a dedicated Gemini Vision agent.</a:t>
            </a:r>
            <a:endParaRPr lang="en-US" sz="1200" dirty="0"/>
          </a:p>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Each modality detected deterministically, then routed.</a:t>
            </a:r>
            <a:endParaRPr lang="en-US" sz="1200" dirty="0"/>
          </a:p>
        </p:txBody>
      </p:sp>
      <p:sp>
        <p:nvSpPr>
          <p:cNvPr id="24" name="Text 18"/>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25" name="Text 19"/>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ARCHITECTURAL DECISIONS &amp; TRADE-OFFS</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Why this custom design — defending the engineering choices</a:t>
            </a:r>
            <a:endParaRPr lang="en-US" sz="2800" dirty="0"/>
          </a:p>
        </p:txBody>
      </p:sp>
      <p:sp>
        <p:nvSpPr>
          <p:cNvPr id="4" name="Shape 2"/>
          <p:cNvSpPr/>
          <p:nvPr/>
        </p:nvSpPr>
        <p:spPr>
          <a:xfrm>
            <a:off x="502920" y="1737360"/>
            <a:ext cx="5364328" cy="1280160"/>
          </a:xfrm>
          <a:prstGeom prst="roundRect">
            <a:avLst>
              <a:gd name="adj" fmla="val 571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5" name="Shape 3"/>
          <p:cNvSpPr/>
          <p:nvPr/>
        </p:nvSpPr>
        <p:spPr>
          <a:xfrm>
            <a:off x="685800" y="1938528"/>
            <a:ext cx="457200" cy="457200"/>
          </a:xfrm>
          <a:prstGeom prst="roundRect">
            <a:avLst>
              <a:gd name="adj" fmla="val 20000"/>
            </a:avLst>
          </a:prstGeom>
          <a:solidFill>
            <a:srgbClr val="7C3AED"/>
          </a:solidFill>
          <a:ln/>
        </p:spPr>
      </p:sp>
      <p:pic>
        <p:nvPicPr>
          <p:cNvPr id="6" name="Image 0" descr="icons/lock.png">    </p:cNvPr>
          <p:cNvPicPr>
            <a:picLocks noChangeAspect="1"/>
          </p:cNvPicPr>
          <p:nvPr/>
        </p:nvPicPr>
        <p:blipFill>
          <a:blip r:embed="rId1"/>
          <a:stretch>
            <a:fillRect/>
          </a:stretch>
        </p:blipFill>
        <p:spPr>
          <a:xfrm>
            <a:off x="795528" y="2048256"/>
            <a:ext cx="237744" cy="237744"/>
          </a:xfrm>
          <a:prstGeom prst="rect">
            <a:avLst/>
          </a:prstGeom>
        </p:spPr>
      </p:pic>
      <p:sp>
        <p:nvSpPr>
          <p:cNvPr id="7" name="Text 4"/>
          <p:cNvSpPr/>
          <p:nvPr/>
        </p:nvSpPr>
        <p:spPr>
          <a:xfrm>
            <a:off x="1252728" y="1883664"/>
            <a:ext cx="4449928"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Deterministic transactional gate</a:t>
            </a:r>
            <a:endParaRPr lang="en-US" sz="1350" dirty="0"/>
          </a:p>
        </p:txBody>
      </p:sp>
      <p:sp>
        <p:nvSpPr>
          <p:cNvPr id="8" name="Text 5"/>
          <p:cNvSpPr/>
          <p:nvPr/>
        </p:nvSpPr>
        <p:spPr>
          <a:xfrm>
            <a:off x="1252728" y="2167128"/>
            <a:ext cx="4449928" cy="237744"/>
          </a:xfrm>
          <a:prstGeom prst="rect">
            <a:avLst/>
          </a:prstGeom>
          <a:noFill/>
          <a:ln/>
        </p:spPr>
        <p:txBody>
          <a:bodyPr wrap="square" lIns="0" tIns="0" rIns="0" bIns="0" rtlCol="0" anchor="ctr"/>
          <a:lstStyle/>
          <a:p>
            <a:pPr indent="0" marL="0">
              <a:buNone/>
            </a:pPr>
            <a:r>
              <a:rPr lang="en-US" sz="1050" i="1" dirty="0">
                <a:solidFill>
                  <a:srgbClr val="E11D48"/>
                </a:solidFill>
                <a:latin typeface="Calibri" pitchFamily="34" charset="0"/>
                <a:ea typeface="Calibri" pitchFamily="34" charset="-122"/>
                <a:cs typeface="Calibri" pitchFamily="34" charset="-120"/>
              </a:rPr>
              <a:t>Chosen over: </a:t>
            </a:r>
            <a:pPr indent="0" marL="0">
              <a:buNone/>
            </a:pPr>
            <a:r>
              <a:rPr lang="en-US" sz="1050" i="1" dirty="0">
                <a:solidFill>
                  <a:srgbClr val="8A94A6"/>
                </a:solidFill>
                <a:latin typeface="Calibri" pitchFamily="34" charset="0"/>
                <a:ea typeface="Calibri" pitchFamily="34" charset="-122"/>
                <a:cs typeface="Calibri" pitchFamily="34" charset="-120"/>
              </a:rPr>
              <a:t>LLM places orders end-to-end</a:t>
            </a:r>
            <a:endParaRPr lang="en-US" sz="1050" dirty="0"/>
          </a:p>
        </p:txBody>
      </p:sp>
      <p:sp>
        <p:nvSpPr>
          <p:cNvPr id="9" name="Text 6"/>
          <p:cNvSpPr/>
          <p:nvPr/>
        </p:nvSpPr>
        <p:spPr>
          <a:xfrm>
            <a:off x="704088" y="2450592"/>
            <a:ext cx="4980280" cy="512064"/>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“LLM orchestrates, code transacts.” Money/inventory actions are structured, auditable, reproducible — never a hallucinated purchase.</a:t>
            </a:r>
            <a:endParaRPr lang="en-US" sz="1100" dirty="0"/>
          </a:p>
        </p:txBody>
      </p:sp>
      <p:sp>
        <p:nvSpPr>
          <p:cNvPr id="10" name="Shape 7"/>
          <p:cNvSpPr/>
          <p:nvPr/>
        </p:nvSpPr>
        <p:spPr>
          <a:xfrm>
            <a:off x="6324448" y="1737360"/>
            <a:ext cx="5364328" cy="1280160"/>
          </a:xfrm>
          <a:prstGeom prst="roundRect">
            <a:avLst>
              <a:gd name="adj" fmla="val 571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1" name="Shape 8"/>
          <p:cNvSpPr/>
          <p:nvPr/>
        </p:nvSpPr>
        <p:spPr>
          <a:xfrm>
            <a:off x="6507328" y="1938528"/>
            <a:ext cx="457200" cy="457200"/>
          </a:xfrm>
          <a:prstGeom prst="roundRect">
            <a:avLst>
              <a:gd name="adj" fmla="val 20000"/>
            </a:avLst>
          </a:prstGeom>
          <a:solidFill>
            <a:srgbClr val="7C3AED"/>
          </a:solidFill>
          <a:ln/>
        </p:spPr>
      </p:sp>
      <p:pic>
        <p:nvPicPr>
          <p:cNvPr id="12" name="Image 1" descr="icons/sitemap.png">    </p:cNvPr>
          <p:cNvPicPr>
            <a:picLocks noChangeAspect="1"/>
          </p:cNvPicPr>
          <p:nvPr/>
        </p:nvPicPr>
        <p:blipFill>
          <a:blip r:embed="rId2"/>
          <a:stretch>
            <a:fillRect/>
          </a:stretch>
        </p:blipFill>
        <p:spPr>
          <a:xfrm>
            <a:off x="6617056" y="2048256"/>
            <a:ext cx="237744" cy="237744"/>
          </a:xfrm>
          <a:prstGeom prst="rect">
            <a:avLst/>
          </a:prstGeom>
        </p:spPr>
      </p:pic>
      <p:sp>
        <p:nvSpPr>
          <p:cNvPr id="13" name="Text 9"/>
          <p:cNvSpPr/>
          <p:nvPr/>
        </p:nvSpPr>
        <p:spPr>
          <a:xfrm>
            <a:off x="7074256" y="1883664"/>
            <a:ext cx="4449928"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Agent-as-tool (not transfer)</a:t>
            </a:r>
            <a:endParaRPr lang="en-US" sz="1350" dirty="0"/>
          </a:p>
        </p:txBody>
      </p:sp>
      <p:sp>
        <p:nvSpPr>
          <p:cNvPr id="14" name="Text 10"/>
          <p:cNvSpPr/>
          <p:nvPr/>
        </p:nvSpPr>
        <p:spPr>
          <a:xfrm>
            <a:off x="7074256" y="2167128"/>
            <a:ext cx="4449928" cy="237744"/>
          </a:xfrm>
          <a:prstGeom prst="rect">
            <a:avLst/>
          </a:prstGeom>
          <a:noFill/>
          <a:ln/>
        </p:spPr>
        <p:txBody>
          <a:bodyPr wrap="square" lIns="0" tIns="0" rIns="0" bIns="0" rtlCol="0" anchor="ctr"/>
          <a:lstStyle/>
          <a:p>
            <a:pPr indent="0" marL="0">
              <a:buNone/>
            </a:pPr>
            <a:r>
              <a:rPr lang="en-US" sz="1050" i="1" dirty="0">
                <a:solidFill>
                  <a:srgbClr val="E11D48"/>
                </a:solidFill>
                <a:latin typeface="Calibri" pitchFamily="34" charset="0"/>
                <a:ea typeface="Calibri" pitchFamily="34" charset="-122"/>
                <a:cs typeface="Calibri" pitchFamily="34" charset="-120"/>
              </a:rPr>
              <a:t>Chosen over: </a:t>
            </a:r>
            <a:pPr indent="0" marL="0">
              <a:buNone/>
            </a:pPr>
            <a:r>
              <a:rPr lang="en-US" sz="1050" i="1" dirty="0">
                <a:solidFill>
                  <a:srgbClr val="8A94A6"/>
                </a:solidFill>
                <a:latin typeface="Calibri" pitchFamily="34" charset="0"/>
                <a:ea typeface="Calibri" pitchFamily="34" charset="-122"/>
                <a:cs typeface="Calibri" pitchFamily="34" charset="-120"/>
              </a:rPr>
              <a:t>sub_agents / transfer handoff</a:t>
            </a:r>
            <a:endParaRPr lang="en-US" sz="1050" dirty="0"/>
          </a:p>
        </p:txBody>
      </p:sp>
      <p:sp>
        <p:nvSpPr>
          <p:cNvPr id="15" name="Text 11"/>
          <p:cNvSpPr/>
          <p:nvPr/>
        </p:nvSpPr>
        <p:spPr>
          <a:xfrm>
            <a:off x="6525616" y="2450592"/>
            <a:ext cx="4980280" cy="512064"/>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Orchestrator stays in control &amp; composes the reply; workers can't transfer back → delegation loops are impossible by construction.</a:t>
            </a:r>
            <a:endParaRPr lang="en-US" sz="1100" dirty="0"/>
          </a:p>
        </p:txBody>
      </p:sp>
      <p:sp>
        <p:nvSpPr>
          <p:cNvPr id="16" name="Shape 12"/>
          <p:cNvSpPr/>
          <p:nvPr/>
        </p:nvSpPr>
        <p:spPr>
          <a:xfrm>
            <a:off x="502920" y="3182112"/>
            <a:ext cx="5364328" cy="1280160"/>
          </a:xfrm>
          <a:prstGeom prst="roundRect">
            <a:avLst>
              <a:gd name="adj" fmla="val 571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7" name="Shape 13"/>
          <p:cNvSpPr/>
          <p:nvPr/>
        </p:nvSpPr>
        <p:spPr>
          <a:xfrm>
            <a:off x="685800" y="3383280"/>
            <a:ext cx="457200" cy="457200"/>
          </a:xfrm>
          <a:prstGeom prst="roundRect">
            <a:avLst>
              <a:gd name="adj" fmla="val 20000"/>
            </a:avLst>
          </a:prstGeom>
          <a:solidFill>
            <a:srgbClr val="7C3AED"/>
          </a:solidFill>
          <a:ln/>
        </p:spPr>
      </p:sp>
      <p:pic>
        <p:nvPicPr>
          <p:cNvPr id="18" name="Image 2" descr="icons/cog.png">    </p:cNvPr>
          <p:cNvPicPr>
            <a:picLocks noChangeAspect="1"/>
          </p:cNvPicPr>
          <p:nvPr/>
        </p:nvPicPr>
        <p:blipFill>
          <a:blip r:embed="rId3"/>
          <a:stretch>
            <a:fillRect/>
          </a:stretch>
        </p:blipFill>
        <p:spPr>
          <a:xfrm>
            <a:off x="795528" y="3493008"/>
            <a:ext cx="237744" cy="237744"/>
          </a:xfrm>
          <a:prstGeom prst="rect">
            <a:avLst/>
          </a:prstGeom>
        </p:spPr>
      </p:pic>
      <p:sp>
        <p:nvSpPr>
          <p:cNvPr id="19" name="Text 14"/>
          <p:cNvSpPr/>
          <p:nvPr/>
        </p:nvSpPr>
        <p:spPr>
          <a:xfrm>
            <a:off x="1252728" y="3328416"/>
            <a:ext cx="4449928"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Deterministic pre-processing</a:t>
            </a:r>
            <a:endParaRPr lang="en-US" sz="1350" dirty="0"/>
          </a:p>
        </p:txBody>
      </p:sp>
      <p:sp>
        <p:nvSpPr>
          <p:cNvPr id="20" name="Text 15"/>
          <p:cNvSpPr/>
          <p:nvPr/>
        </p:nvSpPr>
        <p:spPr>
          <a:xfrm>
            <a:off x="1252728" y="3611880"/>
            <a:ext cx="4449928" cy="237744"/>
          </a:xfrm>
          <a:prstGeom prst="rect">
            <a:avLst/>
          </a:prstGeom>
          <a:noFill/>
          <a:ln/>
        </p:spPr>
        <p:txBody>
          <a:bodyPr wrap="square" lIns="0" tIns="0" rIns="0" bIns="0" rtlCol="0" anchor="ctr"/>
          <a:lstStyle/>
          <a:p>
            <a:pPr indent="0" marL="0">
              <a:buNone/>
            </a:pPr>
            <a:r>
              <a:rPr lang="en-US" sz="1050" i="1" dirty="0">
                <a:solidFill>
                  <a:srgbClr val="E11D48"/>
                </a:solidFill>
                <a:latin typeface="Calibri" pitchFamily="34" charset="0"/>
                <a:ea typeface="Calibri" pitchFamily="34" charset="-122"/>
                <a:cs typeface="Calibri" pitchFamily="34" charset="-120"/>
              </a:rPr>
              <a:t>Chosen over: </a:t>
            </a:r>
            <a:pPr indent="0" marL="0">
              <a:buNone/>
            </a:pPr>
            <a:r>
              <a:rPr lang="en-US" sz="1050" i="1" dirty="0">
                <a:solidFill>
                  <a:srgbClr val="8A94A6"/>
                </a:solidFill>
                <a:latin typeface="Calibri" pitchFamily="34" charset="0"/>
                <a:ea typeface="Calibri" pitchFamily="34" charset="-122"/>
                <a:cs typeface="Calibri" pitchFamily="34" charset="-120"/>
              </a:rPr>
              <a:t>modality/lang/channel as LLM agents</a:t>
            </a:r>
            <a:endParaRPr lang="en-US" sz="1050" dirty="0"/>
          </a:p>
        </p:txBody>
      </p:sp>
      <p:sp>
        <p:nvSpPr>
          <p:cNvPr id="21" name="Text 16"/>
          <p:cNvSpPr/>
          <p:nvPr/>
        </p:nvSpPr>
        <p:spPr>
          <a:xfrm>
            <a:off x="704088" y="3895344"/>
            <a:ext cx="4980280" cy="512064"/>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We tried LLM agents — they failed for zero benefit. Detecting language needs no intelligence; plain code is reliable &amp; free.</a:t>
            </a:r>
            <a:endParaRPr lang="en-US" sz="1100" dirty="0"/>
          </a:p>
        </p:txBody>
      </p:sp>
      <p:sp>
        <p:nvSpPr>
          <p:cNvPr id="22" name="Shape 17"/>
          <p:cNvSpPr/>
          <p:nvPr/>
        </p:nvSpPr>
        <p:spPr>
          <a:xfrm>
            <a:off x="6324448" y="3182112"/>
            <a:ext cx="5364328" cy="1280160"/>
          </a:xfrm>
          <a:prstGeom prst="roundRect">
            <a:avLst>
              <a:gd name="adj" fmla="val 571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3" name="Shape 18"/>
          <p:cNvSpPr/>
          <p:nvPr/>
        </p:nvSpPr>
        <p:spPr>
          <a:xfrm>
            <a:off x="6507328" y="3383280"/>
            <a:ext cx="457200" cy="457200"/>
          </a:xfrm>
          <a:prstGeom prst="roundRect">
            <a:avLst>
              <a:gd name="adj" fmla="val 20000"/>
            </a:avLst>
          </a:prstGeom>
          <a:solidFill>
            <a:srgbClr val="7C3AED"/>
          </a:solidFill>
          <a:ln/>
        </p:spPr>
      </p:sp>
      <p:pic>
        <p:nvPicPr>
          <p:cNvPr id="24" name="Image 3" descr="icons/brain.png">    </p:cNvPr>
          <p:cNvPicPr>
            <a:picLocks noChangeAspect="1"/>
          </p:cNvPicPr>
          <p:nvPr/>
        </p:nvPicPr>
        <p:blipFill>
          <a:blip r:embed="rId4"/>
          <a:stretch>
            <a:fillRect/>
          </a:stretch>
        </p:blipFill>
        <p:spPr>
          <a:xfrm>
            <a:off x="6617056" y="3493008"/>
            <a:ext cx="237744" cy="237744"/>
          </a:xfrm>
          <a:prstGeom prst="rect">
            <a:avLst/>
          </a:prstGeom>
        </p:spPr>
      </p:pic>
      <p:sp>
        <p:nvSpPr>
          <p:cNvPr id="25" name="Text 19"/>
          <p:cNvSpPr/>
          <p:nvPr/>
        </p:nvSpPr>
        <p:spPr>
          <a:xfrm>
            <a:off x="7074256" y="3328416"/>
            <a:ext cx="4449928"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Native function-calling + targeted ReAct</a:t>
            </a:r>
            <a:endParaRPr lang="en-US" sz="1350" dirty="0"/>
          </a:p>
        </p:txBody>
      </p:sp>
      <p:sp>
        <p:nvSpPr>
          <p:cNvPr id="26" name="Text 20"/>
          <p:cNvSpPr/>
          <p:nvPr/>
        </p:nvSpPr>
        <p:spPr>
          <a:xfrm>
            <a:off x="7074256" y="3611880"/>
            <a:ext cx="4449928" cy="237744"/>
          </a:xfrm>
          <a:prstGeom prst="rect">
            <a:avLst/>
          </a:prstGeom>
          <a:noFill/>
          <a:ln/>
        </p:spPr>
        <p:txBody>
          <a:bodyPr wrap="square" lIns="0" tIns="0" rIns="0" bIns="0" rtlCol="0" anchor="ctr"/>
          <a:lstStyle/>
          <a:p>
            <a:pPr indent="0" marL="0">
              <a:buNone/>
            </a:pPr>
            <a:r>
              <a:rPr lang="en-US" sz="1050" i="1" dirty="0">
                <a:solidFill>
                  <a:srgbClr val="E11D48"/>
                </a:solidFill>
                <a:latin typeface="Calibri" pitchFamily="34" charset="0"/>
                <a:ea typeface="Calibri" pitchFamily="34" charset="-122"/>
                <a:cs typeface="Calibri" pitchFamily="34" charset="-120"/>
              </a:rPr>
              <a:t>Chosen over: </a:t>
            </a:r>
            <a:pPr indent="0" marL="0">
              <a:buNone/>
            </a:pPr>
            <a:r>
              <a:rPr lang="en-US" sz="1050" i="1" dirty="0">
                <a:solidFill>
                  <a:srgbClr val="8A94A6"/>
                </a:solidFill>
                <a:latin typeface="Calibri" pitchFamily="34" charset="0"/>
                <a:ea typeface="Calibri" pitchFamily="34" charset="-122"/>
                <a:cs typeface="Calibri" pitchFamily="34" charset="-120"/>
              </a:rPr>
              <a:t>PlanReActPlanner everywhere</a:t>
            </a:r>
            <a:endParaRPr lang="en-US" sz="1050" dirty="0"/>
          </a:p>
        </p:txBody>
      </p:sp>
      <p:sp>
        <p:nvSpPr>
          <p:cNvPr id="27" name="Text 21"/>
          <p:cNvSpPr/>
          <p:nvPr/>
        </p:nvSpPr>
        <p:spPr>
          <a:xfrm>
            <a:off x="6525616" y="3895344"/>
            <a:ext cx="4980280" cy="512064"/>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Native tool-calling for production (reliable, fast); explicit ReAct only for the read-only advisor, where the visible plan adds value.</a:t>
            </a:r>
            <a:endParaRPr lang="en-US" sz="1100" dirty="0"/>
          </a:p>
        </p:txBody>
      </p:sp>
      <p:sp>
        <p:nvSpPr>
          <p:cNvPr id="28" name="Shape 22"/>
          <p:cNvSpPr/>
          <p:nvPr/>
        </p:nvSpPr>
        <p:spPr>
          <a:xfrm>
            <a:off x="502920" y="4626864"/>
            <a:ext cx="5364328" cy="1280160"/>
          </a:xfrm>
          <a:prstGeom prst="roundRect">
            <a:avLst>
              <a:gd name="adj" fmla="val 571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9" name="Shape 23"/>
          <p:cNvSpPr/>
          <p:nvPr/>
        </p:nvSpPr>
        <p:spPr>
          <a:xfrm>
            <a:off x="685800" y="4828032"/>
            <a:ext cx="457200" cy="457200"/>
          </a:xfrm>
          <a:prstGeom prst="roundRect">
            <a:avLst>
              <a:gd name="adj" fmla="val 20000"/>
            </a:avLst>
          </a:prstGeom>
          <a:solidFill>
            <a:srgbClr val="7C3AED"/>
          </a:solidFill>
          <a:ln/>
        </p:spPr>
      </p:sp>
      <p:pic>
        <p:nvPicPr>
          <p:cNvPr id="30" name="Image 4" descr="icons/cloud.png">    </p:cNvPr>
          <p:cNvPicPr>
            <a:picLocks noChangeAspect="1"/>
          </p:cNvPicPr>
          <p:nvPr/>
        </p:nvPicPr>
        <p:blipFill>
          <a:blip r:embed="rId5"/>
          <a:stretch>
            <a:fillRect/>
          </a:stretch>
        </p:blipFill>
        <p:spPr>
          <a:xfrm>
            <a:off x="795528" y="4937760"/>
            <a:ext cx="237744" cy="237744"/>
          </a:xfrm>
          <a:prstGeom prst="rect">
            <a:avLst/>
          </a:prstGeom>
        </p:spPr>
      </p:pic>
      <p:sp>
        <p:nvSpPr>
          <p:cNvPr id="31" name="Text 24"/>
          <p:cNvSpPr/>
          <p:nvPr/>
        </p:nvSpPr>
        <p:spPr>
          <a:xfrm>
            <a:off x="1252728" y="4773168"/>
            <a:ext cx="4449928"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Gemini 2.5 Flash on Vertex (one model)</a:t>
            </a:r>
            <a:endParaRPr lang="en-US" sz="1350" dirty="0"/>
          </a:p>
        </p:txBody>
      </p:sp>
      <p:sp>
        <p:nvSpPr>
          <p:cNvPr id="32" name="Text 25"/>
          <p:cNvSpPr/>
          <p:nvPr/>
        </p:nvSpPr>
        <p:spPr>
          <a:xfrm>
            <a:off x="1252728" y="5056632"/>
            <a:ext cx="4449928" cy="237744"/>
          </a:xfrm>
          <a:prstGeom prst="rect">
            <a:avLst/>
          </a:prstGeom>
          <a:noFill/>
          <a:ln/>
        </p:spPr>
        <p:txBody>
          <a:bodyPr wrap="square" lIns="0" tIns="0" rIns="0" bIns="0" rtlCol="0" anchor="ctr"/>
          <a:lstStyle/>
          <a:p>
            <a:pPr indent="0" marL="0">
              <a:buNone/>
            </a:pPr>
            <a:r>
              <a:rPr lang="en-US" sz="1050" i="1" dirty="0">
                <a:solidFill>
                  <a:srgbClr val="E11D48"/>
                </a:solidFill>
                <a:latin typeface="Calibri" pitchFamily="34" charset="0"/>
                <a:ea typeface="Calibri" pitchFamily="34" charset="-122"/>
                <a:cs typeface="Calibri" pitchFamily="34" charset="-120"/>
              </a:rPr>
              <a:t>Chosen over: </a:t>
            </a:r>
            <a:pPr indent="0" marL="0">
              <a:buNone/>
            </a:pPr>
            <a:r>
              <a:rPr lang="en-US" sz="1050" i="1" dirty="0">
                <a:solidFill>
                  <a:srgbClr val="8A94A6"/>
                </a:solidFill>
                <a:latin typeface="Calibri" pitchFamily="34" charset="0"/>
                <a:ea typeface="Calibri" pitchFamily="34" charset="-122"/>
                <a:cs typeface="Calibri" pitchFamily="34" charset="-120"/>
              </a:rPr>
              <a:t>many models / self-hosted</a:t>
            </a:r>
            <a:endParaRPr lang="en-US" sz="1050" dirty="0"/>
          </a:p>
        </p:txBody>
      </p:sp>
      <p:sp>
        <p:nvSpPr>
          <p:cNvPr id="33" name="Text 26"/>
          <p:cNvSpPr/>
          <p:nvPr/>
        </p:nvSpPr>
        <p:spPr>
          <a:xfrm>
            <a:off x="704088" y="5340096"/>
            <a:ext cx="4980280" cy="512064"/>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One natively-multimodal model does reasoning, language AND vision — less ops, lower latency, Vertex security &amp; quota.</a:t>
            </a:r>
            <a:endParaRPr lang="en-US" sz="1100" dirty="0"/>
          </a:p>
        </p:txBody>
      </p:sp>
      <p:sp>
        <p:nvSpPr>
          <p:cNvPr id="34" name="Shape 27"/>
          <p:cNvSpPr/>
          <p:nvPr/>
        </p:nvSpPr>
        <p:spPr>
          <a:xfrm>
            <a:off x="6324448" y="4626864"/>
            <a:ext cx="5364328" cy="1280160"/>
          </a:xfrm>
          <a:prstGeom prst="roundRect">
            <a:avLst>
              <a:gd name="adj" fmla="val 571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35" name="Shape 28"/>
          <p:cNvSpPr/>
          <p:nvPr/>
        </p:nvSpPr>
        <p:spPr>
          <a:xfrm>
            <a:off x="6507328" y="4828032"/>
            <a:ext cx="457200" cy="457200"/>
          </a:xfrm>
          <a:prstGeom prst="roundRect">
            <a:avLst>
              <a:gd name="adj" fmla="val 20000"/>
            </a:avLst>
          </a:prstGeom>
          <a:solidFill>
            <a:srgbClr val="7C3AED"/>
          </a:solidFill>
          <a:ln/>
        </p:spPr>
      </p:sp>
      <p:pic>
        <p:nvPicPr>
          <p:cNvPr id="36" name="Image 5" descr="icons/sync.png">    </p:cNvPr>
          <p:cNvPicPr>
            <a:picLocks noChangeAspect="1"/>
          </p:cNvPicPr>
          <p:nvPr/>
        </p:nvPicPr>
        <p:blipFill>
          <a:blip r:embed="rId6"/>
          <a:stretch>
            <a:fillRect/>
          </a:stretch>
        </p:blipFill>
        <p:spPr>
          <a:xfrm>
            <a:off x="6617056" y="4937760"/>
            <a:ext cx="237744" cy="237744"/>
          </a:xfrm>
          <a:prstGeom prst="rect">
            <a:avLst/>
          </a:prstGeom>
        </p:spPr>
      </p:pic>
      <p:sp>
        <p:nvSpPr>
          <p:cNvPr id="37" name="Text 29"/>
          <p:cNvSpPr/>
          <p:nvPr/>
        </p:nvSpPr>
        <p:spPr>
          <a:xfrm>
            <a:off x="7074256" y="4773168"/>
            <a:ext cx="4449928"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Graceful fallback + self-heal</a:t>
            </a:r>
            <a:endParaRPr lang="en-US" sz="1350" dirty="0"/>
          </a:p>
        </p:txBody>
      </p:sp>
      <p:sp>
        <p:nvSpPr>
          <p:cNvPr id="38" name="Text 30"/>
          <p:cNvSpPr/>
          <p:nvPr/>
        </p:nvSpPr>
        <p:spPr>
          <a:xfrm>
            <a:off x="7074256" y="5056632"/>
            <a:ext cx="4449928" cy="237744"/>
          </a:xfrm>
          <a:prstGeom prst="rect">
            <a:avLst/>
          </a:prstGeom>
          <a:noFill/>
          <a:ln/>
        </p:spPr>
        <p:txBody>
          <a:bodyPr wrap="square" lIns="0" tIns="0" rIns="0" bIns="0" rtlCol="0" anchor="ctr"/>
          <a:lstStyle/>
          <a:p>
            <a:pPr indent="0" marL="0">
              <a:buNone/>
            </a:pPr>
            <a:r>
              <a:rPr lang="en-US" sz="1050" i="1" dirty="0">
                <a:solidFill>
                  <a:srgbClr val="E11D48"/>
                </a:solidFill>
                <a:latin typeface="Calibri" pitchFamily="34" charset="0"/>
                <a:ea typeface="Calibri" pitchFamily="34" charset="-122"/>
                <a:cs typeface="Calibri" pitchFamily="34" charset="-120"/>
              </a:rPr>
              <a:t>Chosen over: </a:t>
            </a:r>
            <a:pPr indent="0" marL="0">
              <a:buNone/>
            </a:pPr>
            <a:r>
              <a:rPr lang="en-US" sz="1050" i="1" dirty="0">
                <a:solidFill>
                  <a:srgbClr val="8A94A6"/>
                </a:solidFill>
                <a:latin typeface="Calibri" pitchFamily="34" charset="0"/>
                <a:ea typeface="Calibri" pitchFamily="34" charset="-122"/>
                <a:cs typeface="Calibri" pitchFamily="34" charset="-120"/>
              </a:rPr>
              <a:t>fail the request</a:t>
            </a:r>
            <a:endParaRPr lang="en-US" sz="1050" dirty="0"/>
          </a:p>
        </p:txBody>
      </p:sp>
      <p:sp>
        <p:nvSpPr>
          <p:cNvPr id="39" name="Text 31"/>
          <p:cNvSpPr/>
          <p:nvPr/>
        </p:nvSpPr>
        <p:spPr>
          <a:xfrm>
            <a:off x="6525616" y="5340096"/>
            <a:ext cx="4980280" cy="512064"/>
          </a:xfrm>
          <a:prstGeom prst="rect">
            <a:avLst/>
          </a:prstGeom>
          <a:noFill/>
          <a:ln/>
        </p:spPr>
        <p:txBody>
          <a:bodyPr wrap="square" lIns="0" tIns="0" rIns="0" bIns="0" rtlCol="0" anchor="t"/>
          <a:lstStyle/>
          <a:p>
            <a:pPr indent="0" marL="0">
              <a:buNone/>
            </a:pPr>
            <a:r>
              <a:rPr lang="en-US" sz="1100" dirty="0">
                <a:solidFill>
                  <a:srgbClr val="5B6577"/>
                </a:solidFill>
                <a:latin typeface="Calibri" pitchFamily="34" charset="0"/>
                <a:ea typeface="Calibri" pitchFamily="34" charset="-122"/>
                <a:cs typeface="Calibri" pitchFamily="34" charset="-120"/>
              </a:rPr>
              <a:t>If the LLM/ADK path errors, a deterministic engine answers; the Guardian heals forward — the service degrades, it doesn't go down.</a:t>
            </a:r>
            <a:endParaRPr lang="en-US" sz="1100" dirty="0"/>
          </a:p>
        </p:txBody>
      </p:sp>
      <p:sp>
        <p:nvSpPr>
          <p:cNvPr id="40" name="Text 32"/>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41" name="Text 33"/>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7C3AED"/>
                </a:solidFill>
                <a:latin typeface="Calibri" pitchFamily="34" charset="0"/>
                <a:ea typeface="Calibri" pitchFamily="34" charset="-122"/>
                <a:cs typeface="Calibri" pitchFamily="34" charset="-120"/>
              </a:rPr>
              <a:t>RELIABILITY, SAFETY &amp; TRUST</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Production-grade trust — by design, not by hope</a:t>
            </a:r>
            <a:endParaRPr lang="en-US" sz="2800" dirty="0"/>
          </a:p>
        </p:txBody>
      </p:sp>
      <p:sp>
        <p:nvSpPr>
          <p:cNvPr id="4" name="Shape 2"/>
          <p:cNvSpPr/>
          <p:nvPr/>
        </p:nvSpPr>
        <p:spPr>
          <a:xfrm>
            <a:off x="502920" y="178308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5" name="Shape 3"/>
          <p:cNvSpPr/>
          <p:nvPr/>
        </p:nvSpPr>
        <p:spPr>
          <a:xfrm>
            <a:off x="740664" y="2002536"/>
            <a:ext cx="566928" cy="566928"/>
          </a:xfrm>
          <a:prstGeom prst="roundRect">
            <a:avLst>
              <a:gd name="adj" fmla="val 19355"/>
            </a:avLst>
          </a:prstGeom>
          <a:solidFill>
            <a:srgbClr val="E11D48"/>
          </a:solidFill>
          <a:ln/>
        </p:spPr>
      </p:sp>
      <p:pic>
        <p:nvPicPr>
          <p:cNvPr id="6" name="Image 0" descr="icons/ban.png">    </p:cNvPr>
          <p:cNvPicPr>
            <a:picLocks noChangeAspect="1"/>
          </p:cNvPicPr>
          <p:nvPr/>
        </p:nvPicPr>
        <p:blipFill>
          <a:blip r:embed="rId1"/>
          <a:stretch>
            <a:fillRect/>
          </a:stretch>
        </p:blipFill>
        <p:spPr>
          <a:xfrm>
            <a:off x="877824" y="2139696"/>
            <a:ext cx="292608" cy="292608"/>
          </a:xfrm>
          <a:prstGeom prst="rect">
            <a:avLst/>
          </a:prstGeom>
        </p:spPr>
      </p:pic>
      <p:sp>
        <p:nvSpPr>
          <p:cNvPr id="7" name="Text 4"/>
          <p:cNvSpPr/>
          <p:nvPr/>
        </p:nvSpPr>
        <p:spPr>
          <a:xfrm>
            <a:off x="1490472" y="1984248"/>
            <a:ext cx="2357018" cy="60350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Never substitutes</a:t>
            </a:r>
            <a:endParaRPr lang="en-US" sz="1400" dirty="0"/>
          </a:p>
        </p:txBody>
      </p:sp>
      <p:sp>
        <p:nvSpPr>
          <p:cNvPr id="8" name="Text 5"/>
          <p:cNvSpPr/>
          <p:nvPr/>
        </p:nvSpPr>
        <p:spPr>
          <a:xfrm>
            <a:off x="758952" y="267919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If the exact item isn't found, it says so — it won't swap in a different product.</a:t>
            </a:r>
            <a:endParaRPr lang="en-US" sz="1200" dirty="0"/>
          </a:p>
        </p:txBody>
      </p:sp>
      <p:sp>
        <p:nvSpPr>
          <p:cNvPr id="9" name="Shape 6"/>
          <p:cNvSpPr/>
          <p:nvPr/>
        </p:nvSpPr>
        <p:spPr>
          <a:xfrm>
            <a:off x="4322978" y="178308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0" name="Shape 7"/>
          <p:cNvSpPr/>
          <p:nvPr/>
        </p:nvSpPr>
        <p:spPr>
          <a:xfrm>
            <a:off x="4560722" y="2002536"/>
            <a:ext cx="566928" cy="566928"/>
          </a:xfrm>
          <a:prstGeom prst="roundRect">
            <a:avLst>
              <a:gd name="adj" fmla="val 19355"/>
            </a:avLst>
          </a:prstGeom>
          <a:solidFill>
            <a:srgbClr val="0D9488"/>
          </a:solidFill>
          <a:ln/>
        </p:spPr>
      </p:sp>
      <p:pic>
        <p:nvPicPr>
          <p:cNvPr id="11" name="Image 1" descr="icons/check.png">    </p:cNvPr>
          <p:cNvPicPr>
            <a:picLocks noChangeAspect="1"/>
          </p:cNvPicPr>
          <p:nvPr/>
        </p:nvPicPr>
        <p:blipFill>
          <a:blip r:embed="rId2"/>
          <a:stretch>
            <a:fillRect/>
          </a:stretch>
        </p:blipFill>
        <p:spPr>
          <a:xfrm>
            <a:off x="4697882" y="2139696"/>
            <a:ext cx="292608" cy="292608"/>
          </a:xfrm>
          <a:prstGeom prst="rect">
            <a:avLst/>
          </a:prstGeom>
        </p:spPr>
      </p:pic>
      <p:sp>
        <p:nvSpPr>
          <p:cNvPr id="12" name="Text 8"/>
          <p:cNvSpPr/>
          <p:nvPr/>
        </p:nvSpPr>
        <p:spPr>
          <a:xfrm>
            <a:off x="5310530" y="1984248"/>
            <a:ext cx="2357018" cy="60350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Confirm before charge</a:t>
            </a:r>
            <a:endParaRPr lang="en-US" sz="1400" dirty="0"/>
          </a:p>
        </p:txBody>
      </p:sp>
      <p:sp>
        <p:nvSpPr>
          <p:cNvPr id="13" name="Text 9"/>
          <p:cNvSpPr/>
          <p:nvPr/>
        </p:nvSpPr>
        <p:spPr>
          <a:xfrm>
            <a:off x="4579010" y="267919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Cart preview + “please confirm” on every path — text, voice, and camera alike.</a:t>
            </a:r>
            <a:endParaRPr lang="en-US" sz="1200" dirty="0"/>
          </a:p>
        </p:txBody>
      </p:sp>
      <p:sp>
        <p:nvSpPr>
          <p:cNvPr id="14" name="Shape 10"/>
          <p:cNvSpPr/>
          <p:nvPr/>
        </p:nvSpPr>
        <p:spPr>
          <a:xfrm>
            <a:off x="8143037" y="178308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5" name="Shape 11"/>
          <p:cNvSpPr/>
          <p:nvPr/>
        </p:nvSpPr>
        <p:spPr>
          <a:xfrm>
            <a:off x="8380781" y="2002536"/>
            <a:ext cx="566928" cy="566928"/>
          </a:xfrm>
          <a:prstGeom prst="roundRect">
            <a:avLst>
              <a:gd name="adj" fmla="val 19355"/>
            </a:avLst>
          </a:prstGeom>
          <a:solidFill>
            <a:srgbClr val="7C3AED"/>
          </a:solidFill>
          <a:ln/>
        </p:spPr>
      </p:sp>
      <p:pic>
        <p:nvPicPr>
          <p:cNvPr id="16" name="Image 2" descr="icons/sync.png">    </p:cNvPr>
          <p:cNvPicPr>
            <a:picLocks noChangeAspect="1"/>
          </p:cNvPicPr>
          <p:nvPr/>
        </p:nvPicPr>
        <p:blipFill>
          <a:blip r:embed="rId3"/>
          <a:stretch>
            <a:fillRect/>
          </a:stretch>
        </p:blipFill>
        <p:spPr>
          <a:xfrm>
            <a:off x="8517941" y="2139696"/>
            <a:ext cx="292608" cy="292608"/>
          </a:xfrm>
          <a:prstGeom prst="rect">
            <a:avLst/>
          </a:prstGeom>
        </p:spPr>
      </p:pic>
      <p:sp>
        <p:nvSpPr>
          <p:cNvPr id="17" name="Text 12"/>
          <p:cNvSpPr/>
          <p:nvPr/>
        </p:nvSpPr>
        <p:spPr>
          <a:xfrm>
            <a:off x="9130589" y="1984248"/>
            <a:ext cx="2357018" cy="60350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Self-healing Guardian</a:t>
            </a:r>
            <a:endParaRPr lang="en-US" sz="1400" dirty="0"/>
          </a:p>
        </p:txBody>
      </p:sp>
      <p:sp>
        <p:nvSpPr>
          <p:cNvPr id="18" name="Text 13"/>
          <p:cNvSpPr/>
          <p:nvPr/>
        </p:nvSpPr>
        <p:spPr>
          <a:xfrm>
            <a:off x="8399069" y="267919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Circuit breaker · retry · failover · heal-forward; chaos buttons prove it live.</a:t>
            </a:r>
            <a:endParaRPr lang="en-US" sz="1200" dirty="0"/>
          </a:p>
        </p:txBody>
      </p:sp>
      <p:sp>
        <p:nvSpPr>
          <p:cNvPr id="19" name="Shape 14"/>
          <p:cNvSpPr/>
          <p:nvPr/>
        </p:nvSpPr>
        <p:spPr>
          <a:xfrm>
            <a:off x="502920" y="379476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0" name="Shape 15"/>
          <p:cNvSpPr/>
          <p:nvPr/>
        </p:nvSpPr>
        <p:spPr>
          <a:xfrm>
            <a:off x="740664" y="4014216"/>
            <a:ext cx="566928" cy="566928"/>
          </a:xfrm>
          <a:prstGeom prst="roundRect">
            <a:avLst>
              <a:gd name="adj" fmla="val 19355"/>
            </a:avLst>
          </a:prstGeom>
          <a:solidFill>
            <a:srgbClr val="2563EB"/>
          </a:solidFill>
          <a:ln/>
        </p:spPr>
      </p:sp>
      <p:pic>
        <p:nvPicPr>
          <p:cNvPr id="21" name="Image 3" descr="icons/sitemap.png">    </p:cNvPr>
          <p:cNvPicPr>
            <a:picLocks noChangeAspect="1"/>
          </p:cNvPicPr>
          <p:nvPr/>
        </p:nvPicPr>
        <p:blipFill>
          <a:blip r:embed="rId4"/>
          <a:stretch>
            <a:fillRect/>
          </a:stretch>
        </p:blipFill>
        <p:spPr>
          <a:xfrm>
            <a:off x="877824" y="4151376"/>
            <a:ext cx="292608" cy="292608"/>
          </a:xfrm>
          <a:prstGeom prst="rect">
            <a:avLst/>
          </a:prstGeom>
        </p:spPr>
      </p:pic>
      <p:sp>
        <p:nvSpPr>
          <p:cNvPr id="22" name="Text 16"/>
          <p:cNvSpPr/>
          <p:nvPr/>
        </p:nvSpPr>
        <p:spPr>
          <a:xfrm>
            <a:off x="1490472" y="3995928"/>
            <a:ext cx="2357018" cy="60350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 agent loops</a:t>
            </a:r>
            <a:endParaRPr lang="en-US" sz="1400" dirty="0"/>
          </a:p>
        </p:txBody>
      </p:sp>
      <p:sp>
        <p:nvSpPr>
          <p:cNvPr id="23" name="Text 17"/>
          <p:cNvSpPr/>
          <p:nvPr/>
        </p:nvSpPr>
        <p:spPr>
          <a:xfrm>
            <a:off x="758952" y="469087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Agent-as-tool, no nested agents, single-pass turns, bounded retries, degrade-once.</a:t>
            </a:r>
            <a:endParaRPr lang="en-US" sz="1200" dirty="0"/>
          </a:p>
        </p:txBody>
      </p:sp>
      <p:sp>
        <p:nvSpPr>
          <p:cNvPr id="24" name="Shape 18"/>
          <p:cNvSpPr/>
          <p:nvPr/>
        </p:nvSpPr>
        <p:spPr>
          <a:xfrm>
            <a:off x="4322978" y="379476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5" name="Shape 19"/>
          <p:cNvSpPr/>
          <p:nvPr/>
        </p:nvSpPr>
        <p:spPr>
          <a:xfrm>
            <a:off x="4560722" y="4014216"/>
            <a:ext cx="566928" cy="566928"/>
          </a:xfrm>
          <a:prstGeom prst="roundRect">
            <a:avLst>
              <a:gd name="adj" fmla="val 19355"/>
            </a:avLst>
          </a:prstGeom>
          <a:solidFill>
            <a:srgbClr val="0D9488"/>
          </a:solidFill>
          <a:ln/>
        </p:spPr>
      </p:sp>
      <p:pic>
        <p:nvPicPr>
          <p:cNvPr id="26" name="Image 4" descr="icons/db.png">    </p:cNvPr>
          <p:cNvPicPr>
            <a:picLocks noChangeAspect="1"/>
          </p:cNvPicPr>
          <p:nvPr/>
        </p:nvPicPr>
        <p:blipFill>
          <a:blip r:embed="rId5"/>
          <a:stretch>
            <a:fillRect/>
          </a:stretch>
        </p:blipFill>
        <p:spPr>
          <a:xfrm>
            <a:off x="4697882" y="4151376"/>
            <a:ext cx="292608" cy="292608"/>
          </a:xfrm>
          <a:prstGeom prst="rect">
            <a:avLst/>
          </a:prstGeom>
        </p:spPr>
      </p:pic>
      <p:sp>
        <p:nvSpPr>
          <p:cNvPr id="27" name="Text 20"/>
          <p:cNvSpPr/>
          <p:nvPr/>
        </p:nvSpPr>
        <p:spPr>
          <a:xfrm>
            <a:off x="5310530" y="3995928"/>
            <a:ext cx="2357018" cy="60350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Durable shared state</a:t>
            </a:r>
            <a:endParaRPr lang="en-US" sz="1400" dirty="0"/>
          </a:p>
        </p:txBody>
      </p:sp>
      <p:sp>
        <p:nvSpPr>
          <p:cNvPr id="28" name="Text 21"/>
          <p:cNvSpPr/>
          <p:nvPr/>
        </p:nvSpPr>
        <p:spPr>
          <a:xfrm>
            <a:off x="4579010" y="469087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One session store on Firestore — context survives scale-to-zero &amp; autoscaling.</a:t>
            </a:r>
            <a:endParaRPr lang="en-US" sz="1200" dirty="0"/>
          </a:p>
        </p:txBody>
      </p:sp>
      <p:sp>
        <p:nvSpPr>
          <p:cNvPr id="29" name="Shape 22"/>
          <p:cNvSpPr/>
          <p:nvPr/>
        </p:nvSpPr>
        <p:spPr>
          <a:xfrm>
            <a:off x="8143037" y="379476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30" name="Shape 23"/>
          <p:cNvSpPr/>
          <p:nvPr/>
        </p:nvSpPr>
        <p:spPr>
          <a:xfrm>
            <a:off x="8380781" y="4014216"/>
            <a:ext cx="566928" cy="566928"/>
          </a:xfrm>
          <a:prstGeom prst="roundRect">
            <a:avLst>
              <a:gd name="adj" fmla="val 19355"/>
            </a:avLst>
          </a:prstGeom>
          <a:solidFill>
            <a:srgbClr val="F59E0B"/>
          </a:solidFill>
          <a:ln/>
        </p:spPr>
      </p:sp>
      <p:pic>
        <p:nvPicPr>
          <p:cNvPr id="31" name="Image 5" descr="icons/eye.png">    </p:cNvPr>
          <p:cNvPicPr>
            <a:picLocks noChangeAspect="1"/>
          </p:cNvPicPr>
          <p:nvPr/>
        </p:nvPicPr>
        <p:blipFill>
          <a:blip r:embed="rId6"/>
          <a:stretch>
            <a:fillRect/>
          </a:stretch>
        </p:blipFill>
        <p:spPr>
          <a:xfrm>
            <a:off x="8517941" y="4151376"/>
            <a:ext cx="292608" cy="292608"/>
          </a:xfrm>
          <a:prstGeom prst="rect">
            <a:avLst/>
          </a:prstGeom>
        </p:spPr>
      </p:pic>
      <p:sp>
        <p:nvSpPr>
          <p:cNvPr id="32" name="Text 24"/>
          <p:cNvSpPr/>
          <p:nvPr/>
        </p:nvSpPr>
        <p:spPr>
          <a:xfrm>
            <a:off x="9130589" y="3995928"/>
            <a:ext cx="2357018" cy="60350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Full observability</a:t>
            </a:r>
            <a:endParaRPr lang="en-US" sz="1400" dirty="0"/>
          </a:p>
        </p:txBody>
      </p:sp>
      <p:sp>
        <p:nvSpPr>
          <p:cNvPr id="33" name="Text 25"/>
          <p:cNvSpPr/>
          <p:nvPr/>
        </p:nvSpPr>
        <p:spPr>
          <a:xfrm>
            <a:off x="8399069" y="469087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Live /dev pipeline, Cloud Trace spans, /metrics, /version — debug any turn.</a:t>
            </a:r>
            <a:endParaRPr lang="en-US" sz="1200" dirty="0"/>
          </a:p>
        </p:txBody>
      </p:sp>
      <p:sp>
        <p:nvSpPr>
          <p:cNvPr id="34" name="Text 26"/>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35" name="Text 27"/>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E11D48"/>
                </a:solidFill>
                <a:latin typeface="Calibri" pitchFamily="34" charset="0"/>
                <a:ea typeface="Calibri" pitchFamily="34" charset="-122"/>
                <a:cs typeface="Calibri" pitchFamily="34" charset="-120"/>
              </a:rPr>
              <a:t>BUSINESS &amp; STRATEGIC VALUE — FOR THE VP OF STRATEGY</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From technical win to measurable business value</a:t>
            </a:r>
            <a:endParaRPr lang="en-US" sz="2800" dirty="0"/>
          </a:p>
        </p:txBody>
      </p:sp>
      <p:sp>
        <p:nvSpPr>
          <p:cNvPr id="4" name="Shape 2"/>
          <p:cNvSpPr/>
          <p:nvPr/>
        </p:nvSpPr>
        <p:spPr>
          <a:xfrm>
            <a:off x="502920" y="1783080"/>
            <a:ext cx="2615184" cy="1554480"/>
          </a:xfrm>
          <a:prstGeom prst="roundRect">
            <a:avLst>
              <a:gd name="adj" fmla="val 529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5" name="Text 3"/>
          <p:cNvSpPr/>
          <p:nvPr/>
        </p:nvSpPr>
        <p:spPr>
          <a:xfrm>
            <a:off x="594360" y="1965960"/>
            <a:ext cx="2432304" cy="777240"/>
          </a:xfrm>
          <a:prstGeom prst="rect">
            <a:avLst/>
          </a:prstGeom>
          <a:noFill/>
          <a:ln/>
        </p:spPr>
        <p:txBody>
          <a:bodyPr wrap="square" lIns="0" tIns="0" rIns="0" bIns="0" rtlCol="0" anchor="ctr"/>
          <a:lstStyle/>
          <a:p>
            <a:pPr algn="ctr" indent="0" marL="0">
              <a:buNone/>
            </a:pPr>
            <a:r>
              <a:rPr lang="en-US" sz="4000" b="1" dirty="0">
                <a:solidFill>
                  <a:srgbClr val="7C3AED"/>
                </a:solidFill>
                <a:latin typeface="Georgia" pitchFamily="34" charset="0"/>
                <a:ea typeface="Georgia" pitchFamily="34" charset="-122"/>
                <a:cs typeface="Georgia" pitchFamily="34" charset="-120"/>
              </a:rPr>
              <a:t>24/7</a:t>
            </a:r>
            <a:endParaRPr lang="en-US" sz="4000" dirty="0"/>
          </a:p>
        </p:txBody>
      </p:sp>
      <p:sp>
        <p:nvSpPr>
          <p:cNvPr id="6" name="Text 4"/>
          <p:cNvSpPr/>
          <p:nvPr/>
        </p:nvSpPr>
        <p:spPr>
          <a:xfrm>
            <a:off x="667512" y="2734056"/>
            <a:ext cx="2286000" cy="548640"/>
          </a:xfrm>
          <a:prstGeom prst="rect">
            <a:avLst/>
          </a:prstGeom>
          <a:noFill/>
          <a:ln/>
        </p:spPr>
        <p:txBody>
          <a:bodyPr wrap="square" lIns="0" tIns="0" rIns="0" bIns="0" rtlCol="0" anchor="t"/>
          <a:lstStyle/>
          <a:p>
            <a:pPr algn="ctr" indent="0" marL="0">
              <a:buNone/>
            </a:pPr>
            <a:r>
              <a:rPr lang="en-US" sz="1150" dirty="0">
                <a:solidFill>
                  <a:srgbClr val="5B6577"/>
                </a:solidFill>
                <a:latin typeface="Calibri" pitchFamily="34" charset="0"/>
                <a:ea typeface="Calibri" pitchFamily="34" charset="-122"/>
                <a:cs typeface="Calibri" pitchFamily="34" charset="-120"/>
              </a:rPr>
              <a:t>Self-service order mgmt &amp; support — every channel, every language</a:t>
            </a:r>
            <a:endParaRPr lang="en-US" sz="1150" dirty="0"/>
          </a:p>
        </p:txBody>
      </p:sp>
      <p:sp>
        <p:nvSpPr>
          <p:cNvPr id="7" name="Shape 5"/>
          <p:cNvSpPr/>
          <p:nvPr/>
        </p:nvSpPr>
        <p:spPr>
          <a:xfrm>
            <a:off x="3300984" y="1783080"/>
            <a:ext cx="2615184" cy="1554480"/>
          </a:xfrm>
          <a:prstGeom prst="roundRect">
            <a:avLst>
              <a:gd name="adj" fmla="val 529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8" name="Text 6"/>
          <p:cNvSpPr/>
          <p:nvPr/>
        </p:nvSpPr>
        <p:spPr>
          <a:xfrm>
            <a:off x="3392424" y="1965960"/>
            <a:ext cx="2432304" cy="777240"/>
          </a:xfrm>
          <a:prstGeom prst="rect">
            <a:avLst/>
          </a:prstGeom>
          <a:noFill/>
          <a:ln/>
        </p:spPr>
        <p:txBody>
          <a:bodyPr wrap="square" lIns="0" tIns="0" rIns="0" bIns="0" rtlCol="0" anchor="ctr"/>
          <a:lstStyle/>
          <a:p>
            <a:pPr algn="ctr" indent="0" marL="0">
              <a:buNone/>
            </a:pPr>
            <a:r>
              <a:rPr lang="en-US" sz="4000" b="1" dirty="0">
                <a:solidFill>
                  <a:srgbClr val="0D9488"/>
                </a:solidFill>
                <a:latin typeface="Georgia" pitchFamily="34" charset="0"/>
                <a:ea typeface="Georgia" pitchFamily="34" charset="-122"/>
                <a:cs typeface="Georgia" pitchFamily="34" charset="-120"/>
              </a:rPr>
              <a:t>60–80%</a:t>
            </a:r>
            <a:endParaRPr lang="en-US" sz="4000" dirty="0"/>
          </a:p>
        </p:txBody>
      </p:sp>
      <p:sp>
        <p:nvSpPr>
          <p:cNvPr id="9" name="Text 7"/>
          <p:cNvSpPr/>
          <p:nvPr/>
        </p:nvSpPr>
        <p:spPr>
          <a:xfrm>
            <a:off x="3465576" y="2734056"/>
            <a:ext cx="2286000" cy="548640"/>
          </a:xfrm>
          <a:prstGeom prst="rect">
            <a:avLst/>
          </a:prstGeom>
          <a:noFill/>
          <a:ln/>
        </p:spPr>
        <p:txBody>
          <a:bodyPr wrap="square" lIns="0" tIns="0" rIns="0" bIns="0" rtlCol="0" anchor="t"/>
          <a:lstStyle/>
          <a:p>
            <a:pPr algn="ctr" indent="0" marL="0">
              <a:buNone/>
            </a:pPr>
            <a:r>
              <a:rPr lang="en-US" sz="1150" dirty="0">
                <a:solidFill>
                  <a:srgbClr val="5B6577"/>
                </a:solidFill>
                <a:latin typeface="Calibri" pitchFamily="34" charset="0"/>
                <a:ea typeface="Calibri" pitchFamily="34" charset="-122"/>
                <a:cs typeface="Calibri" pitchFamily="34" charset="-120"/>
              </a:rPr>
              <a:t>Typical self-service deflection of routine contacts (industry benchmark)</a:t>
            </a:r>
            <a:endParaRPr lang="en-US" sz="1150" dirty="0"/>
          </a:p>
        </p:txBody>
      </p:sp>
      <p:sp>
        <p:nvSpPr>
          <p:cNvPr id="10" name="Shape 8"/>
          <p:cNvSpPr/>
          <p:nvPr/>
        </p:nvSpPr>
        <p:spPr>
          <a:xfrm>
            <a:off x="6099048" y="1783080"/>
            <a:ext cx="2615184" cy="1554480"/>
          </a:xfrm>
          <a:prstGeom prst="roundRect">
            <a:avLst>
              <a:gd name="adj" fmla="val 529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1" name="Text 9"/>
          <p:cNvSpPr/>
          <p:nvPr/>
        </p:nvSpPr>
        <p:spPr>
          <a:xfrm>
            <a:off x="6190488" y="1965960"/>
            <a:ext cx="2432304" cy="777240"/>
          </a:xfrm>
          <a:prstGeom prst="rect">
            <a:avLst/>
          </a:prstGeom>
          <a:noFill/>
          <a:ln/>
        </p:spPr>
        <p:txBody>
          <a:bodyPr wrap="square" lIns="0" tIns="0" rIns="0" bIns="0" rtlCol="0" anchor="ctr"/>
          <a:lstStyle/>
          <a:p>
            <a:pPr algn="ctr" indent="0" marL="0">
              <a:buNone/>
            </a:pPr>
            <a:r>
              <a:rPr lang="en-US" sz="4000" b="1" dirty="0">
                <a:solidFill>
                  <a:srgbClr val="F59E0B"/>
                </a:solidFill>
                <a:latin typeface="Georgia" pitchFamily="34" charset="0"/>
                <a:ea typeface="Georgia" pitchFamily="34" charset="-122"/>
                <a:cs typeface="Georgia" pitchFamily="34" charset="-120"/>
              </a:rPr>
              <a:t>~$0</a:t>
            </a:r>
            <a:endParaRPr lang="en-US" sz="4000" dirty="0"/>
          </a:p>
        </p:txBody>
      </p:sp>
      <p:sp>
        <p:nvSpPr>
          <p:cNvPr id="12" name="Text 10"/>
          <p:cNvSpPr/>
          <p:nvPr/>
        </p:nvSpPr>
        <p:spPr>
          <a:xfrm>
            <a:off x="6263640" y="2734056"/>
            <a:ext cx="2286000" cy="548640"/>
          </a:xfrm>
          <a:prstGeom prst="rect">
            <a:avLst/>
          </a:prstGeom>
          <a:noFill/>
          <a:ln/>
        </p:spPr>
        <p:txBody>
          <a:bodyPr wrap="square" lIns="0" tIns="0" rIns="0" bIns="0" rtlCol="0" anchor="t"/>
          <a:lstStyle/>
          <a:p>
            <a:pPr algn="ctr" indent="0" marL="0">
              <a:buNone/>
            </a:pPr>
            <a:r>
              <a:rPr lang="en-US" sz="1150" dirty="0">
                <a:solidFill>
                  <a:srgbClr val="5B6577"/>
                </a:solidFill>
                <a:latin typeface="Calibri" pitchFamily="34" charset="0"/>
                <a:ea typeface="Calibri" pitchFamily="34" charset="-122"/>
                <a:cs typeface="Calibri" pitchFamily="34" charset="-120"/>
              </a:rPr>
              <a:t>Idle cost — Cloud Run scales to zero between conversations</a:t>
            </a:r>
            <a:endParaRPr lang="en-US" sz="1150" dirty="0"/>
          </a:p>
        </p:txBody>
      </p:sp>
      <p:sp>
        <p:nvSpPr>
          <p:cNvPr id="13" name="Shape 11"/>
          <p:cNvSpPr/>
          <p:nvPr/>
        </p:nvSpPr>
        <p:spPr>
          <a:xfrm>
            <a:off x="8897112" y="1783080"/>
            <a:ext cx="2791663" cy="1554480"/>
          </a:xfrm>
          <a:prstGeom prst="roundRect">
            <a:avLst>
              <a:gd name="adj" fmla="val 5294"/>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4" name="Text 12"/>
          <p:cNvSpPr/>
          <p:nvPr/>
        </p:nvSpPr>
        <p:spPr>
          <a:xfrm>
            <a:off x="8988552" y="1965960"/>
            <a:ext cx="2608783" cy="777240"/>
          </a:xfrm>
          <a:prstGeom prst="rect">
            <a:avLst/>
          </a:prstGeom>
          <a:noFill/>
          <a:ln/>
        </p:spPr>
        <p:txBody>
          <a:bodyPr wrap="square" lIns="0" tIns="0" rIns="0" bIns="0" rtlCol="0" anchor="ctr"/>
          <a:lstStyle/>
          <a:p>
            <a:pPr algn="ctr" indent="0" marL="0">
              <a:buNone/>
            </a:pPr>
            <a:r>
              <a:rPr lang="en-US" sz="4000" b="1" dirty="0">
                <a:solidFill>
                  <a:srgbClr val="E11D48"/>
                </a:solidFill>
                <a:latin typeface="Georgia" pitchFamily="34" charset="0"/>
                <a:ea typeface="Georgia" pitchFamily="34" charset="-122"/>
                <a:cs typeface="Georgia" pitchFamily="34" charset="-120"/>
              </a:rPr>
              <a:t>1 agent</a:t>
            </a:r>
            <a:endParaRPr lang="en-US" sz="4000" dirty="0"/>
          </a:p>
        </p:txBody>
      </p:sp>
      <p:sp>
        <p:nvSpPr>
          <p:cNvPr id="15" name="Text 13"/>
          <p:cNvSpPr/>
          <p:nvPr/>
        </p:nvSpPr>
        <p:spPr>
          <a:xfrm>
            <a:off x="9061704" y="2734056"/>
            <a:ext cx="2462479" cy="548640"/>
          </a:xfrm>
          <a:prstGeom prst="rect">
            <a:avLst/>
          </a:prstGeom>
          <a:noFill/>
          <a:ln/>
        </p:spPr>
        <p:txBody>
          <a:bodyPr wrap="square" lIns="0" tIns="0" rIns="0" bIns="0" rtlCol="0" anchor="t"/>
          <a:lstStyle/>
          <a:p>
            <a:pPr algn="ctr" indent="0" marL="0">
              <a:buNone/>
            </a:pPr>
            <a:r>
              <a:rPr lang="en-US" sz="1150" dirty="0">
                <a:solidFill>
                  <a:srgbClr val="5B6577"/>
                </a:solidFill>
                <a:latin typeface="Calibri" pitchFamily="34" charset="0"/>
                <a:ea typeface="Calibri" pitchFamily="34" charset="-122"/>
                <a:cs typeface="Calibri" pitchFamily="34" charset="-120"/>
              </a:rPr>
              <a:t>Replaces search + support + checkout hand-offs</a:t>
            </a:r>
            <a:endParaRPr lang="en-US" sz="1150" dirty="0"/>
          </a:p>
        </p:txBody>
      </p:sp>
      <p:sp>
        <p:nvSpPr>
          <p:cNvPr id="16" name="Shape 14"/>
          <p:cNvSpPr/>
          <p:nvPr/>
        </p:nvSpPr>
        <p:spPr>
          <a:xfrm>
            <a:off x="502920" y="3657600"/>
            <a:ext cx="5318608" cy="1234440"/>
          </a:xfrm>
          <a:prstGeom prst="roundRect">
            <a:avLst>
              <a:gd name="adj" fmla="val 5926"/>
            </a:avLst>
          </a:prstGeom>
          <a:solidFill>
            <a:srgbClr val="F5F6FB"/>
          </a:solidFill>
          <a:ln w="12700">
            <a:solidFill>
              <a:srgbClr val="E6E8F0"/>
            </a:solidFill>
            <a:prstDash val="solid"/>
          </a:ln>
        </p:spPr>
      </p:sp>
      <p:sp>
        <p:nvSpPr>
          <p:cNvPr id="17" name="Shape 15"/>
          <p:cNvSpPr/>
          <p:nvPr/>
        </p:nvSpPr>
        <p:spPr>
          <a:xfrm>
            <a:off x="704088" y="3986784"/>
            <a:ext cx="548640" cy="548640"/>
          </a:xfrm>
          <a:prstGeom prst="roundRect">
            <a:avLst>
              <a:gd name="adj" fmla="val 20000"/>
            </a:avLst>
          </a:prstGeom>
          <a:solidFill>
            <a:srgbClr val="E11D48"/>
          </a:solidFill>
          <a:ln/>
        </p:spPr>
      </p:sp>
      <p:pic>
        <p:nvPicPr>
          <p:cNvPr id="18" name="Image 0" descr="icons/chart.png">    </p:cNvPr>
          <p:cNvPicPr>
            <a:picLocks noChangeAspect="1"/>
          </p:cNvPicPr>
          <p:nvPr/>
        </p:nvPicPr>
        <p:blipFill>
          <a:blip r:embed="rId1"/>
          <a:stretch>
            <a:fillRect/>
          </a:stretch>
        </p:blipFill>
        <p:spPr>
          <a:xfrm>
            <a:off x="841248" y="4123944"/>
            <a:ext cx="274320" cy="274320"/>
          </a:xfrm>
          <a:prstGeom prst="rect">
            <a:avLst/>
          </a:prstGeom>
        </p:spPr>
      </p:pic>
      <p:sp>
        <p:nvSpPr>
          <p:cNvPr id="19" name="Text 16"/>
          <p:cNvSpPr/>
          <p:nvPr/>
        </p:nvSpPr>
        <p:spPr>
          <a:xfrm>
            <a:off x="1417320" y="3840480"/>
            <a:ext cx="422132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Higher conversion &amp; AOV</a:t>
            </a:r>
            <a:endParaRPr lang="en-US" sz="1450" dirty="0"/>
          </a:p>
        </p:txBody>
      </p:sp>
      <p:sp>
        <p:nvSpPr>
          <p:cNvPr id="20" name="Text 17"/>
          <p:cNvSpPr/>
          <p:nvPr/>
        </p:nvSpPr>
        <p:spPr>
          <a:xfrm>
            <a:off x="1417320" y="4206240"/>
            <a:ext cx="4221328" cy="603504"/>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Natural discovery + “see-it-shop-it” + recommendations turn questions into orders.</a:t>
            </a:r>
            <a:endParaRPr lang="en-US" sz="1200" dirty="0"/>
          </a:p>
        </p:txBody>
      </p:sp>
      <p:sp>
        <p:nvSpPr>
          <p:cNvPr id="21" name="Shape 18"/>
          <p:cNvSpPr/>
          <p:nvPr/>
        </p:nvSpPr>
        <p:spPr>
          <a:xfrm>
            <a:off x="6370168" y="3657600"/>
            <a:ext cx="5318608" cy="1234440"/>
          </a:xfrm>
          <a:prstGeom prst="roundRect">
            <a:avLst>
              <a:gd name="adj" fmla="val 5926"/>
            </a:avLst>
          </a:prstGeom>
          <a:solidFill>
            <a:srgbClr val="F5F6FB"/>
          </a:solidFill>
          <a:ln w="12700">
            <a:solidFill>
              <a:srgbClr val="E6E8F0"/>
            </a:solidFill>
            <a:prstDash val="solid"/>
          </a:ln>
        </p:spPr>
      </p:sp>
      <p:sp>
        <p:nvSpPr>
          <p:cNvPr id="22" name="Shape 19"/>
          <p:cNvSpPr/>
          <p:nvPr/>
        </p:nvSpPr>
        <p:spPr>
          <a:xfrm>
            <a:off x="6571336" y="3986784"/>
            <a:ext cx="548640" cy="548640"/>
          </a:xfrm>
          <a:prstGeom prst="roundRect">
            <a:avLst>
              <a:gd name="adj" fmla="val 20000"/>
            </a:avLst>
          </a:prstGeom>
          <a:solidFill>
            <a:srgbClr val="E11D48"/>
          </a:solidFill>
          <a:ln/>
        </p:spPr>
      </p:sp>
      <p:pic>
        <p:nvPicPr>
          <p:cNvPr id="23" name="Image 1" descr="icons/globe.png">    </p:cNvPr>
          <p:cNvPicPr>
            <a:picLocks noChangeAspect="1"/>
          </p:cNvPicPr>
          <p:nvPr/>
        </p:nvPicPr>
        <p:blipFill>
          <a:blip r:embed="rId2"/>
          <a:stretch>
            <a:fillRect/>
          </a:stretch>
        </p:blipFill>
        <p:spPr>
          <a:xfrm>
            <a:off x="6708496" y="4123944"/>
            <a:ext cx="274320" cy="274320"/>
          </a:xfrm>
          <a:prstGeom prst="rect">
            <a:avLst/>
          </a:prstGeom>
        </p:spPr>
      </p:pic>
      <p:sp>
        <p:nvSpPr>
          <p:cNvPr id="24" name="Text 20"/>
          <p:cNvSpPr/>
          <p:nvPr/>
        </p:nvSpPr>
        <p:spPr>
          <a:xfrm>
            <a:off x="7284568" y="3840480"/>
            <a:ext cx="422132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Instant global reach</a:t>
            </a:r>
            <a:endParaRPr lang="en-US" sz="1450" dirty="0"/>
          </a:p>
        </p:txBody>
      </p:sp>
      <p:sp>
        <p:nvSpPr>
          <p:cNvPr id="25" name="Text 21"/>
          <p:cNvSpPr/>
          <p:nvPr/>
        </p:nvSpPr>
        <p:spPr>
          <a:xfrm>
            <a:off x="7284568" y="4206240"/>
            <a:ext cx="4221328" cy="603504"/>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One agent serves every language &amp; channel — no per-market chatbot rebuilds.</a:t>
            </a:r>
            <a:endParaRPr lang="en-US" sz="1200" dirty="0"/>
          </a:p>
        </p:txBody>
      </p:sp>
      <p:sp>
        <p:nvSpPr>
          <p:cNvPr id="26" name="Shape 22"/>
          <p:cNvSpPr/>
          <p:nvPr/>
        </p:nvSpPr>
        <p:spPr>
          <a:xfrm>
            <a:off x="502920" y="5093208"/>
            <a:ext cx="5318608" cy="1234440"/>
          </a:xfrm>
          <a:prstGeom prst="roundRect">
            <a:avLst>
              <a:gd name="adj" fmla="val 5926"/>
            </a:avLst>
          </a:prstGeom>
          <a:solidFill>
            <a:srgbClr val="F5F6FB"/>
          </a:solidFill>
          <a:ln w="12700">
            <a:solidFill>
              <a:srgbClr val="E6E8F0"/>
            </a:solidFill>
            <a:prstDash val="solid"/>
          </a:ln>
        </p:spPr>
      </p:sp>
      <p:sp>
        <p:nvSpPr>
          <p:cNvPr id="27" name="Shape 23"/>
          <p:cNvSpPr/>
          <p:nvPr/>
        </p:nvSpPr>
        <p:spPr>
          <a:xfrm>
            <a:off x="704088" y="5422392"/>
            <a:ext cx="548640" cy="548640"/>
          </a:xfrm>
          <a:prstGeom prst="roundRect">
            <a:avLst>
              <a:gd name="adj" fmla="val 20000"/>
            </a:avLst>
          </a:prstGeom>
          <a:solidFill>
            <a:srgbClr val="E11D48"/>
          </a:solidFill>
          <a:ln/>
        </p:spPr>
      </p:sp>
      <p:pic>
        <p:nvPicPr>
          <p:cNvPr id="28" name="Image 2" descr="icons/bolt.png">    </p:cNvPr>
          <p:cNvPicPr>
            <a:picLocks noChangeAspect="1"/>
          </p:cNvPicPr>
          <p:nvPr/>
        </p:nvPicPr>
        <p:blipFill>
          <a:blip r:embed="rId3"/>
          <a:stretch>
            <a:fillRect/>
          </a:stretch>
        </p:blipFill>
        <p:spPr>
          <a:xfrm>
            <a:off x="841248" y="5559552"/>
            <a:ext cx="274320" cy="274320"/>
          </a:xfrm>
          <a:prstGeom prst="rect">
            <a:avLst/>
          </a:prstGeom>
        </p:spPr>
      </p:pic>
      <p:sp>
        <p:nvSpPr>
          <p:cNvPr id="29" name="Text 24"/>
          <p:cNvSpPr/>
          <p:nvPr/>
        </p:nvSpPr>
        <p:spPr>
          <a:xfrm>
            <a:off x="1417320" y="5276088"/>
            <a:ext cx="422132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Lower cost to serve</a:t>
            </a:r>
            <a:endParaRPr lang="en-US" sz="1450" dirty="0"/>
          </a:p>
        </p:txBody>
      </p:sp>
      <p:sp>
        <p:nvSpPr>
          <p:cNvPr id="30" name="Text 25"/>
          <p:cNvSpPr/>
          <p:nvPr/>
        </p:nvSpPr>
        <p:spPr>
          <a:xfrm>
            <a:off x="1417320" y="5641848"/>
            <a:ext cx="4221328" cy="603504"/>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Deflect routine contacts; serverless + free-tier-first keeps run-cost low.</a:t>
            </a:r>
            <a:endParaRPr lang="en-US" sz="1200" dirty="0"/>
          </a:p>
        </p:txBody>
      </p:sp>
      <p:sp>
        <p:nvSpPr>
          <p:cNvPr id="31" name="Shape 26"/>
          <p:cNvSpPr/>
          <p:nvPr/>
        </p:nvSpPr>
        <p:spPr>
          <a:xfrm>
            <a:off x="6370168" y="5093208"/>
            <a:ext cx="5318608" cy="1234440"/>
          </a:xfrm>
          <a:prstGeom prst="roundRect">
            <a:avLst>
              <a:gd name="adj" fmla="val 5926"/>
            </a:avLst>
          </a:prstGeom>
          <a:solidFill>
            <a:srgbClr val="F5F6FB"/>
          </a:solidFill>
          <a:ln w="12700">
            <a:solidFill>
              <a:srgbClr val="E6E8F0"/>
            </a:solidFill>
            <a:prstDash val="solid"/>
          </a:ln>
        </p:spPr>
      </p:sp>
      <p:sp>
        <p:nvSpPr>
          <p:cNvPr id="32" name="Shape 27"/>
          <p:cNvSpPr/>
          <p:nvPr/>
        </p:nvSpPr>
        <p:spPr>
          <a:xfrm>
            <a:off x="6571336" y="5422392"/>
            <a:ext cx="548640" cy="548640"/>
          </a:xfrm>
          <a:prstGeom prst="roundRect">
            <a:avLst>
              <a:gd name="adj" fmla="val 20000"/>
            </a:avLst>
          </a:prstGeom>
          <a:solidFill>
            <a:srgbClr val="E11D48"/>
          </a:solidFill>
          <a:ln/>
        </p:spPr>
      </p:sp>
      <p:pic>
        <p:nvPicPr>
          <p:cNvPr id="33" name="Image 3" descr="icons/shield.png">    </p:cNvPr>
          <p:cNvPicPr>
            <a:picLocks noChangeAspect="1"/>
          </p:cNvPicPr>
          <p:nvPr/>
        </p:nvPicPr>
        <p:blipFill>
          <a:blip r:embed="rId4"/>
          <a:stretch>
            <a:fillRect/>
          </a:stretch>
        </p:blipFill>
        <p:spPr>
          <a:xfrm>
            <a:off x="6708496" y="5559552"/>
            <a:ext cx="274320" cy="274320"/>
          </a:xfrm>
          <a:prstGeom prst="rect">
            <a:avLst/>
          </a:prstGeom>
        </p:spPr>
      </p:pic>
      <p:sp>
        <p:nvSpPr>
          <p:cNvPr id="34" name="Text 28"/>
          <p:cNvSpPr/>
          <p:nvPr/>
        </p:nvSpPr>
        <p:spPr>
          <a:xfrm>
            <a:off x="7284568" y="5276088"/>
            <a:ext cx="4221328" cy="365760"/>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Brand-safe automation</a:t>
            </a:r>
            <a:endParaRPr lang="en-US" sz="1450" dirty="0"/>
          </a:p>
        </p:txBody>
      </p:sp>
      <p:sp>
        <p:nvSpPr>
          <p:cNvPr id="35" name="Text 29"/>
          <p:cNvSpPr/>
          <p:nvPr/>
        </p:nvSpPr>
        <p:spPr>
          <a:xfrm>
            <a:off x="7284568" y="5641848"/>
            <a:ext cx="4221328" cy="603504"/>
          </a:xfrm>
          <a:prstGeom prst="rect">
            <a:avLst/>
          </a:prstGeom>
          <a:noFill/>
          <a:ln/>
        </p:spPr>
        <p:txBody>
          <a:bodyPr wrap="square" lIns="0" tIns="0" rIns="0" bIns="0" rtlCol="0" anchor="t"/>
          <a:lstStyle/>
          <a:p>
            <a:pPr indent="0" marL="0">
              <a:buNone/>
            </a:pPr>
            <a:r>
              <a:rPr lang="en-US" sz="1200" dirty="0">
                <a:solidFill>
                  <a:srgbClr val="5B6577"/>
                </a:solidFill>
                <a:latin typeface="Calibri" pitchFamily="34" charset="0"/>
                <a:ea typeface="Calibri" pitchFamily="34" charset="-122"/>
                <a:cs typeface="Calibri" pitchFamily="34" charset="-120"/>
              </a:rPr>
              <a:t>No substitutions, confirm-before-charge, self-healing — automation you can trust on revenue.</a:t>
            </a:r>
            <a:endParaRPr lang="en-US" sz="1200" dirty="0"/>
          </a:p>
        </p:txBody>
      </p:sp>
      <p:sp>
        <p:nvSpPr>
          <p:cNvPr id="36" name="Text 30"/>
          <p:cNvSpPr/>
          <p:nvPr/>
        </p:nvSpPr>
        <p:spPr>
          <a:xfrm>
            <a:off x="502920" y="6272784"/>
            <a:ext cx="11185855" cy="228600"/>
          </a:xfrm>
          <a:prstGeom prst="rect">
            <a:avLst/>
          </a:prstGeom>
          <a:noFill/>
          <a:ln/>
        </p:spPr>
        <p:txBody>
          <a:bodyPr wrap="square" lIns="0" tIns="0" rIns="0" bIns="0" rtlCol="0" anchor="ctr"/>
          <a:lstStyle/>
          <a:p>
            <a:pPr indent="0" marL="0">
              <a:buNone/>
            </a:pPr>
            <a:r>
              <a:rPr lang="en-US" sz="900" i="1" dirty="0">
                <a:solidFill>
                  <a:srgbClr val="8A94A6"/>
                </a:solidFill>
                <a:latin typeface="Calibri" pitchFamily="34" charset="0"/>
                <a:ea typeface="Calibri" pitchFamily="34" charset="-122"/>
                <a:cs typeface="Calibri" pitchFamily="34" charset="-120"/>
              </a:rPr>
              <a:t>Benchmarks are illustrative industry ranges, not client results.</a:t>
            </a:r>
            <a:endParaRPr lang="en-US" sz="900" dirty="0"/>
          </a:p>
        </p:txBody>
      </p:sp>
      <p:sp>
        <p:nvSpPr>
          <p:cNvPr id="37" name="Text 31"/>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38" name="Text 32"/>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WHY GOOGLE CLOUD IS THE RIGHT PLATFORM</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The architecture maps cleanly to Google Cloud strengths</a:t>
            </a:r>
            <a:endParaRPr lang="en-US" sz="2800" dirty="0"/>
          </a:p>
        </p:txBody>
      </p:sp>
      <p:sp>
        <p:nvSpPr>
          <p:cNvPr id="4" name="Shape 2"/>
          <p:cNvSpPr/>
          <p:nvPr/>
        </p:nvSpPr>
        <p:spPr>
          <a:xfrm>
            <a:off x="502920" y="178308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5" name="Shape 3"/>
          <p:cNvSpPr/>
          <p:nvPr/>
        </p:nvSpPr>
        <p:spPr>
          <a:xfrm>
            <a:off x="740664" y="2002536"/>
            <a:ext cx="566928" cy="566928"/>
          </a:xfrm>
          <a:prstGeom prst="roundRect">
            <a:avLst>
              <a:gd name="adj" fmla="val 19355"/>
            </a:avLst>
          </a:prstGeom>
          <a:solidFill>
            <a:srgbClr val="7C3AED"/>
          </a:solidFill>
          <a:ln/>
        </p:spPr>
      </p:sp>
      <p:pic>
        <p:nvPicPr>
          <p:cNvPr id="6" name="Image 0" descr="icons/robot.png">    </p:cNvPr>
          <p:cNvPicPr>
            <a:picLocks noChangeAspect="1"/>
          </p:cNvPicPr>
          <p:nvPr/>
        </p:nvPicPr>
        <p:blipFill>
          <a:blip r:embed="rId1"/>
          <a:stretch>
            <a:fillRect/>
          </a:stretch>
        </p:blipFill>
        <p:spPr>
          <a:xfrm>
            <a:off x="877824" y="2139696"/>
            <a:ext cx="292608" cy="292608"/>
          </a:xfrm>
          <a:prstGeom prst="rect">
            <a:avLst/>
          </a:prstGeom>
        </p:spPr>
      </p:pic>
      <p:sp>
        <p:nvSpPr>
          <p:cNvPr id="7" name="Text 4"/>
          <p:cNvSpPr/>
          <p:nvPr/>
        </p:nvSpPr>
        <p:spPr>
          <a:xfrm>
            <a:off x="1490472" y="1984248"/>
            <a:ext cx="2357018" cy="60350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Vertex AI · Gemini 2.5 Flash</a:t>
            </a:r>
            <a:endParaRPr lang="en-US" sz="1350" dirty="0"/>
          </a:p>
        </p:txBody>
      </p:sp>
      <p:sp>
        <p:nvSpPr>
          <p:cNvPr id="8" name="Text 5"/>
          <p:cNvSpPr/>
          <p:nvPr/>
        </p:nvSpPr>
        <p:spPr>
          <a:xfrm>
            <a:off x="758952" y="267919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One natively-multimodal model — text, reasoning &amp; vision in a managed, secure, high-quota service.</a:t>
            </a:r>
            <a:endParaRPr lang="en-US" sz="1200" dirty="0"/>
          </a:p>
        </p:txBody>
      </p:sp>
      <p:sp>
        <p:nvSpPr>
          <p:cNvPr id="9" name="Shape 6"/>
          <p:cNvSpPr/>
          <p:nvPr/>
        </p:nvSpPr>
        <p:spPr>
          <a:xfrm>
            <a:off x="4322978" y="178308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0" name="Shape 7"/>
          <p:cNvSpPr/>
          <p:nvPr/>
        </p:nvSpPr>
        <p:spPr>
          <a:xfrm>
            <a:off x="4560722" y="2002536"/>
            <a:ext cx="566928" cy="566928"/>
          </a:xfrm>
          <a:prstGeom prst="roundRect">
            <a:avLst>
              <a:gd name="adj" fmla="val 19355"/>
            </a:avLst>
          </a:prstGeom>
          <a:solidFill>
            <a:srgbClr val="2563EB"/>
          </a:solidFill>
          <a:ln/>
        </p:spPr>
      </p:sp>
      <p:pic>
        <p:nvPicPr>
          <p:cNvPr id="11" name="Image 1" descr="icons/sitemap.png">    </p:cNvPr>
          <p:cNvPicPr>
            <a:picLocks noChangeAspect="1"/>
          </p:cNvPicPr>
          <p:nvPr/>
        </p:nvPicPr>
        <p:blipFill>
          <a:blip r:embed="rId2"/>
          <a:stretch>
            <a:fillRect/>
          </a:stretch>
        </p:blipFill>
        <p:spPr>
          <a:xfrm>
            <a:off x="4697882" y="2139696"/>
            <a:ext cx="292608" cy="292608"/>
          </a:xfrm>
          <a:prstGeom prst="rect">
            <a:avLst/>
          </a:prstGeom>
        </p:spPr>
      </p:pic>
      <p:sp>
        <p:nvSpPr>
          <p:cNvPr id="12" name="Text 8"/>
          <p:cNvSpPr/>
          <p:nvPr/>
        </p:nvSpPr>
        <p:spPr>
          <a:xfrm>
            <a:off x="5310530" y="1984248"/>
            <a:ext cx="2357018" cy="60350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Agent Development Kit (ADK)</a:t>
            </a:r>
            <a:endParaRPr lang="en-US" sz="1350" dirty="0"/>
          </a:p>
        </p:txBody>
      </p:sp>
      <p:sp>
        <p:nvSpPr>
          <p:cNvPr id="13" name="Text 9"/>
          <p:cNvSpPr/>
          <p:nvPr/>
        </p:nvSpPr>
        <p:spPr>
          <a:xfrm>
            <a:off x="4579010" y="267919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First-class multi-agent orchestration, tools &amp; tracing — less glue code, more capability.</a:t>
            </a:r>
            <a:endParaRPr lang="en-US" sz="1200" dirty="0"/>
          </a:p>
        </p:txBody>
      </p:sp>
      <p:sp>
        <p:nvSpPr>
          <p:cNvPr id="14" name="Shape 10"/>
          <p:cNvSpPr/>
          <p:nvPr/>
        </p:nvSpPr>
        <p:spPr>
          <a:xfrm>
            <a:off x="8143037" y="178308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5" name="Shape 11"/>
          <p:cNvSpPr/>
          <p:nvPr/>
        </p:nvSpPr>
        <p:spPr>
          <a:xfrm>
            <a:off x="8380781" y="2002536"/>
            <a:ext cx="566928" cy="566928"/>
          </a:xfrm>
          <a:prstGeom prst="roundRect">
            <a:avLst>
              <a:gd name="adj" fmla="val 19355"/>
            </a:avLst>
          </a:prstGeom>
          <a:solidFill>
            <a:srgbClr val="F59E0B"/>
          </a:solidFill>
          <a:ln/>
        </p:spPr>
      </p:sp>
      <p:pic>
        <p:nvPicPr>
          <p:cNvPr id="16" name="Image 2" descr="icons/bolt.png">    </p:cNvPr>
          <p:cNvPicPr>
            <a:picLocks noChangeAspect="1"/>
          </p:cNvPicPr>
          <p:nvPr/>
        </p:nvPicPr>
        <p:blipFill>
          <a:blip r:embed="rId3"/>
          <a:stretch>
            <a:fillRect/>
          </a:stretch>
        </p:blipFill>
        <p:spPr>
          <a:xfrm>
            <a:off x="8517941" y="2139696"/>
            <a:ext cx="292608" cy="292608"/>
          </a:xfrm>
          <a:prstGeom prst="rect">
            <a:avLst/>
          </a:prstGeom>
        </p:spPr>
      </p:pic>
      <p:sp>
        <p:nvSpPr>
          <p:cNvPr id="17" name="Text 12"/>
          <p:cNvSpPr/>
          <p:nvPr/>
        </p:nvSpPr>
        <p:spPr>
          <a:xfrm>
            <a:off x="9130589" y="1984248"/>
            <a:ext cx="2357018" cy="60350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Cloud Run</a:t>
            </a:r>
            <a:endParaRPr lang="en-US" sz="1350" dirty="0"/>
          </a:p>
        </p:txBody>
      </p:sp>
      <p:sp>
        <p:nvSpPr>
          <p:cNvPr id="18" name="Text 13"/>
          <p:cNvSpPr/>
          <p:nvPr/>
        </p:nvSpPr>
        <p:spPr>
          <a:xfrm>
            <a:off x="8399069" y="267919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Serverless, scales to zero, container-native — pay only for live conversations.</a:t>
            </a:r>
            <a:endParaRPr lang="en-US" sz="1200" dirty="0"/>
          </a:p>
        </p:txBody>
      </p:sp>
      <p:sp>
        <p:nvSpPr>
          <p:cNvPr id="19" name="Shape 14"/>
          <p:cNvSpPr/>
          <p:nvPr/>
        </p:nvSpPr>
        <p:spPr>
          <a:xfrm>
            <a:off x="502920" y="379476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0" name="Shape 15"/>
          <p:cNvSpPr/>
          <p:nvPr/>
        </p:nvSpPr>
        <p:spPr>
          <a:xfrm>
            <a:off x="740664" y="4014216"/>
            <a:ext cx="566928" cy="566928"/>
          </a:xfrm>
          <a:prstGeom prst="roundRect">
            <a:avLst>
              <a:gd name="adj" fmla="val 19355"/>
            </a:avLst>
          </a:prstGeom>
          <a:solidFill>
            <a:srgbClr val="0D9488"/>
          </a:solidFill>
          <a:ln/>
        </p:spPr>
      </p:sp>
      <p:pic>
        <p:nvPicPr>
          <p:cNvPr id="21" name="Image 3" descr="icons/db.png">    </p:cNvPr>
          <p:cNvPicPr>
            <a:picLocks noChangeAspect="1"/>
          </p:cNvPicPr>
          <p:nvPr/>
        </p:nvPicPr>
        <p:blipFill>
          <a:blip r:embed="rId4"/>
          <a:stretch>
            <a:fillRect/>
          </a:stretch>
        </p:blipFill>
        <p:spPr>
          <a:xfrm>
            <a:off x="877824" y="4151376"/>
            <a:ext cx="292608" cy="292608"/>
          </a:xfrm>
          <a:prstGeom prst="rect">
            <a:avLst/>
          </a:prstGeom>
        </p:spPr>
      </p:pic>
      <p:sp>
        <p:nvSpPr>
          <p:cNvPr id="22" name="Text 16"/>
          <p:cNvSpPr/>
          <p:nvPr/>
        </p:nvSpPr>
        <p:spPr>
          <a:xfrm>
            <a:off x="1490472" y="3995928"/>
            <a:ext cx="2357018" cy="60350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Firestore</a:t>
            </a:r>
            <a:endParaRPr lang="en-US" sz="1350" dirty="0"/>
          </a:p>
        </p:txBody>
      </p:sp>
      <p:sp>
        <p:nvSpPr>
          <p:cNvPr id="23" name="Text 17"/>
          <p:cNvSpPr/>
          <p:nvPr/>
        </p:nvSpPr>
        <p:spPr>
          <a:xfrm>
            <a:off x="758952" y="469087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Durable, shared session state across instances — context survives autoscaling.</a:t>
            </a:r>
            <a:endParaRPr lang="en-US" sz="1200" dirty="0"/>
          </a:p>
        </p:txBody>
      </p:sp>
      <p:sp>
        <p:nvSpPr>
          <p:cNvPr id="24" name="Shape 18"/>
          <p:cNvSpPr/>
          <p:nvPr/>
        </p:nvSpPr>
        <p:spPr>
          <a:xfrm>
            <a:off x="4322978" y="379476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5" name="Shape 19"/>
          <p:cNvSpPr/>
          <p:nvPr/>
        </p:nvSpPr>
        <p:spPr>
          <a:xfrm>
            <a:off x="4560722" y="4014216"/>
            <a:ext cx="566928" cy="566928"/>
          </a:xfrm>
          <a:prstGeom prst="roundRect">
            <a:avLst>
              <a:gd name="adj" fmla="val 19355"/>
            </a:avLst>
          </a:prstGeom>
          <a:solidFill>
            <a:srgbClr val="E11D48"/>
          </a:solidFill>
          <a:ln/>
        </p:spPr>
      </p:sp>
      <p:pic>
        <p:nvPicPr>
          <p:cNvPr id="26" name="Image 4" descr="icons/eye.png">    </p:cNvPr>
          <p:cNvPicPr>
            <a:picLocks noChangeAspect="1"/>
          </p:cNvPicPr>
          <p:nvPr/>
        </p:nvPicPr>
        <p:blipFill>
          <a:blip r:embed="rId5"/>
          <a:stretch>
            <a:fillRect/>
          </a:stretch>
        </p:blipFill>
        <p:spPr>
          <a:xfrm>
            <a:off x="4697882" y="4151376"/>
            <a:ext cx="292608" cy="292608"/>
          </a:xfrm>
          <a:prstGeom prst="rect">
            <a:avLst/>
          </a:prstGeom>
        </p:spPr>
      </p:pic>
      <p:sp>
        <p:nvSpPr>
          <p:cNvPr id="27" name="Text 20"/>
          <p:cNvSpPr/>
          <p:nvPr/>
        </p:nvSpPr>
        <p:spPr>
          <a:xfrm>
            <a:off x="5310530" y="3995928"/>
            <a:ext cx="2357018" cy="60350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Cloud Trace &amp; Logging</a:t>
            </a:r>
            <a:endParaRPr lang="en-US" sz="1350" dirty="0"/>
          </a:p>
        </p:txBody>
      </p:sp>
      <p:sp>
        <p:nvSpPr>
          <p:cNvPr id="28" name="Text 21"/>
          <p:cNvSpPr/>
          <p:nvPr/>
        </p:nvSpPr>
        <p:spPr>
          <a:xfrm>
            <a:off x="4579010" y="469087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Every agent/tool is a span — pinpoint the failing node in a multi-agent turn.</a:t>
            </a:r>
            <a:endParaRPr lang="en-US" sz="1200" dirty="0"/>
          </a:p>
        </p:txBody>
      </p:sp>
      <p:sp>
        <p:nvSpPr>
          <p:cNvPr id="29" name="Shape 22"/>
          <p:cNvSpPr/>
          <p:nvPr/>
        </p:nvSpPr>
        <p:spPr>
          <a:xfrm>
            <a:off x="8143037" y="3794760"/>
            <a:ext cx="3545738" cy="1783080"/>
          </a:xfrm>
          <a:prstGeom prst="roundRect">
            <a:avLst>
              <a:gd name="adj" fmla="val 4615"/>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30" name="Shape 23"/>
          <p:cNvSpPr/>
          <p:nvPr/>
        </p:nvSpPr>
        <p:spPr>
          <a:xfrm>
            <a:off x="8380781" y="4014216"/>
            <a:ext cx="566928" cy="566928"/>
          </a:xfrm>
          <a:prstGeom prst="roundRect">
            <a:avLst>
              <a:gd name="adj" fmla="val 19355"/>
            </a:avLst>
          </a:prstGeom>
          <a:solidFill>
            <a:srgbClr val="0D9488"/>
          </a:solidFill>
          <a:ln/>
        </p:spPr>
      </p:sp>
      <p:pic>
        <p:nvPicPr>
          <p:cNvPr id="31" name="Image 5" descr="icons/plug.png">    </p:cNvPr>
          <p:cNvPicPr>
            <a:picLocks noChangeAspect="1"/>
          </p:cNvPicPr>
          <p:nvPr/>
        </p:nvPicPr>
        <p:blipFill>
          <a:blip r:embed="rId6"/>
          <a:stretch>
            <a:fillRect/>
          </a:stretch>
        </p:blipFill>
        <p:spPr>
          <a:xfrm>
            <a:off x="8517941" y="4151376"/>
            <a:ext cx="292608" cy="292608"/>
          </a:xfrm>
          <a:prstGeom prst="rect">
            <a:avLst/>
          </a:prstGeom>
        </p:spPr>
      </p:pic>
      <p:sp>
        <p:nvSpPr>
          <p:cNvPr id="32" name="Text 24"/>
          <p:cNvSpPr/>
          <p:nvPr/>
        </p:nvSpPr>
        <p:spPr>
          <a:xfrm>
            <a:off x="9130589" y="3995928"/>
            <a:ext cx="2357018" cy="60350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Extensible to CCAI / Translation</a:t>
            </a:r>
            <a:endParaRPr lang="en-US" sz="1350" dirty="0"/>
          </a:p>
        </p:txBody>
      </p:sp>
      <p:sp>
        <p:nvSpPr>
          <p:cNvPr id="33" name="Text 25"/>
          <p:cNvSpPr/>
          <p:nvPr/>
        </p:nvSpPr>
        <p:spPr>
          <a:xfrm>
            <a:off x="8399069" y="4690872"/>
            <a:ext cx="3088538" cy="740664"/>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5B6577"/>
                </a:solidFill>
                <a:latin typeface="Calibri" pitchFamily="34" charset="0"/>
                <a:ea typeface="Calibri" pitchFamily="34" charset="-122"/>
                <a:cs typeface="Calibri" pitchFamily="34" charset="-120"/>
              </a:rPr>
              <a:t>Clear path to true telephony, agent-assist, and long-tail languages.</a:t>
            </a:r>
            <a:endParaRPr lang="en-US" sz="1200" dirty="0"/>
          </a:p>
        </p:txBody>
      </p:sp>
      <p:sp>
        <p:nvSpPr>
          <p:cNvPr id="34" name="Text 26"/>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35" name="Text 27"/>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74320"/>
          </a:xfrm>
          <a:prstGeom prst="rect">
            <a:avLst/>
          </a:prstGeom>
          <a:noFill/>
          <a:ln/>
        </p:spPr>
        <p:txBody>
          <a:bodyPr wrap="square" lIns="0" tIns="0" rIns="0" bIns="0"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IMPLEMENTATION &amp; NEXT STEPS</a:t>
            </a:r>
            <a:endParaRPr lang="en-US" sz="1200" dirty="0"/>
          </a:p>
        </p:txBody>
      </p:sp>
      <p:sp>
        <p:nvSpPr>
          <p:cNvPr id="3" name="Text 1"/>
          <p:cNvSpPr/>
          <p:nvPr/>
        </p:nvSpPr>
        <p:spPr>
          <a:xfrm>
            <a:off x="502920" y="749808"/>
            <a:ext cx="11185855" cy="914400"/>
          </a:xfrm>
          <a:prstGeom prst="rect">
            <a:avLst/>
          </a:prstGeom>
          <a:noFill/>
          <a:ln/>
        </p:spPr>
        <p:txBody>
          <a:bodyPr wrap="square" lIns="0" tIns="0" rIns="0" bIns="0" rtlCol="0" anchor="t"/>
          <a:lstStyle/>
          <a:p>
            <a:pPr indent="0" marL="0">
              <a:buNone/>
            </a:pPr>
            <a:r>
              <a:rPr lang="en-US" sz="2800" b="1" dirty="0">
                <a:solidFill>
                  <a:srgbClr val="0F172A"/>
                </a:solidFill>
                <a:latin typeface="Georgia" pitchFamily="34" charset="0"/>
                <a:ea typeface="Georgia" pitchFamily="34" charset="-122"/>
                <a:cs typeface="Georgia" pitchFamily="34" charset="-120"/>
              </a:rPr>
              <a:t>From working prototype to production ramp</a:t>
            </a:r>
            <a:endParaRPr lang="en-US" sz="2800" dirty="0"/>
          </a:p>
        </p:txBody>
      </p:sp>
      <p:sp>
        <p:nvSpPr>
          <p:cNvPr id="4" name="Shape 2"/>
          <p:cNvSpPr/>
          <p:nvPr/>
        </p:nvSpPr>
        <p:spPr>
          <a:xfrm>
            <a:off x="502920" y="1920240"/>
            <a:ext cx="2590724" cy="3383280"/>
          </a:xfrm>
          <a:prstGeom prst="roundRect">
            <a:avLst>
              <a:gd name="adj" fmla="val 3177"/>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5" name="Shape 3"/>
          <p:cNvSpPr/>
          <p:nvPr/>
        </p:nvSpPr>
        <p:spPr>
          <a:xfrm>
            <a:off x="502920" y="1920240"/>
            <a:ext cx="2590724" cy="109728"/>
          </a:xfrm>
          <a:prstGeom prst="rect">
            <a:avLst/>
          </a:prstGeom>
          <a:solidFill>
            <a:srgbClr val="16A34A"/>
          </a:solidFill>
          <a:ln/>
        </p:spPr>
      </p:sp>
      <p:sp>
        <p:nvSpPr>
          <p:cNvPr id="6" name="Shape 4"/>
          <p:cNvSpPr/>
          <p:nvPr/>
        </p:nvSpPr>
        <p:spPr>
          <a:xfrm>
            <a:off x="722376" y="2231136"/>
            <a:ext cx="603504" cy="603504"/>
          </a:xfrm>
          <a:prstGeom prst="roundRect">
            <a:avLst>
              <a:gd name="adj" fmla="val 19697"/>
            </a:avLst>
          </a:prstGeom>
          <a:solidFill>
            <a:srgbClr val="16A34A"/>
          </a:solidFill>
          <a:ln/>
        </p:spPr>
      </p:sp>
      <p:pic>
        <p:nvPicPr>
          <p:cNvPr id="7" name="Image 0" descr="icons/check.png">    </p:cNvPr>
          <p:cNvPicPr>
            <a:picLocks noChangeAspect="1"/>
          </p:cNvPicPr>
          <p:nvPr/>
        </p:nvPicPr>
        <p:blipFill>
          <a:blip r:embed="rId1"/>
          <a:stretch>
            <a:fillRect/>
          </a:stretch>
        </p:blipFill>
        <p:spPr>
          <a:xfrm>
            <a:off x="877824" y="2386584"/>
            <a:ext cx="292608" cy="292608"/>
          </a:xfrm>
          <a:prstGeom prst="rect">
            <a:avLst/>
          </a:prstGeom>
        </p:spPr>
      </p:pic>
      <p:sp>
        <p:nvSpPr>
          <p:cNvPr id="8" name="Text 5"/>
          <p:cNvSpPr/>
          <p:nvPr/>
        </p:nvSpPr>
        <p:spPr>
          <a:xfrm>
            <a:off x="704088" y="2944368"/>
            <a:ext cx="2188388" cy="54864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Now — Prototype (done)</a:t>
            </a:r>
            <a:endParaRPr lang="en-US" sz="1400" dirty="0"/>
          </a:p>
        </p:txBody>
      </p:sp>
      <p:sp>
        <p:nvSpPr>
          <p:cNvPr id="9" name="Text 6"/>
          <p:cNvSpPr/>
          <p:nvPr/>
        </p:nvSpPr>
        <p:spPr>
          <a:xfrm>
            <a:off x="722376" y="3493008"/>
            <a:ext cx="2170100" cy="169164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Live on Cloud Run + Firestore</a:t>
            </a:r>
            <a:endParaRPr lang="en-US" sz="1150" dirty="0"/>
          </a:p>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All 4 requirements + safe checkout</a:t>
            </a:r>
            <a:endParaRPr lang="en-US" sz="1150" dirty="0"/>
          </a:p>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117 tests · CI/CD · /dev portal</a:t>
            </a:r>
            <a:endParaRPr lang="en-US" sz="1150" dirty="0"/>
          </a:p>
        </p:txBody>
      </p:sp>
      <p:pic>
        <p:nvPicPr>
          <p:cNvPr id="10" name="Image 1" descr="icons/arrow.png">    </p:cNvPr>
          <p:cNvPicPr>
            <a:picLocks noChangeAspect="1"/>
          </p:cNvPicPr>
          <p:nvPr/>
        </p:nvPicPr>
        <p:blipFill>
          <a:blip r:embed="rId2"/>
          <a:stretch>
            <a:fillRect/>
          </a:stretch>
        </p:blipFill>
        <p:spPr>
          <a:xfrm>
            <a:off x="3093644" y="3474720"/>
            <a:ext cx="256032" cy="256032"/>
          </a:xfrm>
          <a:prstGeom prst="rect">
            <a:avLst/>
          </a:prstGeom>
        </p:spPr>
      </p:pic>
      <p:sp>
        <p:nvSpPr>
          <p:cNvPr id="11" name="Shape 7"/>
          <p:cNvSpPr/>
          <p:nvPr/>
        </p:nvSpPr>
        <p:spPr>
          <a:xfrm>
            <a:off x="3367964" y="1920240"/>
            <a:ext cx="2590724" cy="3383280"/>
          </a:xfrm>
          <a:prstGeom prst="roundRect">
            <a:avLst>
              <a:gd name="adj" fmla="val 3177"/>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2" name="Shape 8"/>
          <p:cNvSpPr/>
          <p:nvPr/>
        </p:nvSpPr>
        <p:spPr>
          <a:xfrm>
            <a:off x="3367964" y="1920240"/>
            <a:ext cx="2590724" cy="109728"/>
          </a:xfrm>
          <a:prstGeom prst="rect">
            <a:avLst/>
          </a:prstGeom>
          <a:solidFill>
            <a:srgbClr val="2563EB"/>
          </a:solidFill>
          <a:ln/>
        </p:spPr>
      </p:sp>
      <p:sp>
        <p:nvSpPr>
          <p:cNvPr id="13" name="Shape 9"/>
          <p:cNvSpPr/>
          <p:nvPr/>
        </p:nvSpPr>
        <p:spPr>
          <a:xfrm>
            <a:off x="3587420" y="2231136"/>
            <a:ext cx="603504" cy="603504"/>
          </a:xfrm>
          <a:prstGeom prst="roundRect">
            <a:avLst>
              <a:gd name="adj" fmla="val 19697"/>
            </a:avLst>
          </a:prstGeom>
          <a:solidFill>
            <a:srgbClr val="2563EB"/>
          </a:solidFill>
          <a:ln/>
        </p:spPr>
      </p:sp>
      <p:pic>
        <p:nvPicPr>
          <p:cNvPr id="14" name="Image 2" descr="icons/users.png">    </p:cNvPr>
          <p:cNvPicPr>
            <a:picLocks noChangeAspect="1"/>
          </p:cNvPicPr>
          <p:nvPr/>
        </p:nvPicPr>
        <p:blipFill>
          <a:blip r:embed="rId3"/>
          <a:stretch>
            <a:fillRect/>
          </a:stretch>
        </p:blipFill>
        <p:spPr>
          <a:xfrm>
            <a:off x="3742868" y="2386584"/>
            <a:ext cx="292608" cy="292608"/>
          </a:xfrm>
          <a:prstGeom prst="rect">
            <a:avLst/>
          </a:prstGeom>
        </p:spPr>
      </p:pic>
      <p:sp>
        <p:nvSpPr>
          <p:cNvPr id="15" name="Text 10"/>
          <p:cNvSpPr/>
          <p:nvPr/>
        </p:nvSpPr>
        <p:spPr>
          <a:xfrm>
            <a:off x="3569132" y="2944368"/>
            <a:ext cx="2188388" cy="54864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Pilot — 4–6 wks</a:t>
            </a:r>
            <a:endParaRPr lang="en-US" sz="1400" dirty="0"/>
          </a:p>
        </p:txBody>
      </p:sp>
      <p:sp>
        <p:nvSpPr>
          <p:cNvPr id="16" name="Text 11"/>
          <p:cNvSpPr/>
          <p:nvPr/>
        </p:nvSpPr>
        <p:spPr>
          <a:xfrm>
            <a:off x="3587420" y="3493008"/>
            <a:ext cx="2170100" cy="169164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Multi-user + real SSO (Firebase/IdP)</a:t>
            </a:r>
            <a:endParaRPr lang="en-US" sz="1150" dirty="0"/>
          </a:p>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Secret Manager · CORS/IAM hardening</a:t>
            </a:r>
            <a:endParaRPr lang="en-US" sz="1150" dirty="0"/>
          </a:p>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Instrument deflection / conversion / CSAT</a:t>
            </a:r>
            <a:endParaRPr lang="en-US" sz="1150" dirty="0"/>
          </a:p>
        </p:txBody>
      </p:sp>
      <p:pic>
        <p:nvPicPr>
          <p:cNvPr id="17" name="Image 3" descr="icons/arrow.png">    </p:cNvPr>
          <p:cNvPicPr>
            <a:picLocks noChangeAspect="1"/>
          </p:cNvPicPr>
          <p:nvPr/>
        </p:nvPicPr>
        <p:blipFill>
          <a:blip r:embed="rId4"/>
          <a:stretch>
            <a:fillRect/>
          </a:stretch>
        </p:blipFill>
        <p:spPr>
          <a:xfrm>
            <a:off x="5958688" y="3474720"/>
            <a:ext cx="256032" cy="256032"/>
          </a:xfrm>
          <a:prstGeom prst="rect">
            <a:avLst/>
          </a:prstGeom>
        </p:spPr>
      </p:pic>
      <p:sp>
        <p:nvSpPr>
          <p:cNvPr id="18" name="Shape 12"/>
          <p:cNvSpPr/>
          <p:nvPr/>
        </p:nvSpPr>
        <p:spPr>
          <a:xfrm>
            <a:off x="6233008" y="1920240"/>
            <a:ext cx="2590724" cy="3383280"/>
          </a:xfrm>
          <a:prstGeom prst="roundRect">
            <a:avLst>
              <a:gd name="adj" fmla="val 3177"/>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19" name="Shape 13"/>
          <p:cNvSpPr/>
          <p:nvPr/>
        </p:nvSpPr>
        <p:spPr>
          <a:xfrm>
            <a:off x="6233008" y="1920240"/>
            <a:ext cx="2590724" cy="109728"/>
          </a:xfrm>
          <a:prstGeom prst="rect">
            <a:avLst/>
          </a:prstGeom>
          <a:solidFill>
            <a:srgbClr val="7C3AED"/>
          </a:solidFill>
          <a:ln/>
        </p:spPr>
      </p:sp>
      <p:sp>
        <p:nvSpPr>
          <p:cNvPr id="20" name="Shape 14"/>
          <p:cNvSpPr/>
          <p:nvPr/>
        </p:nvSpPr>
        <p:spPr>
          <a:xfrm>
            <a:off x="6452464" y="2231136"/>
            <a:ext cx="603504" cy="603504"/>
          </a:xfrm>
          <a:prstGeom prst="roundRect">
            <a:avLst>
              <a:gd name="adj" fmla="val 19697"/>
            </a:avLst>
          </a:prstGeom>
          <a:solidFill>
            <a:srgbClr val="7C3AED"/>
          </a:solidFill>
          <a:ln/>
        </p:spPr>
      </p:sp>
      <p:pic>
        <p:nvPicPr>
          <p:cNvPr id="21" name="Image 4" descr="icons/plug.png">    </p:cNvPr>
          <p:cNvPicPr>
            <a:picLocks noChangeAspect="1"/>
          </p:cNvPicPr>
          <p:nvPr/>
        </p:nvPicPr>
        <p:blipFill>
          <a:blip r:embed="rId5"/>
          <a:stretch>
            <a:fillRect/>
          </a:stretch>
        </p:blipFill>
        <p:spPr>
          <a:xfrm>
            <a:off x="6607912" y="2386584"/>
            <a:ext cx="292608" cy="292608"/>
          </a:xfrm>
          <a:prstGeom prst="rect">
            <a:avLst/>
          </a:prstGeom>
        </p:spPr>
      </p:pic>
      <p:sp>
        <p:nvSpPr>
          <p:cNvPr id="22" name="Text 15"/>
          <p:cNvSpPr/>
          <p:nvPr/>
        </p:nvSpPr>
        <p:spPr>
          <a:xfrm>
            <a:off x="6434176" y="2944368"/>
            <a:ext cx="2188388" cy="54864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Integrate — 6–10 wks</a:t>
            </a:r>
            <a:endParaRPr lang="en-US" sz="1400" dirty="0"/>
          </a:p>
        </p:txBody>
      </p:sp>
      <p:sp>
        <p:nvSpPr>
          <p:cNvPr id="23" name="Text 16"/>
          <p:cNvSpPr/>
          <p:nvPr/>
        </p:nvSpPr>
        <p:spPr>
          <a:xfrm>
            <a:off x="6452464" y="3493008"/>
            <a:ext cx="2170100" cy="169164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Live inventory/OMS + payment provider</a:t>
            </a:r>
            <a:endParaRPr lang="en-US" sz="1150" dirty="0"/>
          </a:p>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CCAI telephony + agent-assist</a:t>
            </a:r>
            <a:endParaRPr lang="en-US" sz="1150" dirty="0"/>
          </a:p>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Vertex Translation for long-tail locales</a:t>
            </a:r>
            <a:endParaRPr lang="en-US" sz="1150" dirty="0"/>
          </a:p>
        </p:txBody>
      </p:sp>
      <p:pic>
        <p:nvPicPr>
          <p:cNvPr id="24" name="Image 5" descr="icons/arrow.png">    </p:cNvPr>
          <p:cNvPicPr>
            <a:picLocks noChangeAspect="1"/>
          </p:cNvPicPr>
          <p:nvPr/>
        </p:nvPicPr>
        <p:blipFill>
          <a:blip r:embed="rId6"/>
          <a:stretch>
            <a:fillRect/>
          </a:stretch>
        </p:blipFill>
        <p:spPr>
          <a:xfrm>
            <a:off x="8823731" y="3474720"/>
            <a:ext cx="256032" cy="256032"/>
          </a:xfrm>
          <a:prstGeom prst="rect">
            <a:avLst/>
          </a:prstGeom>
        </p:spPr>
      </p:pic>
      <p:sp>
        <p:nvSpPr>
          <p:cNvPr id="25" name="Shape 17"/>
          <p:cNvSpPr/>
          <p:nvPr/>
        </p:nvSpPr>
        <p:spPr>
          <a:xfrm>
            <a:off x="9098051" y="1920240"/>
            <a:ext cx="2590724" cy="3383280"/>
          </a:xfrm>
          <a:prstGeom prst="roundRect">
            <a:avLst>
              <a:gd name="adj" fmla="val 3177"/>
            </a:avLst>
          </a:prstGeom>
          <a:solidFill>
            <a:srgbClr val="FFFFFF"/>
          </a:solidFill>
          <a:ln w="12700">
            <a:solidFill>
              <a:srgbClr val="E6E8F0"/>
            </a:solidFill>
            <a:prstDash val="solid"/>
          </a:ln>
          <a:effectLst>
            <a:outerShdw sx="100000" sy="100000" kx="0" ky="0" algn="bl" rotWithShape="0" blurRad="114300" dist="38100" dir="8100000">
              <a:srgbClr val="0F172A">
                <a:alpha val="16000"/>
              </a:srgbClr>
            </a:outerShdw>
          </a:effectLst>
        </p:spPr>
      </p:sp>
      <p:sp>
        <p:nvSpPr>
          <p:cNvPr id="26" name="Shape 18"/>
          <p:cNvSpPr/>
          <p:nvPr/>
        </p:nvSpPr>
        <p:spPr>
          <a:xfrm>
            <a:off x="9098051" y="1920240"/>
            <a:ext cx="2590724" cy="109728"/>
          </a:xfrm>
          <a:prstGeom prst="rect">
            <a:avLst/>
          </a:prstGeom>
          <a:solidFill>
            <a:srgbClr val="E11D48"/>
          </a:solidFill>
          <a:ln/>
        </p:spPr>
      </p:sp>
      <p:sp>
        <p:nvSpPr>
          <p:cNvPr id="27" name="Shape 19"/>
          <p:cNvSpPr/>
          <p:nvPr/>
        </p:nvSpPr>
        <p:spPr>
          <a:xfrm>
            <a:off x="9317507" y="2231136"/>
            <a:ext cx="603504" cy="603504"/>
          </a:xfrm>
          <a:prstGeom prst="roundRect">
            <a:avLst>
              <a:gd name="adj" fmla="val 19697"/>
            </a:avLst>
          </a:prstGeom>
          <a:solidFill>
            <a:srgbClr val="E11D48"/>
          </a:solidFill>
          <a:ln/>
        </p:spPr>
      </p:sp>
      <p:pic>
        <p:nvPicPr>
          <p:cNvPr id="28" name="Image 6" descr="icons/rocket.png">    </p:cNvPr>
          <p:cNvPicPr>
            <a:picLocks noChangeAspect="1"/>
          </p:cNvPicPr>
          <p:nvPr/>
        </p:nvPicPr>
        <p:blipFill>
          <a:blip r:embed="rId7"/>
          <a:stretch>
            <a:fillRect/>
          </a:stretch>
        </p:blipFill>
        <p:spPr>
          <a:xfrm>
            <a:off x="9472955" y="2386584"/>
            <a:ext cx="292608" cy="292608"/>
          </a:xfrm>
          <a:prstGeom prst="rect">
            <a:avLst/>
          </a:prstGeom>
        </p:spPr>
      </p:pic>
      <p:sp>
        <p:nvSpPr>
          <p:cNvPr id="29" name="Text 20"/>
          <p:cNvSpPr/>
          <p:nvPr/>
        </p:nvSpPr>
        <p:spPr>
          <a:xfrm>
            <a:off x="9299219" y="2944368"/>
            <a:ext cx="2188388" cy="54864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Scale — ongoing</a:t>
            </a:r>
            <a:endParaRPr lang="en-US" sz="1400" dirty="0"/>
          </a:p>
        </p:txBody>
      </p:sp>
      <p:sp>
        <p:nvSpPr>
          <p:cNvPr id="30" name="Text 21"/>
          <p:cNvSpPr/>
          <p:nvPr/>
        </p:nvSpPr>
        <p:spPr>
          <a:xfrm>
            <a:off x="9317507" y="3493008"/>
            <a:ext cx="2170100" cy="169164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Multi-region · min-instances for latency</a:t>
            </a:r>
            <a:endParaRPr lang="en-US" sz="1150" dirty="0"/>
          </a:p>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Eval suite + guardrails in CI</a:t>
            </a:r>
            <a:endParaRPr lang="en-US" sz="1150" dirty="0"/>
          </a:p>
          <a:p>
            <a:pPr marL="152400" indent="-152400">
              <a:spcAft>
                <a:spcPts val="700"/>
              </a:spcAft>
              <a:buSzPct val="100000"/>
              <a:buChar char="•"/>
            </a:pPr>
            <a:r>
              <a:rPr lang="en-US" sz="1150" dirty="0">
                <a:solidFill>
                  <a:srgbClr val="5B6577"/>
                </a:solidFill>
                <a:latin typeface="Calibri" pitchFamily="34" charset="0"/>
                <a:ea typeface="Calibri" pitchFamily="34" charset="-122"/>
                <a:cs typeface="Calibri" pitchFamily="34" charset="-120"/>
              </a:rPr>
              <a:t>Dynamic skill selection, more sub-agents</a:t>
            </a:r>
            <a:endParaRPr lang="en-US" sz="1150" dirty="0"/>
          </a:p>
        </p:txBody>
      </p:sp>
      <p:sp>
        <p:nvSpPr>
          <p:cNvPr id="31" name="Text 22"/>
          <p:cNvSpPr/>
          <p:nvPr/>
        </p:nvSpPr>
        <p:spPr>
          <a:xfrm>
            <a:off x="502920" y="5532120"/>
            <a:ext cx="11185855" cy="548640"/>
          </a:xfrm>
          <a:prstGeom prst="rect">
            <a:avLst/>
          </a:prstGeom>
          <a:noFill/>
          <a:ln/>
        </p:spPr>
        <p:txBody>
          <a:bodyPr wrap="square" lIns="0" tIns="0" rIns="0" bIns="0" rtlCol="0" anchor="ctr"/>
          <a:lstStyle/>
          <a:p>
            <a:pPr algn="ctr" indent="0" marL="0">
              <a:buNone/>
            </a:pPr>
            <a:r>
              <a:rPr lang="en-US" sz="1250" i="1" dirty="0">
                <a:solidFill>
                  <a:srgbClr val="0F172A"/>
                </a:solidFill>
                <a:latin typeface="Calibri" pitchFamily="34" charset="0"/>
                <a:ea typeface="Calibri" pitchFamily="34" charset="-122"/>
                <a:cs typeface="Calibri" pitchFamily="34" charset="-120"/>
              </a:rPr>
              <a:t>Low-risk ramp: the prototype already encodes the hard parts (safety gate, context, multimodal); production is integration + hardening, not re-architecture.</a:t>
            </a:r>
            <a:endParaRPr lang="en-US" sz="1250" dirty="0"/>
          </a:p>
        </p:txBody>
      </p:sp>
      <p:sp>
        <p:nvSpPr>
          <p:cNvPr id="32" name="Text 23"/>
          <p:cNvSpPr/>
          <p:nvPr/>
        </p:nvSpPr>
        <p:spPr>
          <a:xfrm>
            <a:off x="502920" y="6455664"/>
            <a:ext cx="8229600" cy="27432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GOOPHER · Unified Conversational Retail Agent on Google Cloud</a:t>
            </a:r>
            <a:endParaRPr lang="en-US" sz="900" dirty="0"/>
          </a:p>
        </p:txBody>
      </p:sp>
      <p:sp>
        <p:nvSpPr>
          <p:cNvPr id="33" name="Text 24"/>
          <p:cNvSpPr/>
          <p:nvPr/>
        </p:nvSpPr>
        <p:spPr>
          <a:xfrm>
            <a:off x="11277295" y="6455664"/>
            <a:ext cx="411480" cy="274320"/>
          </a:xfrm>
          <a:prstGeom prst="rect">
            <a:avLst/>
          </a:prstGeom>
          <a:noFill/>
          <a:ln/>
        </p:spPr>
        <p:txBody>
          <a:bodyPr wrap="square" lIns="0" tIns="0" rIns="0" bIns="0" rtlCol="0" anchor="ctr"/>
          <a:lstStyle/>
          <a:p>
            <a:pPr algn="r" indent="0" marL="0">
              <a:buNone/>
            </a:pPr>
            <a:r>
              <a:rPr lang="en-US" sz="900" dirty="0">
                <a:solidFill>
                  <a:srgbClr val="8A94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2"/>
          <a:stretch>
            <a:fillRect/>
          </a:stretch>
        </p:blipFill>
        <p:spPr>
          <a:xfrm>
            <a:off x="502920" y="548640"/>
            <a:ext cx="731520" cy="731520"/>
          </a:xfrm>
          <a:prstGeom prst="rect">
            <a:avLst/>
          </a:prstGeom>
        </p:spPr>
      </p:pic>
      <p:sp>
        <p:nvSpPr>
          <p:cNvPr id="3" name="Text 0"/>
          <p:cNvSpPr/>
          <p:nvPr/>
        </p:nvSpPr>
        <p:spPr>
          <a:xfrm>
            <a:off x="1371600" y="603504"/>
            <a:ext cx="7315200" cy="64008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GOOPHER</a:t>
            </a:r>
            <a:endParaRPr lang="en-US" sz="2000" dirty="0"/>
          </a:p>
        </p:txBody>
      </p:sp>
      <p:sp>
        <p:nvSpPr>
          <p:cNvPr id="4" name="Text 1"/>
          <p:cNvSpPr/>
          <p:nvPr/>
        </p:nvSpPr>
        <p:spPr>
          <a:xfrm>
            <a:off x="502920" y="1828800"/>
            <a:ext cx="10789920" cy="1371600"/>
          </a:xfrm>
          <a:prstGeom prst="rect">
            <a:avLst/>
          </a:prstGeom>
          <a:noFill/>
          <a:ln/>
        </p:spPr>
        <p:txBody>
          <a:bodyPr wrap="square" lIns="0" tIns="0" rIns="0" bIns="0" rtlCol="0" anchor="ctr"/>
          <a:lstStyle/>
          <a:p>
            <a:pPr indent="0" marL="0">
              <a:lnSpc>
                <a:spcPct val="105000"/>
              </a:lnSpc>
              <a:buNone/>
            </a:pPr>
            <a:r>
              <a:rPr lang="en-US" sz="3200" b="1" dirty="0">
                <a:solidFill>
                  <a:srgbClr val="FFFFFF"/>
                </a:solidFill>
                <a:latin typeface="Georgia" pitchFamily="34" charset="0"/>
                <a:ea typeface="Georgia" pitchFamily="34" charset="-122"/>
                <a:cs typeface="Georgia" pitchFamily="34" charset="-120"/>
              </a:rPr>
              <a:t>One agent. Every channel, language &amp; modality.</a:t>
            </a:r>
            <a:endParaRPr lang="en-US" sz="3200" dirty="0"/>
          </a:p>
          <a:p>
            <a:pPr indent="0" marL="0">
              <a:lnSpc>
                <a:spcPct val="105000"/>
              </a:lnSpc>
              <a:buNone/>
            </a:pPr>
            <a:r>
              <a:rPr lang="en-US" sz="3200" b="1" dirty="0">
                <a:solidFill>
                  <a:srgbClr val="FFFFFF"/>
                </a:solidFill>
                <a:latin typeface="Georgia" pitchFamily="34" charset="0"/>
                <a:ea typeface="Georgia" pitchFamily="34" charset="-122"/>
                <a:cs typeface="Georgia" pitchFamily="34" charset="-120"/>
              </a:rPr>
              <a:t>Safe to transact. Heals itself.</a:t>
            </a:r>
            <a:endParaRPr lang="en-US" sz="3200" dirty="0"/>
          </a:p>
        </p:txBody>
      </p:sp>
      <p:sp>
        <p:nvSpPr>
          <p:cNvPr id="5" name="Shape 2"/>
          <p:cNvSpPr/>
          <p:nvPr/>
        </p:nvSpPr>
        <p:spPr>
          <a:xfrm>
            <a:off x="502920" y="3566160"/>
            <a:ext cx="1975104" cy="420624"/>
          </a:xfrm>
          <a:prstGeom prst="roundRect">
            <a:avLst>
              <a:gd name="adj" fmla="val 50000"/>
            </a:avLst>
          </a:prstGeom>
          <a:solidFill>
            <a:srgbClr val="FFFFFF">
              <a:alpha val="12000"/>
            </a:srgbClr>
          </a:solidFill>
          <a:ln w="12700">
            <a:solidFill>
              <a:srgbClr val="7C3AED"/>
            </a:solidFill>
            <a:prstDash val="solid"/>
          </a:ln>
        </p:spPr>
      </p:sp>
      <p:sp>
        <p:nvSpPr>
          <p:cNvPr id="6" name="Text 3"/>
          <p:cNvSpPr/>
          <p:nvPr/>
        </p:nvSpPr>
        <p:spPr>
          <a:xfrm>
            <a:off x="502920" y="3566160"/>
            <a:ext cx="1975104"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Sub-agents + context</a:t>
            </a:r>
            <a:endParaRPr lang="en-US" sz="1050" dirty="0"/>
          </a:p>
        </p:txBody>
      </p:sp>
      <p:sp>
        <p:nvSpPr>
          <p:cNvPr id="7" name="Shape 4"/>
          <p:cNvSpPr/>
          <p:nvPr/>
        </p:nvSpPr>
        <p:spPr>
          <a:xfrm>
            <a:off x="2624328" y="3566160"/>
            <a:ext cx="1331366" cy="420624"/>
          </a:xfrm>
          <a:prstGeom prst="roundRect">
            <a:avLst>
              <a:gd name="adj" fmla="val 50000"/>
            </a:avLst>
          </a:prstGeom>
          <a:solidFill>
            <a:srgbClr val="FFFFFF">
              <a:alpha val="12000"/>
            </a:srgbClr>
          </a:solidFill>
          <a:ln w="12700">
            <a:solidFill>
              <a:srgbClr val="7C3AED"/>
            </a:solidFill>
            <a:prstDash val="solid"/>
          </a:ln>
        </p:spPr>
      </p:sp>
      <p:sp>
        <p:nvSpPr>
          <p:cNvPr id="8" name="Text 5"/>
          <p:cNvSpPr/>
          <p:nvPr/>
        </p:nvSpPr>
        <p:spPr>
          <a:xfrm>
            <a:off x="2624328" y="3566160"/>
            <a:ext cx="1331366"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Multilingual</a:t>
            </a:r>
            <a:endParaRPr lang="en-US" sz="1050" dirty="0"/>
          </a:p>
        </p:txBody>
      </p:sp>
      <p:sp>
        <p:nvSpPr>
          <p:cNvPr id="9" name="Shape 6"/>
          <p:cNvSpPr/>
          <p:nvPr/>
        </p:nvSpPr>
        <p:spPr>
          <a:xfrm>
            <a:off x="4101998" y="3566160"/>
            <a:ext cx="1331366" cy="420624"/>
          </a:xfrm>
          <a:prstGeom prst="roundRect">
            <a:avLst>
              <a:gd name="adj" fmla="val 50000"/>
            </a:avLst>
          </a:prstGeom>
          <a:solidFill>
            <a:srgbClr val="FFFFFF">
              <a:alpha val="12000"/>
            </a:srgbClr>
          </a:solidFill>
          <a:ln w="12700">
            <a:solidFill>
              <a:srgbClr val="7C3AED"/>
            </a:solidFill>
            <a:prstDash val="solid"/>
          </a:ln>
        </p:spPr>
      </p:sp>
      <p:sp>
        <p:nvSpPr>
          <p:cNvPr id="10" name="Text 7"/>
          <p:cNvSpPr/>
          <p:nvPr/>
        </p:nvSpPr>
        <p:spPr>
          <a:xfrm>
            <a:off x="4101998" y="3566160"/>
            <a:ext cx="1331366"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Multichannel</a:t>
            </a:r>
            <a:endParaRPr lang="en-US" sz="1050" dirty="0"/>
          </a:p>
        </p:txBody>
      </p:sp>
      <p:sp>
        <p:nvSpPr>
          <p:cNvPr id="11" name="Shape 8"/>
          <p:cNvSpPr/>
          <p:nvPr/>
        </p:nvSpPr>
        <p:spPr>
          <a:xfrm>
            <a:off x="5579669" y="3566160"/>
            <a:ext cx="1170432" cy="420624"/>
          </a:xfrm>
          <a:prstGeom prst="roundRect">
            <a:avLst>
              <a:gd name="adj" fmla="val 50000"/>
            </a:avLst>
          </a:prstGeom>
          <a:solidFill>
            <a:srgbClr val="FFFFFF">
              <a:alpha val="12000"/>
            </a:srgbClr>
          </a:solidFill>
          <a:ln w="12700">
            <a:solidFill>
              <a:srgbClr val="7C3AED"/>
            </a:solidFill>
            <a:prstDash val="solid"/>
          </a:ln>
        </p:spPr>
      </p:sp>
      <p:sp>
        <p:nvSpPr>
          <p:cNvPr id="12" name="Text 9"/>
          <p:cNvSpPr/>
          <p:nvPr/>
        </p:nvSpPr>
        <p:spPr>
          <a:xfrm>
            <a:off x="5579669" y="3566160"/>
            <a:ext cx="1170432"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Multimodal</a:t>
            </a:r>
            <a:endParaRPr lang="en-US" sz="1050" dirty="0"/>
          </a:p>
        </p:txBody>
      </p:sp>
      <p:sp>
        <p:nvSpPr>
          <p:cNvPr id="13" name="Shape 10"/>
          <p:cNvSpPr/>
          <p:nvPr/>
        </p:nvSpPr>
        <p:spPr>
          <a:xfrm>
            <a:off x="6896405" y="3566160"/>
            <a:ext cx="2136038" cy="420624"/>
          </a:xfrm>
          <a:prstGeom prst="roundRect">
            <a:avLst>
              <a:gd name="adj" fmla="val 50000"/>
            </a:avLst>
          </a:prstGeom>
          <a:solidFill>
            <a:srgbClr val="FFFFFF">
              <a:alpha val="12000"/>
            </a:srgbClr>
          </a:solidFill>
          <a:ln w="12700">
            <a:solidFill>
              <a:srgbClr val="7C3AED"/>
            </a:solidFill>
            <a:prstDash val="solid"/>
          </a:ln>
        </p:spPr>
      </p:sp>
      <p:sp>
        <p:nvSpPr>
          <p:cNvPr id="14" name="Text 11"/>
          <p:cNvSpPr/>
          <p:nvPr/>
        </p:nvSpPr>
        <p:spPr>
          <a:xfrm>
            <a:off x="6896405" y="3566160"/>
            <a:ext cx="2136038"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Deterministic checkout</a:t>
            </a:r>
            <a:endParaRPr lang="en-US" sz="1050" dirty="0"/>
          </a:p>
        </p:txBody>
      </p:sp>
      <p:sp>
        <p:nvSpPr>
          <p:cNvPr id="15" name="Shape 12"/>
          <p:cNvSpPr/>
          <p:nvPr/>
        </p:nvSpPr>
        <p:spPr>
          <a:xfrm>
            <a:off x="9178747" y="3566160"/>
            <a:ext cx="1331366" cy="420624"/>
          </a:xfrm>
          <a:prstGeom prst="roundRect">
            <a:avLst>
              <a:gd name="adj" fmla="val 50000"/>
            </a:avLst>
          </a:prstGeom>
          <a:solidFill>
            <a:srgbClr val="FFFFFF">
              <a:alpha val="12000"/>
            </a:srgbClr>
          </a:solidFill>
          <a:ln w="12700">
            <a:solidFill>
              <a:srgbClr val="7C3AED"/>
            </a:solidFill>
            <a:prstDash val="solid"/>
          </a:ln>
        </p:spPr>
      </p:sp>
      <p:sp>
        <p:nvSpPr>
          <p:cNvPr id="16" name="Text 13"/>
          <p:cNvSpPr/>
          <p:nvPr/>
        </p:nvSpPr>
        <p:spPr>
          <a:xfrm>
            <a:off x="9178747" y="3566160"/>
            <a:ext cx="1331366"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Self-healing</a:t>
            </a:r>
            <a:endParaRPr lang="en-US" sz="1050" dirty="0"/>
          </a:p>
        </p:txBody>
      </p:sp>
      <p:sp>
        <p:nvSpPr>
          <p:cNvPr id="17" name="Shape 14"/>
          <p:cNvSpPr/>
          <p:nvPr/>
        </p:nvSpPr>
        <p:spPr>
          <a:xfrm>
            <a:off x="502920" y="4096512"/>
            <a:ext cx="2538374" cy="420624"/>
          </a:xfrm>
          <a:prstGeom prst="roundRect">
            <a:avLst>
              <a:gd name="adj" fmla="val 50000"/>
            </a:avLst>
          </a:prstGeom>
          <a:solidFill>
            <a:srgbClr val="FFFFFF">
              <a:alpha val="12000"/>
            </a:srgbClr>
          </a:solidFill>
          <a:ln w="12700">
            <a:solidFill>
              <a:srgbClr val="7C3AED"/>
            </a:solidFill>
            <a:prstDash val="solid"/>
          </a:ln>
        </p:spPr>
      </p:sp>
      <p:sp>
        <p:nvSpPr>
          <p:cNvPr id="18" name="Text 15"/>
          <p:cNvSpPr/>
          <p:nvPr/>
        </p:nvSpPr>
        <p:spPr>
          <a:xfrm>
            <a:off x="502920" y="4096512"/>
            <a:ext cx="2538374"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Vertex AI · ADK · Cloud Run</a:t>
            </a:r>
            <a:endParaRPr lang="en-US" sz="1050" dirty="0"/>
          </a:p>
        </p:txBody>
      </p:sp>
      <p:sp>
        <p:nvSpPr>
          <p:cNvPr id="19" name="Text 16"/>
          <p:cNvSpPr/>
          <p:nvPr/>
        </p:nvSpPr>
        <p:spPr>
          <a:xfrm>
            <a:off x="502920" y="4709160"/>
            <a:ext cx="10789920" cy="548640"/>
          </a:xfrm>
          <a:prstGeom prst="rect">
            <a:avLst/>
          </a:prstGeom>
          <a:noFill/>
          <a:ln/>
        </p:spPr>
        <p:txBody>
          <a:bodyPr wrap="square" lIns="0" tIns="0" rIns="0" bIns="0" rtlCol="0" anchor="ctr"/>
          <a:lstStyle/>
          <a:p>
            <a:pPr indent="0" marL="0">
              <a:buNone/>
            </a:pPr>
            <a:r>
              <a:rPr lang="en-US" sz="2400" b="1" dirty="0">
                <a:solidFill>
                  <a:srgbClr val="FCA5C0"/>
                </a:solidFill>
                <a:latin typeface="Georgia" pitchFamily="34" charset="0"/>
                <a:ea typeface="Georgia" pitchFamily="34" charset="-122"/>
                <a:cs typeface="Georgia" pitchFamily="34" charset="-120"/>
              </a:rPr>
              <a:t>Thank you — let's discuss.</a:t>
            </a:r>
            <a:endParaRPr lang="en-US" sz="2400" dirty="0"/>
          </a:p>
        </p:txBody>
      </p:sp>
      <p:sp>
        <p:nvSpPr>
          <p:cNvPr id="20" name="Text 17"/>
          <p:cNvSpPr/>
          <p:nvPr/>
        </p:nvSpPr>
        <p:spPr>
          <a:xfrm>
            <a:off x="502920" y="5349240"/>
            <a:ext cx="10789920" cy="640080"/>
          </a:xfrm>
          <a:prstGeom prst="rect">
            <a:avLst/>
          </a:prstGeom>
          <a:noFill/>
          <a:ln/>
        </p:spPr>
        <p:txBody>
          <a:bodyPr wrap="square" lIns="0" tIns="0" rIns="0" bIns="0" rtlCol="0" anchor="ctr"/>
          <a:lstStyle/>
          <a:p>
            <a:pPr indent="0" marL="0">
              <a:buNone/>
            </a:pPr>
            <a:r>
              <a:rPr lang="en-US" sz="1300" dirty="0">
                <a:solidFill>
                  <a:srgbClr val="D7D3EC"/>
                </a:solidFill>
                <a:latin typeface="Calibri" pitchFamily="34" charset="0"/>
                <a:ea typeface="Calibri" pitchFamily="34" charset="-122"/>
                <a:cs typeface="Calibri" pitchFamily="34" charset="-120"/>
              </a:rPr>
              <a:t>Happy to go deep on: sub-agent routing &amp; context · multilingual &amp; multichannel scale · the transactional gate · loop prevention · CCAI &amp; production integration.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GOOPHER — Unified Conversational Retail Agent</dc:title>
  <dc:subject>PptxGenJS Presentation</dc:subject>
  <dc:creator>GOOPHER — Applied AI CE Practice</dc:creator>
  <cp:lastModifiedBy>GOOPHER — Applied AI CE Practice</cp:lastModifiedBy>
  <cp:revision>1</cp:revision>
  <dcterms:created xsi:type="dcterms:W3CDTF">2026-06-04T15:51:59Z</dcterms:created>
  <dcterms:modified xsi:type="dcterms:W3CDTF">2026-06-04T15:51:59Z</dcterms:modified>
</cp:coreProperties>
</file>