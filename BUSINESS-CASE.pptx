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3.png"/><Relationship Id="rId5" Type="http://schemas.openxmlformats.org/officeDocument/2006/relationships/image" Target="../media/image-1-5.png"/><Relationship Id="rId6" Type="http://schemas.openxmlformats.org/officeDocument/2006/relationships/image" Target="../media/image-1-3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7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2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8.png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1.png"/><Relationship Id="rId6" Type="http://schemas.openxmlformats.org/officeDocument/2006/relationships/image" Target="../media/image-8-1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2.png"/><Relationship Id="rId5" Type="http://schemas.openxmlformats.org/officeDocument/2006/relationships/image" Target="../media/image-9-5.png"/><Relationship Id="rId6" Type="http://schemas.openxmlformats.org/officeDocument/2006/relationships/image" Target="../media/image-9-2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CUSTOMER'S SITUATION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85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architecture — fragmented, rule-based self-service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572768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retailer's self-service is a set of disconnected, scripted systems — they can answer FAQs, but can't reliably help (or transact) across channels and languages.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6577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9224" y="244144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5B6577"/>
          </a:solidFill>
          <a:ln/>
        </p:spPr>
      </p:sp>
      <p:pic>
        <p:nvPicPr>
          <p:cNvPr id="7" name="Image 0" descr="icons/phon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54203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9576" y="230428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79576" y="257860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IVR / DTMF menu tree (“press 1…”)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" y="329184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6577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" y="353872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5B6577"/>
          </a:solidFill>
          <a:ln/>
        </p:spPr>
      </p:sp>
      <p:pic>
        <p:nvPicPr>
          <p:cNvPr id="12" name="Image 1" descr="icons/comments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63931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79576" y="340156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179576" y="367588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/ keyword chatbot (decision tree)</a:t>
            </a:r>
            <a:endParaRPr lang="en-US" sz="1000" dirty="0"/>
          </a:p>
        </p:txBody>
      </p:sp>
      <p:pic>
        <p:nvPicPr>
          <p:cNvPr id="15" name="Image 2" descr="icons/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880360"/>
            <a:ext cx="274320" cy="274320"/>
          </a:xfrm>
          <a:prstGeom prst="rect">
            <a:avLst/>
          </a:prstGeom>
        </p:spPr>
      </p:pic>
      <p:pic>
        <p:nvPicPr>
          <p:cNvPr id="16" name="Image 3" descr="icons/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342900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023360" y="269748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169664" y="299008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59E0B"/>
          </a:solidFill>
          <a:ln/>
        </p:spPr>
      </p:sp>
      <p:pic>
        <p:nvPicPr>
          <p:cNvPr id="19" name="Image 4" descr="icons/cog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0248" y="3090672"/>
            <a:ext cx="219456" cy="21945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700016" y="2807208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rules / FAQ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4700016" y="308152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· breaks off-script · no memory</a:t>
            </a:r>
            <a:endParaRPr lang="en-US" sz="1000" dirty="0"/>
          </a:p>
        </p:txBody>
      </p:sp>
      <p:pic>
        <p:nvPicPr>
          <p:cNvPr id="22" name="Image 5" descr="icons/arr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3063240"/>
            <a:ext cx="274320" cy="27432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269480" y="2697480"/>
            <a:ext cx="4419295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E11D48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7415784" y="299008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E11D48"/>
          </a:solidFill>
          <a:ln/>
        </p:spPr>
      </p:sp>
      <p:pic>
        <p:nvPicPr>
          <p:cNvPr id="25" name="Image 6" descr="icons/users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6368" y="3090672"/>
            <a:ext cx="219456" cy="219456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946136" y="2807208"/>
            <a:ext cx="36146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→ call-center agents</a:t>
            </a:r>
            <a:endParaRPr lang="en-US" sz="1250" dirty="0"/>
          </a:p>
        </p:txBody>
      </p:sp>
      <p:sp>
        <p:nvSpPr>
          <p:cNvPr id="27" name="Text 18"/>
          <p:cNvSpPr/>
          <p:nvPr/>
        </p:nvSpPr>
        <p:spPr>
          <a:xfrm>
            <a:off x="7946136" y="3081528"/>
            <a:ext cx="36146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 · queues · after-hours gaps</a:t>
            </a:r>
            <a:endParaRPr lang="en-US" sz="1000" dirty="0"/>
          </a:p>
        </p:txBody>
      </p:sp>
      <p:sp>
        <p:nvSpPr>
          <p:cNvPr id="28" name="Text 19"/>
          <p:cNvSpPr/>
          <p:nvPr/>
        </p:nvSpPr>
        <p:spPr>
          <a:xfrm>
            <a:off x="502920" y="443484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systems — siloed, not wired to the bots:</a:t>
            </a:r>
            <a:endParaRPr lang="en-US" sz="1150" dirty="0"/>
          </a:p>
        </p:txBody>
      </p:sp>
      <p:sp>
        <p:nvSpPr>
          <p:cNvPr id="29" name="Shape 20"/>
          <p:cNvSpPr/>
          <p:nvPr/>
        </p:nvSpPr>
        <p:spPr>
          <a:xfrm>
            <a:off x="502920" y="4736592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5B6577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30" name="Shape 21"/>
          <p:cNvSpPr/>
          <p:nvPr/>
        </p:nvSpPr>
        <p:spPr>
          <a:xfrm>
            <a:off x="649224" y="484632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5B6577"/>
          </a:solidFill>
          <a:ln/>
        </p:spPr>
      </p:sp>
      <p:pic>
        <p:nvPicPr>
          <p:cNvPr id="31" name="Image 7" descr="icons/server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" y="4946904"/>
            <a:ext cx="219456" cy="219456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1179576" y="484632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Mgmt (OMS)</a:t>
            </a:r>
            <a:endParaRPr lang="en-US" sz="1250" dirty="0"/>
          </a:p>
        </p:txBody>
      </p:sp>
      <p:sp>
        <p:nvSpPr>
          <p:cNvPr id="33" name="Shape 23"/>
          <p:cNvSpPr/>
          <p:nvPr/>
        </p:nvSpPr>
        <p:spPr>
          <a:xfrm>
            <a:off x="3154680" y="4736592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5B6577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3300984" y="484632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5B6577"/>
          </a:solidFill>
          <a:ln/>
        </p:spPr>
      </p:sp>
      <p:pic>
        <p:nvPicPr>
          <p:cNvPr id="35" name="Image 8" descr="icons/db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01568" y="4946904"/>
            <a:ext cx="219456" cy="219456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3831336" y="484632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250" dirty="0"/>
          </a:p>
        </p:txBody>
      </p:sp>
      <p:sp>
        <p:nvSpPr>
          <p:cNvPr id="37" name="Shape 26"/>
          <p:cNvSpPr/>
          <p:nvPr/>
        </p:nvSpPr>
        <p:spPr>
          <a:xfrm>
            <a:off x="5806440" y="4736592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5B6577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38" name="Shape 27"/>
          <p:cNvSpPr/>
          <p:nvPr/>
        </p:nvSpPr>
        <p:spPr>
          <a:xfrm>
            <a:off x="5952744" y="484632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5B6577"/>
          </a:solidFill>
          <a:ln/>
        </p:spPr>
      </p:sp>
      <p:pic>
        <p:nvPicPr>
          <p:cNvPr id="39" name="Image 9" descr="icons/usersW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53328" y="4946904"/>
            <a:ext cx="219456" cy="219456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6483096" y="484632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250" dirty="0"/>
          </a:p>
        </p:txBody>
      </p:sp>
      <p:sp>
        <p:nvSpPr>
          <p:cNvPr id="41" name="Shape 29"/>
          <p:cNvSpPr/>
          <p:nvPr/>
        </p:nvSpPr>
        <p:spPr>
          <a:xfrm>
            <a:off x="8458200" y="4736592"/>
            <a:ext cx="3230575" cy="640080"/>
          </a:xfrm>
          <a:prstGeom prst="roundRect">
            <a:avLst>
              <a:gd name="adj" fmla="val 11429"/>
            </a:avLst>
          </a:prstGeom>
          <a:solidFill>
            <a:srgbClr val="F5F6FB"/>
          </a:solidFill>
          <a:ln w="12700">
            <a:solidFill>
              <a:srgbClr val="E6E8F0"/>
            </a:solidFill>
            <a:prstDash val="solid"/>
          </a:ln>
        </p:spPr>
      </p:sp>
      <p:sp>
        <p:nvSpPr>
          <p:cNvPr id="42" name="Text 30"/>
          <p:cNvSpPr/>
          <p:nvPr/>
        </p:nvSpPr>
        <p:spPr>
          <a:xfrm>
            <a:off x="8622792" y="4736592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English-only · no cross-channel context · can't take action</a:t>
            </a:r>
            <a:endParaRPr lang="en-US" sz="1050" dirty="0"/>
          </a:p>
        </p:txBody>
      </p:sp>
      <p:sp>
        <p:nvSpPr>
          <p:cNvPr id="43" name="Text 31"/>
          <p:cNvSpPr/>
          <p:nvPr/>
        </p:nvSpPr>
        <p:spPr>
          <a:xfrm>
            <a:off x="502920" y="56235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the bot deflects the easy FAQs and dumps everything else on live agents.</a:t>
            </a:r>
            <a:endParaRPr lang="en-US" sz="1200" dirty="0"/>
          </a:p>
        </p:txBody>
      </p:sp>
      <p:sp>
        <p:nvSpPr>
          <p:cNvPr id="44" name="Text 32"/>
          <p:cNvSpPr/>
          <p:nvPr/>
        </p:nvSpPr>
        <p:spPr>
          <a:xfrm>
            <a:off x="50292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GOOPHER · Business case — unblocking modern self-service</a:t>
            </a:r>
            <a:endParaRPr lang="en-US" sz="900" dirty="0"/>
          </a:p>
        </p:txBody>
      </p:sp>
      <p:sp>
        <p:nvSpPr>
          <p:cNvPr id="45" name="Text 33"/>
          <p:cNvSpPr/>
          <p:nvPr/>
        </p:nvSpPr>
        <p:spPr>
          <a:xfrm>
            <a:off x="11277295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STATUS QUO FAILS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85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Issues &amp; challenges with the current self-service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1984248"/>
            <a:ext cx="512064" cy="512064"/>
          </a:xfrm>
          <a:prstGeom prst="roundRect">
            <a:avLst>
              <a:gd name="adj" fmla="val 19643"/>
            </a:avLst>
          </a:prstGeom>
          <a:solidFill>
            <a:srgbClr val="E11D48"/>
          </a:solidFill>
          <a:ln/>
        </p:spPr>
      </p:sp>
      <p:pic>
        <p:nvPicPr>
          <p:cNvPr id="6" name="Image 0" descr="icons/warn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11226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44168" y="1965960"/>
            <a:ext cx="253989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decision trees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0664" y="2569464"/>
            <a:ext cx="308853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off-script phrasing → dead-ends and “I didn't understand.”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2978" y="1783080"/>
            <a:ext cx="3545738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42434" y="1984248"/>
            <a:ext cx="512064" cy="512064"/>
          </a:xfrm>
          <a:prstGeom prst="roundRect">
            <a:avLst>
              <a:gd name="adj" fmla="val 19643"/>
            </a:avLst>
          </a:prstGeom>
          <a:solidFill>
            <a:srgbClr val="E11D48"/>
          </a:solidFill>
          <a:ln/>
        </p:spPr>
      </p:sp>
      <p:pic>
        <p:nvPicPr>
          <p:cNvPr id="11" name="Image 1" descr="icons/times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450" y="211226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64226" y="1965960"/>
            <a:ext cx="253989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 across channels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60722" y="2569464"/>
            <a:ext cx="308853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→ phone restarts from scratch; the customer repeats themselves.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43037" y="1783080"/>
            <a:ext cx="3545738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2493" y="1984248"/>
            <a:ext cx="512064" cy="512064"/>
          </a:xfrm>
          <a:prstGeom prst="roundRect">
            <a:avLst>
              <a:gd name="adj" fmla="val 19643"/>
            </a:avLst>
          </a:prstGeom>
          <a:solidFill>
            <a:srgbClr val="E11D48"/>
          </a:solidFill>
          <a:ln/>
        </p:spPr>
      </p:sp>
      <p:pic>
        <p:nvPicPr>
          <p:cNvPr id="16" name="Image 2" descr="icons/globe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509" y="211226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84285" y="1965960"/>
            <a:ext cx="253989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English-only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80781" y="2569464"/>
            <a:ext cx="308853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Underserves a diverse, global base; no real NLU for other languages.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02920" y="4069080"/>
            <a:ext cx="3545738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22376" y="4270248"/>
            <a:ext cx="512064" cy="512064"/>
          </a:xfrm>
          <a:prstGeom prst="roundRect">
            <a:avLst>
              <a:gd name="adj" fmla="val 19643"/>
            </a:avLst>
          </a:prstGeom>
          <a:solidFill>
            <a:srgbClr val="E11D48"/>
          </a:solidFill>
          <a:ln/>
        </p:spPr>
      </p:sp>
      <p:pic>
        <p:nvPicPr>
          <p:cNvPr id="21" name="Image 3" descr="icons/ban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39826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44168" y="4251960"/>
            <a:ext cx="253989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— can't act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40664" y="4855464"/>
            <a:ext cx="308853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check live inventory or place/track orders → escalate.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22978" y="4069080"/>
            <a:ext cx="3545738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42434" y="4270248"/>
            <a:ext cx="512064" cy="512064"/>
          </a:xfrm>
          <a:prstGeom prst="roundRect">
            <a:avLst>
              <a:gd name="adj" fmla="val 19643"/>
            </a:avLst>
          </a:prstGeom>
          <a:solidFill>
            <a:srgbClr val="E11D48"/>
          </a:solidFill>
          <a:ln/>
        </p:spPr>
      </p:sp>
      <p:pic>
        <p:nvPicPr>
          <p:cNvPr id="26" name="Image 4" descr="icons/wrench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0450" y="439826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64226" y="4251960"/>
            <a:ext cx="253989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Brittle &amp; costly to scale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60722" y="4855464"/>
            <a:ext cx="308853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Per-market chatbots and hand-written rules; slow, expensive to maintain.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43037" y="4069080"/>
            <a:ext cx="3545738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2493" y="4270248"/>
            <a:ext cx="512064" cy="512064"/>
          </a:xfrm>
          <a:prstGeom prst="roundRect">
            <a:avLst>
              <a:gd name="adj" fmla="val 19643"/>
            </a:avLst>
          </a:prstGeom>
          <a:solidFill>
            <a:srgbClr val="E11D48"/>
          </a:solidFill>
          <a:ln/>
        </p:spPr>
      </p:sp>
      <p:pic>
        <p:nvPicPr>
          <p:cNvPr id="31" name="Image 5" descr="icons/layers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0509" y="439826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84285" y="4251960"/>
            <a:ext cx="253989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modality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380781" y="4855464"/>
            <a:ext cx="308853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voice NLU, no images/files — text-only, scripted.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0292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GOOPHER · Business case — unblocking modern self-service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 THE BUSINESS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85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impact of the current state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615184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965960"/>
            <a:ext cx="2432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~70%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9224" y="2697480"/>
            <a:ext cx="23225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 after a poor self-service experience (industry)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00984" y="1783080"/>
            <a:ext cx="2615184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92424" y="1965960"/>
            <a:ext cx="2432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$1–12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447288" y="2697480"/>
            <a:ext cx="23225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live-agent contact vs cents for self-service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99048" y="1783080"/>
            <a:ext cx="2615184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90488" y="1965960"/>
            <a:ext cx="2432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245352" y="2697480"/>
            <a:ext cx="23225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 → escalation overflow &amp; long queues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897112" y="1783080"/>
            <a:ext cx="2791663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88552" y="1965960"/>
            <a:ext cx="26087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Slow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9043416" y="2697480"/>
            <a:ext cx="249905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per-market rebuilds delay global expansion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657600"/>
            <a:ext cx="5318608" cy="1234440"/>
          </a:xfrm>
          <a:prstGeom prst="roundRect">
            <a:avLst>
              <a:gd name="adj" fmla="val 5926"/>
            </a:avLst>
          </a:prstGeom>
          <a:solidFill>
            <a:srgbClr val="F5F6FB"/>
          </a:solidFill>
          <a:ln w="12700">
            <a:solidFill>
              <a:srgbClr val="E6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" y="3986784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E11D48"/>
          </a:solidFill>
          <a:ln/>
        </p:spPr>
      </p:sp>
      <p:pic>
        <p:nvPicPr>
          <p:cNvPr id="18" name="Image 0" descr="icons/dollar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4123944"/>
            <a:ext cx="274320" cy="2743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417320" y="3840480"/>
            <a:ext cx="422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sales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1417320" y="4206240"/>
            <a:ext cx="422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who can't get help abandon the cart and don't come back.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370168" y="3657600"/>
            <a:ext cx="5318608" cy="1234440"/>
          </a:xfrm>
          <a:prstGeom prst="roundRect">
            <a:avLst>
              <a:gd name="adj" fmla="val 5926"/>
            </a:avLst>
          </a:prstGeom>
          <a:solidFill>
            <a:srgbClr val="F5F6FB"/>
          </a:solidFill>
          <a:ln w="12700">
            <a:solidFill>
              <a:srgbClr val="E6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71336" y="3986784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E11D48"/>
          </a:solidFill>
          <a:ln/>
        </p:spPr>
      </p:sp>
      <p:pic>
        <p:nvPicPr>
          <p:cNvPr id="23" name="Image 1" descr="icons/frown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8496" y="4123944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284568" y="3840480"/>
            <a:ext cx="422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CSAT &amp; churn</a:t>
            </a:r>
            <a:endParaRPr lang="en-US" sz="1450" dirty="0"/>
          </a:p>
        </p:txBody>
      </p:sp>
      <p:sp>
        <p:nvSpPr>
          <p:cNvPr id="25" name="Text 21"/>
          <p:cNvSpPr/>
          <p:nvPr/>
        </p:nvSpPr>
        <p:spPr>
          <a:xfrm>
            <a:off x="7284568" y="4206240"/>
            <a:ext cx="422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Frustrating, English-only bot → poor experience, especially abroad.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502920" y="5093208"/>
            <a:ext cx="5318608" cy="1234440"/>
          </a:xfrm>
          <a:prstGeom prst="roundRect">
            <a:avLst>
              <a:gd name="adj" fmla="val 5926"/>
            </a:avLst>
          </a:prstGeom>
          <a:solidFill>
            <a:srgbClr val="F5F6FB"/>
          </a:solidFill>
          <a:ln w="12700">
            <a:solidFill>
              <a:srgbClr val="E6E8F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04088" y="5422392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E11D48"/>
          </a:solidFill>
          <a:ln/>
        </p:spPr>
      </p:sp>
      <p:pic>
        <p:nvPicPr>
          <p:cNvPr id="28" name="Image 2" descr="icons/users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5559552"/>
            <a:ext cx="274320" cy="27432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417320" y="5276088"/>
            <a:ext cx="422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cost-to-serve</a:t>
            </a:r>
            <a:endParaRPr lang="en-US" sz="1450" dirty="0"/>
          </a:p>
        </p:txBody>
      </p:sp>
      <p:sp>
        <p:nvSpPr>
          <p:cNvPr id="30" name="Text 25"/>
          <p:cNvSpPr/>
          <p:nvPr/>
        </p:nvSpPr>
        <p:spPr>
          <a:xfrm>
            <a:off x="1417320" y="5641848"/>
            <a:ext cx="422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Mis-deflected contacts flood expensive live-agent queues.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6370168" y="5093208"/>
            <a:ext cx="5318608" cy="1234440"/>
          </a:xfrm>
          <a:prstGeom prst="roundRect">
            <a:avLst>
              <a:gd name="adj" fmla="val 5926"/>
            </a:avLst>
          </a:prstGeom>
          <a:solidFill>
            <a:srgbClr val="F5F6FB"/>
          </a:solidFill>
          <a:ln w="12700">
            <a:solidFill>
              <a:srgbClr val="E6E8F0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571336" y="5422392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E11D48"/>
          </a:solidFill>
          <a:ln/>
        </p:spPr>
      </p:sp>
      <p:pic>
        <p:nvPicPr>
          <p:cNvPr id="33" name="Image 3" descr="icons/clock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8496" y="5559552"/>
            <a:ext cx="274320" cy="27432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284568" y="5276088"/>
            <a:ext cx="422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to expand</a:t>
            </a:r>
            <a:endParaRPr lang="en-US" sz="1450" dirty="0"/>
          </a:p>
        </p:txBody>
      </p:sp>
      <p:sp>
        <p:nvSpPr>
          <p:cNvPr id="35" name="Text 29"/>
          <p:cNvSpPr/>
          <p:nvPr/>
        </p:nvSpPr>
        <p:spPr>
          <a:xfrm>
            <a:off x="7284568" y="5641848"/>
            <a:ext cx="422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language/market means rebuilding brittle chatbots.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502920" y="6272784"/>
            <a:ext cx="11185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illustrative industry benchmarks — actuals confirmed in discovery.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50292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GOOPHER · Business case — unblocking modern self-service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11277295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INACTION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85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Downtime &amp; loss — the price of the status quo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572768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contact the bot can't resolve is an escalation cost or a lost sale. An illustrative annual model (actuals confirmed in discovery):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6492240" cy="3200400"/>
          </a:xfrm>
          <a:prstGeom prst="roundRect">
            <a:avLst>
              <a:gd name="adj" fmla="val 2571"/>
            </a:avLst>
          </a:prstGeom>
          <a:solidFill>
            <a:srgbClr val="0A0E1F"/>
          </a:solidFill>
          <a:ln/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3317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C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ANNUAL LOSS MODEL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contacts / year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57800" y="27432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5,000,000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32004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share that fail / mis-route (low containment)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57800" y="32004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 40%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36576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avg cost of an escalated live-agent contact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57800" y="36576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 $8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41148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avoidable service cost / year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41148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CA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$16.0 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5720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abandoned shoppers (no help) → lost GMV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57800" y="45720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CA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 millions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78040" y="2148840"/>
            <a:ext cx="4510735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9050">
            <a:solidFill>
              <a:srgbClr val="E11D48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pic>
        <p:nvPicPr>
          <p:cNvPr id="18" name="Image 0" descr="icons/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2468880"/>
            <a:ext cx="457200" cy="4572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955280" y="2331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$16M+/yr</a:t>
            </a:r>
            <a:endParaRPr lang="en-US" sz="3400" dirty="0"/>
          </a:p>
        </p:txBody>
      </p:sp>
      <p:sp>
        <p:nvSpPr>
          <p:cNvPr id="20" name="Text 17"/>
          <p:cNvSpPr/>
          <p:nvPr/>
        </p:nvSpPr>
        <p:spPr>
          <a:xfrm>
            <a:off x="7406640" y="3063240"/>
            <a:ext cx="4236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avoidable cost, before counting lost revenue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178040" y="3749040"/>
            <a:ext cx="4510735" cy="777240"/>
          </a:xfrm>
          <a:prstGeom prst="roundRect">
            <a:avLst>
              <a:gd name="adj" fmla="val 9412"/>
            </a:avLst>
          </a:prstGeom>
          <a:solidFill>
            <a:srgbClr val="F5F6FB"/>
          </a:solidFill>
          <a:ln w="12700">
            <a:solidFill>
              <a:srgbClr val="E6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360920" y="39136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11D48"/>
          </a:solidFill>
          <a:ln/>
        </p:spPr>
      </p:sp>
      <p:pic>
        <p:nvPicPr>
          <p:cNvPr id="23" name="Image 1" descr="icons/clock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48" y="4023360"/>
            <a:ext cx="237744" cy="23774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955280" y="3858768"/>
            <a:ext cx="3916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After-hours &amp; peak gaps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955280" y="4133088"/>
            <a:ext cx="3916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24/7 help → abandoned contacts at the worst times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7178040" y="4617720"/>
            <a:ext cx="4510735" cy="777240"/>
          </a:xfrm>
          <a:prstGeom prst="roundRect">
            <a:avLst>
              <a:gd name="adj" fmla="val 9412"/>
            </a:avLst>
          </a:prstGeom>
          <a:solidFill>
            <a:srgbClr val="F5F6FB"/>
          </a:solidFill>
          <a:ln w="12700">
            <a:solidFill>
              <a:srgbClr val="E6E8F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60920" y="478231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11D48"/>
          </a:solidFill>
          <a:ln/>
        </p:spPr>
      </p:sp>
      <p:pic>
        <p:nvPicPr>
          <p:cNvPr id="28" name="Image 2" descr="icons/frown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48" y="4892040"/>
            <a:ext cx="237744" cy="23774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955280" y="4727448"/>
            <a:ext cx="3916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contacts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7955280" y="5001768"/>
            <a:ext cx="3916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unresolved issues come back 2–3× — re-work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7178040" y="5486400"/>
            <a:ext cx="4510735" cy="777240"/>
          </a:xfrm>
          <a:prstGeom prst="roundRect">
            <a:avLst>
              <a:gd name="adj" fmla="val 9412"/>
            </a:avLst>
          </a:prstGeom>
          <a:solidFill>
            <a:srgbClr val="F5F6FB"/>
          </a:solidFill>
          <a:ln w="12700">
            <a:solidFill>
              <a:srgbClr val="E6E8F0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7360920" y="565099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11D48"/>
          </a:solidFill>
          <a:ln/>
        </p:spPr>
      </p:sp>
      <p:pic>
        <p:nvPicPr>
          <p:cNvPr id="33" name="Image 3" descr="icons/globe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48" y="5760720"/>
            <a:ext cx="237744" cy="23774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955280" y="5596128"/>
            <a:ext cx="3916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Underserved markets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7955280" y="5870448"/>
            <a:ext cx="3916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non-English shoppers can't self-serve at all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502920" y="6272784"/>
            <a:ext cx="11185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model for framing — we instrument the real numbers in the pilot.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50292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GOOPHER · Business case — unblocking modern self-service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11277295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LOOKS LIKE (THE REQUIRED DELIVERABLE)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85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requirement — a unified conversational agent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1185855" cy="914400"/>
          </a:xfrm>
          <a:prstGeom prst="roundRect">
            <a:avLst>
              <a:gd name="adj" fmla="val 9000"/>
            </a:avLst>
          </a:prstGeom>
          <a:solidFill>
            <a:srgbClr val="0A0E1F"/>
          </a:solidFill>
          <a:ln/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pic>
        <p:nvPicPr>
          <p:cNvPr id="5" name="Image 0" descr="icons/flag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38528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9164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C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deliverable: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conversational agent prototype with backend tool(s) that integrate a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retail database for real-time inventory / order status</a:t>
            </a:r>
            <a:pPr indent="0" marL="0">
              <a:buNone/>
            </a:pPr>
            <a:r>
              <a:rPr lang="en-US" sz="1350" dirty="0">
                <a:solidFill>
                  <a:srgbClr val="D7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agent that answers AND acts.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02920" y="278892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extensible to four capabilities: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3154680"/>
            <a:ext cx="2590724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22376" y="3355848"/>
            <a:ext cx="512064" cy="512064"/>
          </a:xfrm>
          <a:prstGeom prst="roundRect">
            <a:avLst>
              <a:gd name="adj" fmla="val 19643"/>
            </a:avLst>
          </a:prstGeom>
          <a:solidFill>
            <a:srgbClr val="2563EB"/>
          </a:solidFill>
          <a:ln/>
        </p:spPr>
      </p:sp>
      <p:pic>
        <p:nvPicPr>
          <p:cNvPr id="10" name="Image 1" descr="icons/sitemap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348386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44168" y="3337560"/>
            <a:ext cx="15848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 + context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740664" y="3941064"/>
            <a:ext cx="213352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specialists for inventory / orders / checkout, with context kept when switching between them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367964" y="3154680"/>
            <a:ext cx="2590724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587420" y="3355848"/>
            <a:ext cx="512064" cy="512064"/>
          </a:xfrm>
          <a:prstGeom prst="roundRect">
            <a:avLst>
              <a:gd name="adj" fmla="val 19643"/>
            </a:avLst>
          </a:prstGeom>
          <a:solidFill>
            <a:srgbClr val="7C3AED"/>
          </a:solidFill>
          <a:ln/>
        </p:spPr>
      </p:sp>
      <p:pic>
        <p:nvPicPr>
          <p:cNvPr id="15" name="Image 2" descr="icons/globe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5436" y="348386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209212" y="3337560"/>
            <a:ext cx="15848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Multi-lingual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3605708" y="3941064"/>
            <a:ext cx="213352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diverse, global customer base served in their own language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233008" y="3154680"/>
            <a:ext cx="2590724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52464" y="3355848"/>
            <a:ext cx="512064" cy="512064"/>
          </a:xfrm>
          <a:prstGeom prst="roundRect">
            <a:avLst>
              <a:gd name="adj" fmla="val 19643"/>
            </a:avLst>
          </a:prstGeom>
          <a:solidFill>
            <a:srgbClr val="0D9488"/>
          </a:solidFill>
          <a:ln/>
        </p:spPr>
      </p:sp>
      <p:pic>
        <p:nvPicPr>
          <p:cNvPr id="20" name="Image 3" descr="icons/mobile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480" y="3483864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074256" y="3337560"/>
            <a:ext cx="15848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470752" y="3941064"/>
            <a:ext cx="213352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web, and beyond — one experience across channels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9098051" y="3154680"/>
            <a:ext cx="2590724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317507" y="3355848"/>
            <a:ext cx="512064" cy="512064"/>
          </a:xfrm>
          <a:prstGeom prst="roundRect">
            <a:avLst>
              <a:gd name="adj" fmla="val 19643"/>
            </a:avLst>
          </a:prstGeom>
          <a:solidFill>
            <a:srgbClr val="F59E0B"/>
          </a:solidFill>
          <a:ln/>
        </p:spPr>
      </p:sp>
      <p:pic>
        <p:nvPicPr>
          <p:cNvPr id="25" name="Image 4" descr="icons/layers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5523" y="3483864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939299" y="3337560"/>
            <a:ext cx="15848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9335795" y="3941064"/>
            <a:ext cx="213352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voice, images, and files — not just typed chat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50292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GOOPHER · Business case — unblocking modern self-service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277295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85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architecture — GOOPHER, a unified agent on Google Cloud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93852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7C3AED"/>
          </a:solidFill>
          <a:ln/>
        </p:spPr>
      </p:sp>
      <p:pic>
        <p:nvPicPr>
          <p:cNvPr id="6" name="Image 0" descr="icons/comments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391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9576" y="180136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— one agent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79576" y="207568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phone (voice) · camera · file</a:t>
            </a:r>
            <a:endParaRPr lang="en-US" sz="1000" dirty="0"/>
          </a:p>
        </p:txBody>
      </p:sp>
      <p:pic>
        <p:nvPicPr>
          <p:cNvPr id="9" name="Image 1" descr="icons/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472" y="201168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114800" y="169164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6577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61104" y="193852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5B6577"/>
          </a:solidFill>
          <a:ln/>
        </p:spPr>
      </p:sp>
      <p:pic>
        <p:nvPicPr>
          <p:cNvPr id="12" name="Image 2" descr="icons/cloud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203911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91456" y="180136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· FastAPI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4791456" y="207568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(JWT) · rate/size limits</a:t>
            </a:r>
            <a:endParaRPr lang="en-US" sz="1000" dirty="0"/>
          </a:p>
        </p:txBody>
      </p:sp>
      <p:pic>
        <p:nvPicPr>
          <p:cNvPr id="15" name="Image 3" descr="icons/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6328" y="2011680"/>
            <a:ext cx="274320" cy="2743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7543800" y="1691640"/>
            <a:ext cx="414497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690104" y="193852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59E0B"/>
          </a:solidFill>
          <a:ln/>
        </p:spPr>
      </p:sp>
      <p:pic>
        <p:nvPicPr>
          <p:cNvPr id="18" name="Image 4" descr="icons/robot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0688" y="2039112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220456" y="1801368"/>
            <a:ext cx="33403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orchestrator (ADK)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8220456" y="2075688"/>
            <a:ext cx="33403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· Vertex AI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2920" y="2743200"/>
            <a:ext cx="11185855" cy="502920"/>
          </a:xfrm>
          <a:prstGeom prst="roundRect">
            <a:avLst>
              <a:gd name="adj" fmla="val 12727"/>
            </a:avLst>
          </a:prstGeom>
          <a:solidFill>
            <a:srgbClr val="F5F6FB"/>
          </a:solidFill>
          <a:ln w="12700">
            <a:solidFill>
              <a:srgbClr val="E6E8F0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704088" y="274320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pre-process (no LLM):  </a:t>
            </a:r>
            <a:pPr indent="0" marL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 · language · channel · memory (session_id) → Agent Harness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502920" y="3364992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sub-agents (agent-as-tool) → pick a registry skill → call tools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502920" y="3657600"/>
            <a:ext cx="2590724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49224" y="385876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2563EB"/>
          </a:solidFill>
          <a:ln/>
        </p:spPr>
      </p:sp>
      <p:pic>
        <p:nvPicPr>
          <p:cNvPr id="26" name="Image 5" descr="icons/sitemap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3959352"/>
            <a:ext cx="219456" cy="21945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179576" y="3767328"/>
            <a:ext cx="17860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inventory_agent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3367964" y="3657600"/>
            <a:ext cx="2590724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3514268" y="385876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2563EB"/>
          </a:solidFill>
          <a:ln/>
        </p:spPr>
      </p:sp>
      <p:pic>
        <p:nvPicPr>
          <p:cNvPr id="30" name="Image 6" descr="icons/route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4852" y="3959352"/>
            <a:ext cx="219456" cy="21945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4044620" y="3767328"/>
            <a:ext cx="17860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order_agent</a:t>
            </a:r>
            <a:endParaRPr lang="en-US" sz="1250" dirty="0"/>
          </a:p>
        </p:txBody>
      </p:sp>
      <p:sp>
        <p:nvSpPr>
          <p:cNvPr id="32" name="Shape 23"/>
          <p:cNvSpPr/>
          <p:nvPr/>
        </p:nvSpPr>
        <p:spPr>
          <a:xfrm>
            <a:off x="6233008" y="3657600"/>
            <a:ext cx="2590724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6379312" y="385876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0D9488"/>
          </a:solidFill>
          <a:ln/>
        </p:spPr>
      </p:sp>
      <p:pic>
        <p:nvPicPr>
          <p:cNvPr id="34" name="Image 7" descr="icons/lock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9896" y="3959352"/>
            <a:ext cx="219456" cy="219456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909664" y="3767328"/>
            <a:ext cx="17860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checkout_agent</a:t>
            </a:r>
            <a:endParaRPr lang="en-US" sz="1250" dirty="0"/>
          </a:p>
        </p:txBody>
      </p:sp>
      <p:sp>
        <p:nvSpPr>
          <p:cNvPr id="36" name="Shape 26"/>
          <p:cNvSpPr/>
          <p:nvPr/>
        </p:nvSpPr>
        <p:spPr>
          <a:xfrm>
            <a:off x="9098051" y="3657600"/>
            <a:ext cx="2590724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9244355" y="385876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0D9488"/>
          </a:solidFill>
          <a:ln/>
        </p:spPr>
      </p:sp>
      <p:pic>
        <p:nvPicPr>
          <p:cNvPr id="38" name="Image 8" descr="icons/cog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44939" y="3959352"/>
            <a:ext cx="219456" cy="219456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9774707" y="3767328"/>
            <a:ext cx="17860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order_mgmt_agent</a:t>
            </a:r>
            <a:endParaRPr lang="en-US" sz="1250" dirty="0"/>
          </a:p>
        </p:txBody>
      </p:sp>
      <p:sp>
        <p:nvSpPr>
          <p:cNvPr id="40" name="Shape 29"/>
          <p:cNvSpPr/>
          <p:nvPr/>
        </p:nvSpPr>
        <p:spPr>
          <a:xfrm>
            <a:off x="502920" y="4617720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41" name="Shape 30"/>
          <p:cNvSpPr/>
          <p:nvPr/>
        </p:nvSpPr>
        <p:spPr>
          <a:xfrm>
            <a:off x="649224" y="486460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0D9488"/>
          </a:solidFill>
          <a:ln/>
        </p:spPr>
      </p:sp>
      <p:pic>
        <p:nvPicPr>
          <p:cNvPr id="42" name="Image 9" descr="icons/dbW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808" y="4965192"/>
            <a:ext cx="219456" cy="219456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1179576" y="4727448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retail DB (Firestore)</a:t>
            </a:r>
            <a:endParaRPr lang="en-US" sz="1250" dirty="0"/>
          </a:p>
        </p:txBody>
      </p:sp>
      <p:sp>
        <p:nvSpPr>
          <p:cNvPr id="44" name="Text 32"/>
          <p:cNvSpPr/>
          <p:nvPr/>
        </p:nvSpPr>
        <p:spPr>
          <a:xfrm>
            <a:off x="1179576" y="5001768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· orders · ORDER_PLACED</a:t>
            </a:r>
            <a:endParaRPr lang="en-US" sz="1000" dirty="0"/>
          </a:p>
        </p:txBody>
      </p:sp>
      <p:sp>
        <p:nvSpPr>
          <p:cNvPr id="45" name="Shape 33"/>
          <p:cNvSpPr/>
          <p:nvPr/>
        </p:nvSpPr>
        <p:spPr>
          <a:xfrm>
            <a:off x="4480560" y="4617720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46" name="Shape 34"/>
          <p:cNvSpPr/>
          <p:nvPr/>
        </p:nvSpPr>
        <p:spPr>
          <a:xfrm>
            <a:off x="4626864" y="486460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7C3AED"/>
          </a:solidFill>
          <a:ln/>
        </p:spPr>
      </p:sp>
      <p:pic>
        <p:nvPicPr>
          <p:cNvPr id="47" name="Image 10" descr="icons/lockW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27448" y="4965192"/>
            <a:ext cx="219456" cy="219456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5157216" y="4727448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gate</a:t>
            </a:r>
            <a:endParaRPr lang="en-US" sz="1250" dirty="0"/>
          </a:p>
        </p:txBody>
      </p:sp>
      <p:sp>
        <p:nvSpPr>
          <p:cNvPr id="49" name="Text 36"/>
          <p:cNvSpPr/>
          <p:nvPr/>
        </p:nvSpPr>
        <p:spPr>
          <a:xfrm>
            <a:off x="5157216" y="5001768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→ payment → ORDER_PLACED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8458200" y="4617720"/>
            <a:ext cx="323057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11D48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51" name="Shape 38"/>
          <p:cNvSpPr/>
          <p:nvPr/>
        </p:nvSpPr>
        <p:spPr>
          <a:xfrm>
            <a:off x="8604504" y="486460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E11D48"/>
          </a:solidFill>
          <a:ln/>
        </p:spPr>
      </p:sp>
      <p:pic>
        <p:nvPicPr>
          <p:cNvPr id="52" name="Image 11" descr="icons/shieldW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05088" y="4965192"/>
            <a:ext cx="219456" cy="219456"/>
          </a:xfrm>
          <a:prstGeom prst="rect">
            <a:avLst/>
          </a:prstGeom>
        </p:spPr>
      </p:pic>
      <p:sp>
        <p:nvSpPr>
          <p:cNvPr id="53" name="Text 39"/>
          <p:cNvSpPr/>
          <p:nvPr/>
        </p:nvSpPr>
        <p:spPr>
          <a:xfrm>
            <a:off x="9134856" y="4727448"/>
            <a:ext cx="24259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· RSI · /dev</a:t>
            </a:r>
            <a:endParaRPr lang="en-US" sz="1250" dirty="0"/>
          </a:p>
        </p:txBody>
      </p:sp>
      <p:sp>
        <p:nvSpPr>
          <p:cNvPr id="54" name="Text 40"/>
          <p:cNvSpPr/>
          <p:nvPr/>
        </p:nvSpPr>
        <p:spPr>
          <a:xfrm>
            <a:off x="9134856" y="5001768"/>
            <a:ext cx="24259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 · self-improve · observe</a:t>
            </a:r>
            <a:endParaRPr lang="en-US" sz="1000" dirty="0"/>
          </a:p>
        </p:txBody>
      </p:sp>
      <p:sp>
        <p:nvSpPr>
          <p:cNvPr id="55" name="Text 41"/>
          <p:cNvSpPr/>
          <p:nvPr/>
        </p:nvSpPr>
        <p:spPr>
          <a:xfrm>
            <a:off x="502920" y="566928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orchestrates &amp; converses;  deterministic code transacts  —  safe, observable, self-healing &amp; self-improving.</a:t>
            </a:r>
            <a:endParaRPr lang="en-US" sz="1200" dirty="0"/>
          </a:p>
        </p:txBody>
      </p:sp>
      <p:sp>
        <p:nvSpPr>
          <p:cNvPr id="56" name="Text 42"/>
          <p:cNvSpPr/>
          <p:nvPr/>
        </p:nvSpPr>
        <p:spPr>
          <a:xfrm>
            <a:off x="50292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GOOPHER · Business case — unblocking modern self-service</a:t>
            </a:r>
            <a:endParaRPr lang="en-US" sz="900" dirty="0"/>
          </a:p>
        </p:txBody>
      </p:sp>
      <p:sp>
        <p:nvSpPr>
          <p:cNvPr id="57" name="Text 43"/>
          <p:cNvSpPr/>
          <p:nvPr/>
        </p:nvSpPr>
        <p:spPr>
          <a:xfrm>
            <a:off x="11277295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FOR THE NEW DESIGN — AND HOW WE MANAGE THEM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85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of the GOOPHER architecture (and mitigations)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1984248"/>
            <a:ext cx="512064" cy="512064"/>
          </a:xfrm>
          <a:prstGeom prst="roundRect">
            <a:avLst>
              <a:gd name="adj" fmla="val 19643"/>
            </a:avLst>
          </a:prstGeom>
          <a:solidFill>
            <a:srgbClr val="F59E0B"/>
          </a:solidFill>
          <a:ln/>
        </p:spPr>
      </p:sp>
      <p:pic>
        <p:nvPicPr>
          <p:cNvPr id="6" name="Image 0" descr="icons/dollar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11226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44168" y="1965960"/>
            <a:ext cx="253989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cost &amp; latency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0664" y="2569464"/>
            <a:ext cx="308853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~4–5 calls/turn → deterministic pre-process, caching, model tiering; trade cost for visible orchestration.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22978" y="1783080"/>
            <a:ext cx="3545738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42434" y="1984248"/>
            <a:ext cx="512064" cy="512064"/>
          </a:xfrm>
          <a:prstGeom prst="roundRect">
            <a:avLst>
              <a:gd name="adj" fmla="val 19643"/>
            </a:avLst>
          </a:prstGeom>
          <a:solidFill>
            <a:srgbClr val="F59E0B"/>
          </a:solidFill>
          <a:ln/>
        </p:spPr>
      </p:sp>
      <p:pic>
        <p:nvPicPr>
          <p:cNvPr id="11" name="Image 1" descr="icons/lock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450" y="211226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64226" y="1965960"/>
            <a:ext cx="253989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on transactions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60722" y="2569464"/>
            <a:ext cx="308853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gate + no-substitution + confirm-before-charge — the LLM never executes a purchase.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43037" y="1783080"/>
            <a:ext cx="3545738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2493" y="1984248"/>
            <a:ext cx="512064" cy="512064"/>
          </a:xfrm>
          <a:prstGeom prst="roundRect">
            <a:avLst>
              <a:gd name="adj" fmla="val 19643"/>
            </a:avLst>
          </a:prstGeom>
          <a:solidFill>
            <a:srgbClr val="F59E0B"/>
          </a:solidFill>
          <a:ln/>
        </p:spPr>
      </p:sp>
      <p:pic>
        <p:nvPicPr>
          <p:cNvPr id="16" name="Image 2" descr="icons/sitemap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509" y="211226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84285" y="1965960"/>
            <a:ext cx="253989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complexity / loops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80781" y="2569464"/>
            <a:ext cx="308853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Agent-as-tool (no transfer-back), common harness, bounded retries — loops can't form.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02920" y="4160520"/>
            <a:ext cx="3545738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22376" y="4361688"/>
            <a:ext cx="512064" cy="512064"/>
          </a:xfrm>
          <a:prstGeom prst="roundRect">
            <a:avLst>
              <a:gd name="adj" fmla="val 19643"/>
            </a:avLst>
          </a:prstGeom>
          <a:solidFill>
            <a:srgbClr val="F59E0B"/>
          </a:solidFill>
          <a:ln/>
        </p:spPr>
      </p:sp>
      <p:pic>
        <p:nvPicPr>
          <p:cNvPr id="21" name="Image 3" descr="icons/db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48970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44168" y="4343400"/>
            <a:ext cx="253989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to live systems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40664" y="4946904"/>
            <a:ext cx="308853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+ RAG; here a mock DB — production wires real OMS / inventory / payments.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22978" y="4160520"/>
            <a:ext cx="3545738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42434" y="4361688"/>
            <a:ext cx="512064" cy="512064"/>
          </a:xfrm>
          <a:prstGeom prst="roundRect">
            <a:avLst>
              <a:gd name="adj" fmla="val 19643"/>
            </a:avLst>
          </a:prstGeom>
          <a:solidFill>
            <a:srgbClr val="F59E0B"/>
          </a:solidFill>
          <a:ln/>
        </p:spPr>
      </p:sp>
      <p:pic>
        <p:nvPicPr>
          <p:cNvPr id="26" name="Image 4" descr="icons/cloud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0450" y="448970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64226" y="4343400"/>
            <a:ext cx="253989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/ quota availability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60722" y="4946904"/>
            <a:ext cx="308853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+ a deterministic fallback engine + self-healing Guardian — degrade, don't fail.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43037" y="4160520"/>
            <a:ext cx="3545738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2493" y="4361688"/>
            <a:ext cx="512064" cy="512064"/>
          </a:xfrm>
          <a:prstGeom prst="roundRect">
            <a:avLst>
              <a:gd name="adj" fmla="val 19643"/>
            </a:avLst>
          </a:prstGeom>
          <a:solidFill>
            <a:srgbClr val="F59E0B"/>
          </a:solidFill>
          <a:ln/>
        </p:spPr>
      </p:sp>
      <p:pic>
        <p:nvPicPr>
          <p:cNvPr id="31" name="Image 5" descr="icons/shield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0509" y="448970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84285" y="4343400"/>
            <a:ext cx="253989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change management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380781" y="4946904"/>
            <a:ext cx="308853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observability (/dev, Cloud Trace), human-in-the-loop, and a measured pilot before scale.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0292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GOOPHER · Business case — unblocking modern self-service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GOOPHER MEETS THE REQUIREMENT — AND MOVES THE BUSINESS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85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impact &amp; requirement coverage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required capability — delivered today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57607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pic>
        <p:nvPicPr>
          <p:cNvPr id="6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20370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33272" y="205740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tools on a mock retail DB (live inventory / orders)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2697480"/>
            <a:ext cx="57607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pic>
        <p:nvPicPr>
          <p:cNvPr id="9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843784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33272" y="269748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 + context kept when switching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02920" y="3337560"/>
            <a:ext cx="57607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pic>
        <p:nvPicPr>
          <p:cNvPr id="12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3483864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272" y="333756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Multi-lingual (carried across the conversation)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02920" y="3977640"/>
            <a:ext cx="57607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pic>
        <p:nvPicPr>
          <p:cNvPr id="15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4123944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33272" y="397764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(web + phone simulator → CCAI path)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502920" y="4617720"/>
            <a:ext cx="57607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pic>
        <p:nvPicPr>
          <p:cNvPr id="18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4764024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33272" y="461772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(text · voice · file · camera vision)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502920" y="5257800"/>
            <a:ext cx="57607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pic>
        <p:nvPicPr>
          <p:cNvPr id="21" name="Image 5" descr="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5404104"/>
            <a:ext cx="274320" cy="27432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33272" y="525780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safely (deterministic confirm-before-charge gate)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6583680" y="1691640"/>
            <a:ext cx="5105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the business upside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6583680" y="2057400"/>
            <a:ext cx="5105095" cy="868680"/>
          </a:xfrm>
          <a:prstGeom prst="roundRect">
            <a:avLst>
              <a:gd name="adj" fmla="val 8421"/>
            </a:avLst>
          </a:prstGeom>
          <a:solidFill>
            <a:srgbClr val="F5F6FB"/>
          </a:solidFill>
          <a:ln w="12700">
            <a:solidFill>
              <a:srgbClr val="E6E8F0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6766560" y="2258568"/>
            <a:ext cx="475488" cy="475488"/>
          </a:xfrm>
          <a:prstGeom prst="roundRect">
            <a:avLst>
              <a:gd name="adj" fmla="val 21154"/>
            </a:avLst>
          </a:prstGeom>
          <a:solidFill>
            <a:srgbClr val="16A34A"/>
          </a:solidFill>
          <a:ln/>
        </p:spPr>
      </p:sp>
      <p:pic>
        <p:nvPicPr>
          <p:cNvPr id="26" name="Image 6" descr="icons/clock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5432" y="2377440"/>
            <a:ext cx="237744" cy="23774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360920" y="2185416"/>
            <a:ext cx="4144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· every channel &amp; language</a:t>
            </a:r>
            <a:endParaRPr lang="en-US" sz="1300" dirty="0"/>
          </a:p>
        </p:txBody>
      </p:sp>
      <p:sp>
        <p:nvSpPr>
          <p:cNvPr id="28" name="Text 19"/>
          <p:cNvSpPr/>
          <p:nvPr/>
        </p:nvSpPr>
        <p:spPr>
          <a:xfrm>
            <a:off x="7360920" y="2478024"/>
            <a:ext cx="4144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after-hours gaps; one agent, all markets</a:t>
            </a:r>
            <a:endParaRPr lang="en-US" sz="1050" dirty="0"/>
          </a:p>
        </p:txBody>
      </p:sp>
      <p:sp>
        <p:nvSpPr>
          <p:cNvPr id="29" name="Shape 20"/>
          <p:cNvSpPr/>
          <p:nvPr/>
        </p:nvSpPr>
        <p:spPr>
          <a:xfrm>
            <a:off x="6583680" y="3017520"/>
            <a:ext cx="5105095" cy="868680"/>
          </a:xfrm>
          <a:prstGeom prst="roundRect">
            <a:avLst>
              <a:gd name="adj" fmla="val 8421"/>
            </a:avLst>
          </a:prstGeom>
          <a:solidFill>
            <a:srgbClr val="F5F6FB"/>
          </a:solidFill>
          <a:ln w="12700">
            <a:solidFill>
              <a:srgbClr val="E6E8F0"/>
            </a:solidFill>
            <a:prstDash val="solid"/>
          </a:ln>
        </p:spPr>
      </p:sp>
      <p:sp>
        <p:nvSpPr>
          <p:cNvPr id="30" name="Shape 21"/>
          <p:cNvSpPr/>
          <p:nvPr/>
        </p:nvSpPr>
        <p:spPr>
          <a:xfrm>
            <a:off x="6766560" y="3218688"/>
            <a:ext cx="475488" cy="475488"/>
          </a:xfrm>
          <a:prstGeom prst="roundRect">
            <a:avLst>
              <a:gd name="adj" fmla="val 21154"/>
            </a:avLst>
          </a:prstGeom>
          <a:solidFill>
            <a:srgbClr val="16A34A"/>
          </a:solidFill>
          <a:ln/>
        </p:spPr>
      </p:sp>
      <p:pic>
        <p:nvPicPr>
          <p:cNvPr id="31" name="Image 7" descr="icons/up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5432" y="3337560"/>
            <a:ext cx="237744" cy="237744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7360920" y="3145536"/>
            <a:ext cx="4144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60–80% deflection (target)</a:t>
            </a:r>
            <a:endParaRPr lang="en-US" sz="1300" dirty="0"/>
          </a:p>
        </p:txBody>
      </p:sp>
      <p:sp>
        <p:nvSpPr>
          <p:cNvPr id="33" name="Text 23"/>
          <p:cNvSpPr/>
          <p:nvPr/>
        </p:nvSpPr>
        <p:spPr>
          <a:xfrm>
            <a:off x="7360920" y="3438144"/>
            <a:ext cx="4144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contacts self-served → lower cost</a:t>
            </a:r>
            <a:endParaRPr lang="en-US" sz="1050" dirty="0"/>
          </a:p>
        </p:txBody>
      </p:sp>
      <p:sp>
        <p:nvSpPr>
          <p:cNvPr id="34" name="Shape 24"/>
          <p:cNvSpPr/>
          <p:nvPr/>
        </p:nvSpPr>
        <p:spPr>
          <a:xfrm>
            <a:off x="6583680" y="3977640"/>
            <a:ext cx="5105095" cy="868680"/>
          </a:xfrm>
          <a:prstGeom prst="roundRect">
            <a:avLst>
              <a:gd name="adj" fmla="val 8421"/>
            </a:avLst>
          </a:prstGeom>
          <a:solidFill>
            <a:srgbClr val="F5F6FB"/>
          </a:solidFill>
          <a:ln w="12700">
            <a:solidFill>
              <a:srgbClr val="E6E8F0"/>
            </a:solidFill>
            <a:prstDash val="solid"/>
          </a:ln>
        </p:spPr>
      </p:sp>
      <p:sp>
        <p:nvSpPr>
          <p:cNvPr id="35" name="Shape 25"/>
          <p:cNvSpPr/>
          <p:nvPr/>
        </p:nvSpPr>
        <p:spPr>
          <a:xfrm>
            <a:off x="6766560" y="4178808"/>
            <a:ext cx="475488" cy="475488"/>
          </a:xfrm>
          <a:prstGeom prst="roundRect">
            <a:avLst>
              <a:gd name="adj" fmla="val 21154"/>
            </a:avLst>
          </a:prstGeom>
          <a:solidFill>
            <a:srgbClr val="16A34A"/>
          </a:solidFill>
          <a:ln/>
        </p:spPr>
      </p:sp>
      <p:pic>
        <p:nvPicPr>
          <p:cNvPr id="36" name="Image 8" descr="icons/chartB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5432" y="4297680"/>
            <a:ext cx="237744" cy="237744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360920" y="4105656"/>
            <a:ext cx="4144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conversion &amp; AOV</a:t>
            </a:r>
            <a:endParaRPr lang="en-US" sz="1300" dirty="0"/>
          </a:p>
        </p:txBody>
      </p:sp>
      <p:sp>
        <p:nvSpPr>
          <p:cNvPr id="38" name="Text 27"/>
          <p:cNvSpPr/>
          <p:nvPr/>
        </p:nvSpPr>
        <p:spPr>
          <a:xfrm>
            <a:off x="7360920" y="4398264"/>
            <a:ext cx="4144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see-it-shop-it + recommendations turn questions into orders</a:t>
            </a:r>
            <a:endParaRPr lang="en-US" sz="1050" dirty="0"/>
          </a:p>
        </p:txBody>
      </p:sp>
      <p:sp>
        <p:nvSpPr>
          <p:cNvPr id="39" name="Shape 28"/>
          <p:cNvSpPr/>
          <p:nvPr/>
        </p:nvSpPr>
        <p:spPr>
          <a:xfrm>
            <a:off x="6583680" y="4937760"/>
            <a:ext cx="5105095" cy="868680"/>
          </a:xfrm>
          <a:prstGeom prst="roundRect">
            <a:avLst>
              <a:gd name="adj" fmla="val 8421"/>
            </a:avLst>
          </a:prstGeom>
          <a:solidFill>
            <a:srgbClr val="F5F6FB"/>
          </a:solidFill>
          <a:ln w="12700">
            <a:solidFill>
              <a:srgbClr val="E6E8F0"/>
            </a:solidFill>
            <a:prstDash val="solid"/>
          </a:ln>
        </p:spPr>
      </p:sp>
      <p:sp>
        <p:nvSpPr>
          <p:cNvPr id="40" name="Shape 29"/>
          <p:cNvSpPr/>
          <p:nvPr/>
        </p:nvSpPr>
        <p:spPr>
          <a:xfrm>
            <a:off x="6766560" y="5138928"/>
            <a:ext cx="475488" cy="475488"/>
          </a:xfrm>
          <a:prstGeom prst="roundRect">
            <a:avLst>
              <a:gd name="adj" fmla="val 21154"/>
            </a:avLst>
          </a:prstGeom>
          <a:solidFill>
            <a:srgbClr val="16A34A"/>
          </a:solidFill>
          <a:ln/>
        </p:spPr>
      </p:sp>
      <p:pic>
        <p:nvPicPr>
          <p:cNvPr id="41" name="Image 9" descr="icons/syncW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85432" y="5257800"/>
            <a:ext cx="237744" cy="23774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7360920" y="5065776"/>
            <a:ext cx="4144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Self-improving (RSI)</a:t>
            </a:r>
            <a:endParaRPr lang="en-US" sz="1300" dirty="0"/>
          </a:p>
        </p:txBody>
      </p:sp>
      <p:sp>
        <p:nvSpPr>
          <p:cNvPr id="43" name="Text 31"/>
          <p:cNvSpPr/>
          <p:nvPr/>
        </p:nvSpPr>
        <p:spPr>
          <a:xfrm>
            <a:off x="7360920" y="5358384"/>
            <a:ext cx="4144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feedback — gets better with no redeploy</a:t>
            </a:r>
            <a:endParaRPr lang="en-US" sz="1050" dirty="0"/>
          </a:p>
        </p:txBody>
      </p:sp>
      <p:sp>
        <p:nvSpPr>
          <p:cNvPr id="44" name="Text 32"/>
          <p:cNvSpPr/>
          <p:nvPr/>
        </p:nvSpPr>
        <p:spPr>
          <a:xfrm>
            <a:off x="502920" y="6199632"/>
            <a:ext cx="11185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Deflection / AOV are illustrative targets — instrumented and validated in the pilot.</a:t>
            </a:r>
            <a:endParaRPr lang="en-US" sz="900" dirty="0"/>
          </a:p>
        </p:txBody>
      </p:sp>
      <p:sp>
        <p:nvSpPr>
          <p:cNvPr id="45" name="Text 33"/>
          <p:cNvSpPr/>
          <p:nvPr/>
        </p:nvSpPr>
        <p:spPr>
          <a:xfrm>
            <a:off x="50292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GOOPHER · Business case — unblocking modern self-service</a:t>
            </a:r>
            <a:endParaRPr lang="en-US" sz="900" dirty="0"/>
          </a:p>
        </p:txBody>
      </p:sp>
      <p:sp>
        <p:nvSpPr>
          <p:cNvPr id="46" name="Text 34"/>
          <p:cNvSpPr/>
          <p:nvPr/>
        </p:nvSpPr>
        <p:spPr>
          <a:xfrm>
            <a:off x="11277295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PROTOTYPE TO PRODUCTION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85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 — detailed architecture &amp; a measured pilot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2590724" cy="3017520"/>
          </a:xfrm>
          <a:prstGeom prst="roundRect">
            <a:avLst>
              <a:gd name="adj" fmla="val 3177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828800"/>
            <a:ext cx="2590724" cy="10972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" y="2121408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/>
        </p:spPr>
      </p:sp>
      <p:pic>
        <p:nvPicPr>
          <p:cNvPr id="7" name="Image 0" descr="icons/flag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25856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088" y="2798064"/>
            <a:ext cx="2188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PoC (done)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22376" y="3310128"/>
            <a:ext cx="21701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GOOPHER live on Cloud Run + Firestore</a:t>
            </a:r>
            <a:endParaRPr lang="en-US" sz="105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requirements + safe checkout</a:t>
            </a:r>
            <a:endParaRPr lang="en-US" sz="105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 tests · CI/CD · /dev portal</a:t>
            </a:r>
            <a:endParaRPr lang="en-US" sz="1050" dirty="0"/>
          </a:p>
        </p:txBody>
      </p:sp>
      <p:pic>
        <p:nvPicPr>
          <p:cNvPr id="10" name="Image 1" descr="icons/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644" y="3246120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67964" y="1828800"/>
            <a:ext cx="2590724" cy="3017520"/>
          </a:xfrm>
          <a:prstGeom prst="roundRect">
            <a:avLst>
              <a:gd name="adj" fmla="val 3177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367964" y="1828800"/>
            <a:ext cx="2590724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Shape 9"/>
          <p:cNvSpPr/>
          <p:nvPr/>
        </p:nvSpPr>
        <p:spPr>
          <a:xfrm>
            <a:off x="3587420" y="2121408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/>
        </p:spPr>
      </p:sp>
      <p:pic>
        <p:nvPicPr>
          <p:cNvPr id="14" name="Image 2" descr="icons/wrench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580" y="2258568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69132" y="2798064"/>
            <a:ext cx="2188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design — 2–3 wks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3587420" y="3310128"/>
            <a:ext cx="21701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blueprint: OMS · payments · CCAI telephony</a:t>
            </a:r>
            <a:endParaRPr lang="en-US" sz="105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SSO/IdP · Secret Manager · network IAM</a:t>
            </a:r>
            <a:endParaRPr lang="en-US" sz="105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Vector Search for RSI; security review</a:t>
            </a:r>
            <a:endParaRPr lang="en-US" sz="1050" dirty="0"/>
          </a:p>
        </p:txBody>
      </p:sp>
      <p:pic>
        <p:nvPicPr>
          <p:cNvPr id="17" name="Image 3" descr="icons/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8688" y="3246120"/>
            <a:ext cx="256032" cy="25603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33008" y="1828800"/>
            <a:ext cx="2590724" cy="3017520"/>
          </a:xfrm>
          <a:prstGeom prst="roundRect">
            <a:avLst>
              <a:gd name="adj" fmla="val 3177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233008" y="1828800"/>
            <a:ext cx="2590724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Shape 14"/>
          <p:cNvSpPr/>
          <p:nvPr/>
        </p:nvSpPr>
        <p:spPr>
          <a:xfrm>
            <a:off x="6452464" y="2121408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pic>
        <p:nvPicPr>
          <p:cNvPr id="21" name="Image 4" descr="icons/target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9624" y="2258568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34176" y="2798064"/>
            <a:ext cx="2188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— 4–6 wks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6452464" y="3310128"/>
            <a:ext cx="21701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market / cohort, A/B vs current self-service</a:t>
            </a:r>
            <a:endParaRPr lang="en-US" sz="105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instrument: containment · CSAT · AOV · cost/contact</a:t>
            </a:r>
            <a:endParaRPr lang="en-US" sz="105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review of agent actions</a:t>
            </a:r>
            <a:endParaRPr lang="en-US" sz="1050" dirty="0"/>
          </a:p>
        </p:txBody>
      </p:sp>
      <p:pic>
        <p:nvPicPr>
          <p:cNvPr id="24" name="Image 5" descr="icons/arr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3731" y="3246120"/>
            <a:ext cx="256032" cy="256032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098051" y="1828800"/>
            <a:ext cx="2590724" cy="3017520"/>
          </a:xfrm>
          <a:prstGeom prst="roundRect">
            <a:avLst>
              <a:gd name="adj" fmla="val 3177"/>
            </a:avLst>
          </a:prstGeom>
          <a:solidFill>
            <a:srgbClr val="FFFFFF"/>
          </a:solidFill>
          <a:ln w="12700">
            <a:solidFill>
              <a:srgbClr val="E6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9098051" y="1828800"/>
            <a:ext cx="2590724" cy="109728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7" name="Shape 19"/>
          <p:cNvSpPr/>
          <p:nvPr/>
        </p:nvSpPr>
        <p:spPr>
          <a:xfrm>
            <a:off x="9317507" y="2121408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E11D48"/>
          </a:solidFill>
          <a:ln/>
        </p:spPr>
      </p:sp>
      <p:pic>
        <p:nvPicPr>
          <p:cNvPr id="28" name="Image 6" descr="icons/rocket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4667" y="2258568"/>
            <a:ext cx="274320" cy="27432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9299219" y="2798064"/>
            <a:ext cx="2188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rollout</a:t>
            </a:r>
            <a:endParaRPr lang="en-US" sz="1350" dirty="0"/>
          </a:p>
        </p:txBody>
      </p:sp>
      <p:sp>
        <p:nvSpPr>
          <p:cNvPr id="30" name="Text 21"/>
          <p:cNvSpPr/>
          <p:nvPr/>
        </p:nvSpPr>
        <p:spPr>
          <a:xfrm>
            <a:off x="9317507" y="3310128"/>
            <a:ext cx="21701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· min-instances for latency</a:t>
            </a:r>
            <a:endParaRPr lang="en-US" sz="105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+ guardrails in CI; phased traffic</a:t>
            </a:r>
            <a:endParaRPr lang="en-US" sz="105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languages, channels &amp; sub-agents</a:t>
            </a:r>
            <a:endParaRPr lang="en-US" sz="1050" dirty="0"/>
          </a:p>
        </p:txBody>
      </p:sp>
      <p:sp>
        <p:nvSpPr>
          <p:cNvPr id="31" name="Shape 22"/>
          <p:cNvSpPr/>
          <p:nvPr/>
        </p:nvSpPr>
        <p:spPr>
          <a:xfrm>
            <a:off x="502920" y="5074920"/>
            <a:ext cx="11185855" cy="777240"/>
          </a:xfrm>
          <a:prstGeom prst="roundRect">
            <a:avLst>
              <a:gd name="adj" fmla="val 10588"/>
            </a:avLst>
          </a:prstGeom>
          <a:solidFill>
            <a:srgbClr val="0A0E1F"/>
          </a:solidFill>
          <a:ln/>
        </p:spPr>
      </p:sp>
      <p:pic>
        <p:nvPicPr>
          <p:cNvPr id="32" name="Image 7" descr="icons/chartB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952" y="5285232"/>
            <a:ext cx="365760" cy="36576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1280160" y="5074920"/>
            <a:ext cx="10225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C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SUCCESS METRICS   </a:t>
            </a:r>
            <a:pPr indent="0" marL="0">
              <a:buNone/>
            </a:pPr>
            <a:r>
              <a:rPr lang="en-US" sz="1150" dirty="0">
                <a:solidFill>
                  <a:srgbClr val="D7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 % · CSAT · AOV uplift · cost per contact · time-to-resolution · language coverage — vs the current self-service baseline.</a:t>
            </a:r>
            <a:endParaRPr lang="en-US" sz="1150" dirty="0"/>
          </a:p>
        </p:txBody>
      </p:sp>
      <p:sp>
        <p:nvSpPr>
          <p:cNvPr id="34" name="Text 24"/>
          <p:cNvSpPr/>
          <p:nvPr/>
        </p:nvSpPr>
        <p:spPr>
          <a:xfrm>
            <a:off x="502920" y="60350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 ramp: the prototype already proves the hard parts — production is integration + hardening, validated by the pilot.</a:t>
            </a:r>
            <a:endParaRPr lang="en-US" sz="1150" dirty="0"/>
          </a:p>
        </p:txBody>
      </p:sp>
      <p:sp>
        <p:nvSpPr>
          <p:cNvPr id="35" name="Text 25"/>
          <p:cNvSpPr/>
          <p:nvPr/>
        </p:nvSpPr>
        <p:spPr>
          <a:xfrm>
            <a:off x="50292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GOOPHER · Business case — unblocking modern self-service</a:t>
            </a:r>
            <a:endParaRPr lang="en-US" sz="900" dirty="0"/>
          </a:p>
        </p:txBody>
      </p:sp>
      <p:sp>
        <p:nvSpPr>
          <p:cNvPr id="36" name="Text 26"/>
          <p:cNvSpPr/>
          <p:nvPr/>
        </p:nvSpPr>
        <p:spPr>
          <a:xfrm>
            <a:off x="11277295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GOOPHER — Business Case</dc:title>
  <dc:subject>PptxGenJS Presentation</dc:subject>
  <dc:creator>GOOPHER — Applied AI CE</dc:creator>
  <cp:lastModifiedBy>GOOPHER — Applied AI CE</cp:lastModifiedBy>
  <cp:revision>1</cp:revision>
  <dcterms:created xsi:type="dcterms:W3CDTF">2026-06-05T19:11:18Z</dcterms:created>
  <dcterms:modified xsi:type="dcterms:W3CDTF">2026-06-05T19:11:18Z</dcterms:modified>
</cp:coreProperties>
</file>