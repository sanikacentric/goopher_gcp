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Components in detail (3–4 min — the 'show me the rigor' slide). Six panels, each its own concern. 1) Sub-agents are the LLM agents: the ROOT goopher_orchestrator and four named workers — inventory, order, checkout, order_management — plus three isolated ones (vision, advisor, guardian). 2) Agent SKILLS are a SEPARATE concept: a skill is an instruction + a set of tools, registered once; an agent PICKS a skill. Browse-and-track skills are read-only; checkout/fulfillment are transactional — and the read-only flag is enforced in code so the advisor can never get a checkout tool. See GET /skills. 3) Authentication: JWT on every call, an email allowlist plus master password, fail-closed, with rate/size limits and CORS; secrets never committed. 4) The Memory Agent is one session store keyed by session_id, durable in Firestore, holding turns plus working-memory facts; loaded at the start and persisted at the end of every turn. 5) Guardrails: the deterministic gate, no-substitution, confirm-before-charge, structural loop prevention, graceful fallback, and the self-healing Guardian. 6) Quality: 117 unit tests and 8 evals gate every change via CI/CD, plus a CI-simulation that blocks the google packages to prove the production fallback path. The headline: sub-agents and skills are different layers, and safety/quality are first-class, not afterthoughts.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The headline trade-off is the deterministic gate — we deliberately keep the LLM OUT of executing payments. Agent-as-tool prevents loops structurally. We didn't force deterministic work into agents. We use native function-calling for reliability and reserve explicit ReAct for the one read-only advisor. One Gemini model on Vertex keeps ops and latency down. And graceful fallback + self-healing means we degrade, not fail. Invite the expert to push on any row — this is where the conversation gets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Authentication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JWT · email allowlist · master-pw · fail-closed  ·  rate/size limits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(no LLM) + Memory Agent</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modality · language · channel agents  ·  Memory Agent LOADS session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sub-agent: goopher_orchestrator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(e.g. inventory_agent) PICKS an agent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skill (instruction + tools) → calls its tools via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Memory Agent PERSISTS turn · stream back · trace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COMPONENTS IN DETAIL</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Inside the platform — sub-agents, skills &amp; the guard rails</a:t>
            </a:r>
            <a:endParaRPr lang="en-US" sz="2800" dirty="0"/>
          </a:p>
        </p:txBody>
      </p:sp>
      <p:sp>
        <p:nvSpPr>
          <p:cNvPr id="4" name="Shape 2"/>
          <p:cNvSpPr/>
          <p:nvPr/>
        </p:nvSpPr>
        <p:spPr>
          <a:xfrm>
            <a:off x="502920"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22376" y="1984248"/>
            <a:ext cx="493776" cy="493776"/>
          </a:xfrm>
          <a:prstGeom prst="roundRect">
            <a:avLst>
              <a:gd name="adj" fmla="val 20370"/>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41248" y="2103120"/>
            <a:ext cx="256032" cy="256032"/>
          </a:xfrm>
          <a:prstGeom prst="rect">
            <a:avLst/>
          </a:prstGeom>
        </p:spPr>
      </p:pic>
      <p:sp>
        <p:nvSpPr>
          <p:cNvPr id="7" name="Text 4"/>
          <p:cNvSpPr/>
          <p:nvPr/>
        </p:nvSpPr>
        <p:spPr>
          <a:xfrm>
            <a:off x="1325880"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Sub-agents  (the LLM agents)</a:t>
            </a:r>
            <a:endParaRPr lang="en-US" sz="1250" dirty="0"/>
          </a:p>
        </p:txBody>
      </p:sp>
      <p:sp>
        <p:nvSpPr>
          <p:cNvPr id="8" name="Text 5"/>
          <p:cNvSpPr/>
          <p:nvPr/>
        </p:nvSpPr>
        <p:spPr>
          <a:xfrm>
            <a:off x="740664"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ROOT: goopher_orchestrator (routes)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inventory_agent — search · stock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order_agent — status · history · bulk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checkout_agent — cart · pay · place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order_management_agent — fulfillment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Isolated: vision_agent · advisor_agent · guardian</a:t>
            </a:r>
            <a:endParaRPr lang="en-US" sz="1000" dirty="0"/>
          </a:p>
        </p:txBody>
      </p:sp>
      <p:sp>
        <p:nvSpPr>
          <p:cNvPr id="9" name="Shape 6"/>
          <p:cNvSpPr/>
          <p:nvPr/>
        </p:nvSpPr>
        <p:spPr>
          <a:xfrm>
            <a:off x="4322978"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42434" y="1984248"/>
            <a:ext cx="493776" cy="493776"/>
          </a:xfrm>
          <a:prstGeom prst="roundRect">
            <a:avLst>
              <a:gd name="adj" fmla="val 20370"/>
            </a:avLst>
          </a:prstGeom>
          <a:solidFill>
            <a:srgbClr val="F59E0B"/>
          </a:solidFill>
          <a:ln/>
        </p:spPr>
      </p:sp>
      <p:pic>
        <p:nvPicPr>
          <p:cNvPr id="11" name="Image 1" descr="icons/layers.png">    </p:cNvPr>
          <p:cNvPicPr>
            <a:picLocks noChangeAspect="1"/>
          </p:cNvPicPr>
          <p:nvPr/>
        </p:nvPicPr>
        <p:blipFill>
          <a:blip r:embed="rId2"/>
          <a:stretch>
            <a:fillRect/>
          </a:stretch>
        </p:blipFill>
        <p:spPr>
          <a:xfrm>
            <a:off x="4661306" y="2103120"/>
            <a:ext cx="256032" cy="256032"/>
          </a:xfrm>
          <a:prstGeom prst="rect">
            <a:avLst/>
          </a:prstGeom>
        </p:spPr>
      </p:pic>
      <p:sp>
        <p:nvSpPr>
          <p:cNvPr id="12" name="Text 8"/>
          <p:cNvSpPr/>
          <p:nvPr/>
        </p:nvSpPr>
        <p:spPr>
          <a:xfrm>
            <a:off x="5145938"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skills  (registry — SEPARATE)</a:t>
            </a:r>
            <a:endParaRPr lang="en-US" sz="1250" dirty="0"/>
          </a:p>
        </p:txBody>
      </p:sp>
      <p:sp>
        <p:nvSpPr>
          <p:cNvPr id="13" name="Text 9"/>
          <p:cNvSpPr/>
          <p:nvPr/>
        </p:nvSpPr>
        <p:spPr>
          <a:xfrm>
            <a:off x="4560722"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 skill = INSTRUCTION + TOOLS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an agent PICKS a skill (≠ a sub-agent)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 · order  (read-only)</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 · fulfillment  (transactional)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read-only flag enforced in code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introspect live → GET /skills</a:t>
            </a:r>
            <a:endParaRPr lang="en-US" sz="1000" dirty="0"/>
          </a:p>
        </p:txBody>
      </p:sp>
      <p:sp>
        <p:nvSpPr>
          <p:cNvPr id="14" name="Shape 10"/>
          <p:cNvSpPr/>
          <p:nvPr/>
        </p:nvSpPr>
        <p:spPr>
          <a:xfrm>
            <a:off x="8143037"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62493" y="1984248"/>
            <a:ext cx="493776" cy="493776"/>
          </a:xfrm>
          <a:prstGeom prst="roundRect">
            <a:avLst>
              <a:gd name="adj" fmla="val 20370"/>
            </a:avLst>
          </a:prstGeom>
          <a:solidFill>
            <a:srgbClr val="7C3AED"/>
          </a:solidFill>
          <a:ln/>
        </p:spPr>
      </p:sp>
      <p:pic>
        <p:nvPicPr>
          <p:cNvPr id="16" name="Image 2" descr="icons/lock.png">    </p:cNvPr>
          <p:cNvPicPr>
            <a:picLocks noChangeAspect="1"/>
          </p:cNvPicPr>
          <p:nvPr/>
        </p:nvPicPr>
        <p:blipFill>
          <a:blip r:embed="rId3"/>
          <a:stretch>
            <a:fillRect/>
          </a:stretch>
        </p:blipFill>
        <p:spPr>
          <a:xfrm>
            <a:off x="8481365" y="2103120"/>
            <a:ext cx="256032" cy="256032"/>
          </a:xfrm>
          <a:prstGeom prst="rect">
            <a:avLst/>
          </a:prstGeom>
        </p:spPr>
      </p:pic>
      <p:sp>
        <p:nvSpPr>
          <p:cNvPr id="17" name="Text 12"/>
          <p:cNvSpPr/>
          <p:nvPr/>
        </p:nvSpPr>
        <p:spPr>
          <a:xfrm>
            <a:off x="8965997"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Authentication &amp; edge</a:t>
            </a:r>
            <a:endParaRPr lang="en-US" sz="1250" dirty="0"/>
          </a:p>
        </p:txBody>
      </p:sp>
      <p:sp>
        <p:nvSpPr>
          <p:cNvPr id="18" name="Text 13"/>
          <p:cNvSpPr/>
          <p:nvPr/>
        </p:nvSpPr>
        <p:spPr>
          <a:xfrm>
            <a:off x="8380781"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JWT bearer token on every request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Email allowlist + master password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Fail-closed — no match → rejected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Rate-limit · request-size limit · CORS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Secrets in env / secret — never committed</a:t>
            </a:r>
            <a:endParaRPr lang="en-US" sz="1000" dirty="0"/>
          </a:p>
        </p:txBody>
      </p:sp>
      <p:sp>
        <p:nvSpPr>
          <p:cNvPr id="19" name="Shape 14"/>
          <p:cNvSpPr/>
          <p:nvPr/>
        </p:nvSpPr>
        <p:spPr>
          <a:xfrm>
            <a:off x="502920"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22376" y="4361688"/>
            <a:ext cx="493776" cy="493776"/>
          </a:xfrm>
          <a:prstGeom prst="roundRect">
            <a:avLst>
              <a:gd name="adj" fmla="val 20370"/>
            </a:avLst>
          </a:prstGeom>
          <a:solidFill>
            <a:srgbClr val="0D9488"/>
          </a:solidFill>
          <a:ln/>
        </p:spPr>
      </p:sp>
      <p:pic>
        <p:nvPicPr>
          <p:cNvPr id="21" name="Image 3" descr="icons/db.png">    </p:cNvPr>
          <p:cNvPicPr>
            <a:picLocks noChangeAspect="1"/>
          </p:cNvPicPr>
          <p:nvPr/>
        </p:nvPicPr>
        <p:blipFill>
          <a:blip r:embed="rId4"/>
          <a:stretch>
            <a:fillRect/>
          </a:stretch>
        </p:blipFill>
        <p:spPr>
          <a:xfrm>
            <a:off x="841248" y="4480560"/>
            <a:ext cx="256032" cy="256032"/>
          </a:xfrm>
          <a:prstGeom prst="rect">
            <a:avLst/>
          </a:prstGeom>
        </p:spPr>
      </p:pic>
      <p:sp>
        <p:nvSpPr>
          <p:cNvPr id="22" name="Text 16"/>
          <p:cNvSpPr/>
          <p:nvPr/>
        </p:nvSpPr>
        <p:spPr>
          <a:xfrm>
            <a:off x="1325880"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Memory agent  (shared state)</a:t>
            </a:r>
            <a:endParaRPr lang="en-US" sz="1250" dirty="0"/>
          </a:p>
        </p:txBody>
      </p:sp>
      <p:sp>
        <p:nvSpPr>
          <p:cNvPr id="23" name="Text 17"/>
          <p:cNvSpPr/>
          <p:nvPr/>
        </p:nvSpPr>
        <p:spPr>
          <a:xfrm>
            <a:off x="740664"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One session store keyed by session_id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Firestore (cloud) / SQLite (local)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Turns + working-memory facts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LOAD at start · PERSIST at end of turn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Durable &amp; shared across instances</a:t>
            </a:r>
            <a:endParaRPr lang="en-US" sz="1000" dirty="0"/>
          </a:p>
        </p:txBody>
      </p:sp>
      <p:sp>
        <p:nvSpPr>
          <p:cNvPr id="24" name="Shape 18"/>
          <p:cNvSpPr/>
          <p:nvPr/>
        </p:nvSpPr>
        <p:spPr>
          <a:xfrm>
            <a:off x="4322978"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42434" y="4361688"/>
            <a:ext cx="493776" cy="493776"/>
          </a:xfrm>
          <a:prstGeom prst="roundRect">
            <a:avLst>
              <a:gd name="adj" fmla="val 20370"/>
            </a:avLst>
          </a:prstGeom>
          <a:solidFill>
            <a:srgbClr val="E11D48"/>
          </a:solidFill>
          <a:ln/>
        </p:spPr>
      </p:sp>
      <p:pic>
        <p:nvPicPr>
          <p:cNvPr id="26" name="Image 4" descr="icons/shield.png">    </p:cNvPr>
          <p:cNvPicPr>
            <a:picLocks noChangeAspect="1"/>
          </p:cNvPicPr>
          <p:nvPr/>
        </p:nvPicPr>
        <p:blipFill>
          <a:blip r:embed="rId5"/>
          <a:stretch>
            <a:fillRect/>
          </a:stretch>
        </p:blipFill>
        <p:spPr>
          <a:xfrm>
            <a:off x="4661306" y="4480560"/>
            <a:ext cx="256032" cy="256032"/>
          </a:xfrm>
          <a:prstGeom prst="rect">
            <a:avLst/>
          </a:prstGeom>
        </p:spPr>
      </p:pic>
      <p:sp>
        <p:nvSpPr>
          <p:cNvPr id="27" name="Text 20"/>
          <p:cNvSpPr/>
          <p:nvPr/>
        </p:nvSpPr>
        <p:spPr>
          <a:xfrm>
            <a:off x="5145938"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Guardrails  (safety)</a:t>
            </a:r>
            <a:endParaRPr lang="en-US" sz="1250" dirty="0"/>
          </a:p>
        </p:txBody>
      </p:sp>
      <p:sp>
        <p:nvSpPr>
          <p:cNvPr id="28" name="Text 21"/>
          <p:cNvSpPr/>
          <p:nvPr/>
        </p:nvSpPr>
        <p:spPr>
          <a:xfrm>
            <a:off x="4560722"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Deterministic gate — LLM never pays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No substitution · confirm-before-charge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Loop prevention (agent-as-tool)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Bounded retries · graceful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Self-healing Guardian (circuit breaker)</a:t>
            </a:r>
            <a:endParaRPr lang="en-US" sz="1000" dirty="0"/>
          </a:p>
        </p:txBody>
      </p:sp>
      <p:sp>
        <p:nvSpPr>
          <p:cNvPr id="29" name="Shape 22"/>
          <p:cNvSpPr/>
          <p:nvPr/>
        </p:nvSpPr>
        <p:spPr>
          <a:xfrm>
            <a:off x="8143037"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62493" y="4361688"/>
            <a:ext cx="493776" cy="493776"/>
          </a:xfrm>
          <a:prstGeom prst="roundRect">
            <a:avLst>
              <a:gd name="adj" fmla="val 20370"/>
            </a:avLst>
          </a:prstGeom>
          <a:solidFill>
            <a:srgbClr val="16A34A"/>
          </a:solidFill>
          <a:ln/>
        </p:spPr>
      </p:sp>
      <p:pic>
        <p:nvPicPr>
          <p:cNvPr id="31" name="Image 5" descr="icons/check.png">    </p:cNvPr>
          <p:cNvPicPr>
            <a:picLocks noChangeAspect="1"/>
          </p:cNvPicPr>
          <p:nvPr/>
        </p:nvPicPr>
        <p:blipFill>
          <a:blip r:embed="rId6"/>
          <a:stretch>
            <a:fillRect/>
          </a:stretch>
        </p:blipFill>
        <p:spPr>
          <a:xfrm>
            <a:off x="8481365" y="4480560"/>
            <a:ext cx="256032" cy="256032"/>
          </a:xfrm>
          <a:prstGeom prst="rect">
            <a:avLst/>
          </a:prstGeom>
        </p:spPr>
      </p:pic>
      <p:sp>
        <p:nvSpPr>
          <p:cNvPr id="32" name="Text 24"/>
          <p:cNvSpPr/>
          <p:nvPr/>
        </p:nvSpPr>
        <p:spPr>
          <a:xfrm>
            <a:off x="8965997"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Quality — unit tests &amp; evals</a:t>
            </a:r>
            <a:endParaRPr lang="en-US" sz="1250" dirty="0"/>
          </a:p>
        </p:txBody>
      </p:sp>
      <p:sp>
        <p:nvSpPr>
          <p:cNvPr id="33" name="Text 25"/>
          <p:cNvSpPr/>
          <p:nvPr/>
        </p:nvSpPr>
        <p:spPr>
          <a:xfrm>
            <a:off x="8380781"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117 unit tests (pytest) gate every change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8 evals on agent behaviour</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CI/CD: push → test + eval → Cloud Run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CI-sim blocks google.* → tests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Isolation asserts (advisor ∌ checkout)</a:t>
            </a:r>
            <a:endParaRPr lang="en-US" sz="10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transactional gate</a:t>
            </a:r>
            <a:endParaRPr lang="en-US" sz="1350" dirty="0"/>
          </a:p>
        </p:txBody>
      </p:sp>
      <p:sp>
        <p:nvSpPr>
          <p:cNvPr id="8" name="Text 5"/>
          <p:cNvSpPr/>
          <p:nvPr/>
        </p:nvSpPr>
        <p:spPr>
          <a:xfrm>
            <a:off x="1252728"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LLM places orders end-to-end</a:t>
            </a:r>
            <a:endParaRPr lang="en-US" sz="1050" dirty="0"/>
          </a:p>
        </p:txBody>
      </p:sp>
      <p:sp>
        <p:nvSpPr>
          <p:cNvPr id="9" name="Text 6"/>
          <p:cNvSpPr/>
          <p:nvPr/>
        </p:nvSpPr>
        <p:spPr>
          <a:xfrm>
            <a:off x="704088"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“LLM orchestrates, code transacts.” Money/inventory actions are structured, auditable, reproducible — never a hallucinated purchase.</a:t>
            </a:r>
            <a:endParaRPr lang="en-US" sz="1100" dirty="0"/>
          </a:p>
        </p:txBody>
      </p:sp>
      <p:sp>
        <p:nvSpPr>
          <p:cNvPr id="10" name="Shape 7"/>
          <p:cNvSpPr/>
          <p:nvPr/>
        </p:nvSpPr>
        <p:spPr>
          <a:xfrm>
            <a:off x="6324448"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Agent-as-tool (not transfer)</a:t>
            </a:r>
            <a:endParaRPr lang="en-US" sz="1350" dirty="0"/>
          </a:p>
        </p:txBody>
      </p:sp>
      <p:sp>
        <p:nvSpPr>
          <p:cNvPr id="14" name="Text 10"/>
          <p:cNvSpPr/>
          <p:nvPr/>
        </p:nvSpPr>
        <p:spPr>
          <a:xfrm>
            <a:off x="7074256"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sub_agents / transfer handoff</a:t>
            </a:r>
            <a:endParaRPr lang="en-US" sz="1050" dirty="0"/>
          </a:p>
        </p:txBody>
      </p:sp>
      <p:sp>
        <p:nvSpPr>
          <p:cNvPr id="15" name="Text 11"/>
          <p:cNvSpPr/>
          <p:nvPr/>
        </p:nvSpPr>
        <p:spPr>
          <a:xfrm>
            <a:off x="6525616"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Orchestrator stays in control &amp; composes the reply; workers can't transfer back → delegation loops are impossible by construction.</a:t>
            </a:r>
            <a:endParaRPr lang="en-US" sz="1100" dirty="0"/>
          </a:p>
        </p:txBody>
      </p:sp>
      <p:sp>
        <p:nvSpPr>
          <p:cNvPr id="16" name="Shape 12"/>
          <p:cNvSpPr/>
          <p:nvPr/>
        </p:nvSpPr>
        <p:spPr>
          <a:xfrm>
            <a:off x="502920"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383280"/>
            <a:ext cx="457200" cy="457200"/>
          </a:xfrm>
          <a:prstGeom prst="roundRect">
            <a:avLst>
              <a:gd name="adj" fmla="val 20000"/>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95528" y="3493008"/>
            <a:ext cx="237744" cy="237744"/>
          </a:xfrm>
          <a:prstGeom prst="rect">
            <a:avLst/>
          </a:prstGeom>
        </p:spPr>
      </p:pic>
      <p:sp>
        <p:nvSpPr>
          <p:cNvPr id="19" name="Text 14"/>
          <p:cNvSpPr/>
          <p:nvPr/>
        </p:nvSpPr>
        <p:spPr>
          <a:xfrm>
            <a:off x="1252728"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pre-processing</a:t>
            </a:r>
            <a:endParaRPr lang="en-US" sz="1350" dirty="0"/>
          </a:p>
        </p:txBody>
      </p:sp>
      <p:sp>
        <p:nvSpPr>
          <p:cNvPr id="20" name="Text 15"/>
          <p:cNvSpPr/>
          <p:nvPr/>
        </p:nvSpPr>
        <p:spPr>
          <a:xfrm>
            <a:off x="1252728"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modality/lang/channel as LLM agents</a:t>
            </a:r>
            <a:endParaRPr lang="en-US" sz="1050" dirty="0"/>
          </a:p>
        </p:txBody>
      </p:sp>
      <p:sp>
        <p:nvSpPr>
          <p:cNvPr id="21" name="Text 16"/>
          <p:cNvSpPr/>
          <p:nvPr/>
        </p:nvSpPr>
        <p:spPr>
          <a:xfrm>
            <a:off x="704088"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We tried LLM agents — they failed for zero benefit. Detecting language needs no intelligence; plain code is reliable &amp; free.</a:t>
            </a:r>
            <a:endParaRPr lang="en-US" sz="1100" dirty="0"/>
          </a:p>
        </p:txBody>
      </p:sp>
      <p:sp>
        <p:nvSpPr>
          <p:cNvPr id="22" name="Shape 17"/>
          <p:cNvSpPr/>
          <p:nvPr/>
        </p:nvSpPr>
        <p:spPr>
          <a:xfrm>
            <a:off x="6324448"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383280"/>
            <a:ext cx="457200" cy="457200"/>
          </a:xfrm>
          <a:prstGeom prst="roundRect">
            <a:avLst>
              <a:gd name="adj" fmla="val 20000"/>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17056" y="3493008"/>
            <a:ext cx="237744" cy="237744"/>
          </a:xfrm>
          <a:prstGeom prst="rect">
            <a:avLst/>
          </a:prstGeom>
        </p:spPr>
      </p:pic>
      <p:sp>
        <p:nvSpPr>
          <p:cNvPr id="25" name="Text 19"/>
          <p:cNvSpPr/>
          <p:nvPr/>
        </p:nvSpPr>
        <p:spPr>
          <a:xfrm>
            <a:off x="7074256"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Native function-calling + targeted ReAct</a:t>
            </a:r>
            <a:endParaRPr lang="en-US" sz="1350" dirty="0"/>
          </a:p>
        </p:txBody>
      </p:sp>
      <p:sp>
        <p:nvSpPr>
          <p:cNvPr id="26" name="Text 20"/>
          <p:cNvSpPr/>
          <p:nvPr/>
        </p:nvSpPr>
        <p:spPr>
          <a:xfrm>
            <a:off x="7074256"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PlanReActPlanner everywhere</a:t>
            </a:r>
            <a:endParaRPr lang="en-US" sz="1050" dirty="0"/>
          </a:p>
        </p:txBody>
      </p:sp>
      <p:sp>
        <p:nvSpPr>
          <p:cNvPr id="27" name="Text 21"/>
          <p:cNvSpPr/>
          <p:nvPr/>
        </p:nvSpPr>
        <p:spPr>
          <a:xfrm>
            <a:off x="6525616"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Native tool-calling for production (reliable, fast); explicit ReAct only for the read-only advisor, where the visible plan adds value.</a:t>
            </a:r>
            <a:endParaRPr lang="en-US" sz="1100" dirty="0"/>
          </a:p>
        </p:txBody>
      </p:sp>
      <p:sp>
        <p:nvSpPr>
          <p:cNvPr id="28" name="Shape 22"/>
          <p:cNvSpPr/>
          <p:nvPr/>
        </p:nvSpPr>
        <p:spPr>
          <a:xfrm>
            <a:off x="502920"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28032"/>
            <a:ext cx="457200" cy="457200"/>
          </a:xfrm>
          <a:prstGeom prst="roundRect">
            <a:avLst>
              <a:gd name="adj" fmla="val 20000"/>
            </a:avLst>
          </a:prstGeom>
          <a:solidFill>
            <a:srgbClr val="7C3AED"/>
          </a:solidFill>
          <a:ln/>
        </p:spPr>
      </p:sp>
      <p:pic>
        <p:nvPicPr>
          <p:cNvPr id="30" name="Image 4" descr="icons/cloud.png">    </p:cNvPr>
          <p:cNvPicPr>
            <a:picLocks noChangeAspect="1"/>
          </p:cNvPicPr>
          <p:nvPr/>
        </p:nvPicPr>
        <p:blipFill>
          <a:blip r:embed="rId5"/>
          <a:stretch>
            <a:fillRect/>
          </a:stretch>
        </p:blipFill>
        <p:spPr>
          <a:xfrm>
            <a:off x="795528" y="4937760"/>
            <a:ext cx="237744" cy="237744"/>
          </a:xfrm>
          <a:prstGeom prst="rect">
            <a:avLst/>
          </a:prstGeom>
        </p:spPr>
      </p:pic>
      <p:sp>
        <p:nvSpPr>
          <p:cNvPr id="31" name="Text 24"/>
          <p:cNvSpPr/>
          <p:nvPr/>
        </p:nvSpPr>
        <p:spPr>
          <a:xfrm>
            <a:off x="1252728"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Gemini 2.5 Flash on Vertex (one model)</a:t>
            </a:r>
            <a:endParaRPr lang="en-US" sz="1350" dirty="0"/>
          </a:p>
        </p:txBody>
      </p:sp>
      <p:sp>
        <p:nvSpPr>
          <p:cNvPr id="32" name="Text 25"/>
          <p:cNvSpPr/>
          <p:nvPr/>
        </p:nvSpPr>
        <p:spPr>
          <a:xfrm>
            <a:off x="1252728"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many models / self-hosted</a:t>
            </a:r>
            <a:endParaRPr lang="en-US" sz="1050" dirty="0"/>
          </a:p>
        </p:txBody>
      </p:sp>
      <p:sp>
        <p:nvSpPr>
          <p:cNvPr id="33" name="Text 26"/>
          <p:cNvSpPr/>
          <p:nvPr/>
        </p:nvSpPr>
        <p:spPr>
          <a:xfrm>
            <a:off x="704088"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One natively-multimodal model does reasoning, language AND vision — less ops, lower latency, Vertex security &amp; quota.</a:t>
            </a:r>
            <a:endParaRPr lang="en-US" sz="1100" dirty="0"/>
          </a:p>
        </p:txBody>
      </p:sp>
      <p:sp>
        <p:nvSpPr>
          <p:cNvPr id="34" name="Shape 27"/>
          <p:cNvSpPr/>
          <p:nvPr/>
        </p:nvSpPr>
        <p:spPr>
          <a:xfrm>
            <a:off x="6324448"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28032"/>
            <a:ext cx="457200" cy="457200"/>
          </a:xfrm>
          <a:prstGeom prst="roundRect">
            <a:avLst>
              <a:gd name="adj" fmla="val 20000"/>
            </a:avLst>
          </a:prstGeom>
          <a:solidFill>
            <a:srgbClr val="7C3AED"/>
          </a:solidFill>
          <a:ln/>
        </p:spPr>
      </p:sp>
      <p:pic>
        <p:nvPicPr>
          <p:cNvPr id="36" name="Image 5" descr="icons/sync.png">    </p:cNvPr>
          <p:cNvPicPr>
            <a:picLocks noChangeAspect="1"/>
          </p:cNvPicPr>
          <p:nvPr/>
        </p:nvPicPr>
        <p:blipFill>
          <a:blip r:embed="rId6"/>
          <a:stretch>
            <a:fillRect/>
          </a:stretch>
        </p:blipFill>
        <p:spPr>
          <a:xfrm>
            <a:off x="6617056" y="4937760"/>
            <a:ext cx="237744" cy="237744"/>
          </a:xfrm>
          <a:prstGeom prst="rect">
            <a:avLst/>
          </a:prstGeom>
        </p:spPr>
      </p:pic>
      <p:sp>
        <p:nvSpPr>
          <p:cNvPr id="37" name="Text 29"/>
          <p:cNvSpPr/>
          <p:nvPr/>
        </p:nvSpPr>
        <p:spPr>
          <a:xfrm>
            <a:off x="7074256"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Graceful fallback + self-heal</a:t>
            </a:r>
            <a:endParaRPr lang="en-US" sz="1350" dirty="0"/>
          </a:p>
        </p:txBody>
      </p:sp>
      <p:sp>
        <p:nvSpPr>
          <p:cNvPr id="38" name="Text 30"/>
          <p:cNvSpPr/>
          <p:nvPr/>
        </p:nvSpPr>
        <p:spPr>
          <a:xfrm>
            <a:off x="7074256"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fail the request</a:t>
            </a:r>
            <a:endParaRPr lang="en-US" sz="1050" dirty="0"/>
          </a:p>
        </p:txBody>
      </p:sp>
      <p:sp>
        <p:nvSpPr>
          <p:cNvPr id="39" name="Text 31"/>
          <p:cNvSpPr/>
          <p:nvPr/>
        </p:nvSpPr>
        <p:spPr>
          <a:xfrm>
            <a:off x="6525616"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If the LLM/ADK path errors, a deterministic engine answers; the Guardian heals forward — the service degrades, it doesn't go down.</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2026-06-04T20:18:49Z</dcterms:created>
  <dcterms:modified xsi:type="dcterms:W3CDTF">2026-06-04T20:18:49Z</dcterms:modified>
</cp:coreProperties>
</file>